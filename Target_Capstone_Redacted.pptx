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74" r:id="rId6"/>
    <p:sldId id="284" r:id="rId7"/>
    <p:sldId id="312" r:id="rId8"/>
    <p:sldId id="313" r:id="rId9"/>
    <p:sldId id="288" r:id="rId10"/>
    <p:sldId id="307" r:id="rId11"/>
    <p:sldId id="292" r:id="rId12"/>
    <p:sldId id="305" r:id="rId13"/>
    <p:sldId id="315" r:id="rId14"/>
    <p:sldId id="290" r:id="rId15"/>
    <p:sldId id="314" r:id="rId16"/>
    <p:sldId id="309" r:id="rId17"/>
    <p:sldId id="300" r:id="rId18"/>
    <p:sldId id="306" r:id="rId19"/>
    <p:sldId id="317" r:id="rId20"/>
    <p:sldId id="319" r:id="rId21"/>
    <p:sldId id="321" r:id="rId22"/>
    <p:sldId id="323" r:id="rId23"/>
    <p:sldId id="32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C80C1C-D4F0-0148-9F03-E6C758EF5F59}">
          <p14:sldIdLst>
            <p14:sldId id="256"/>
            <p14:sldId id="274"/>
            <p14:sldId id="284"/>
            <p14:sldId id="312"/>
            <p14:sldId id="313"/>
            <p14:sldId id="288"/>
            <p14:sldId id="307"/>
            <p14:sldId id="292"/>
            <p14:sldId id="305"/>
            <p14:sldId id="315"/>
            <p14:sldId id="290"/>
            <p14:sldId id="314"/>
            <p14:sldId id="309"/>
            <p14:sldId id="300"/>
            <p14:sldId id="306"/>
          </p14:sldIdLst>
        </p14:section>
        <p14:section name="Competition Layer" id="{EF988F05-D50C-564A-A822-2A611F0C57D9}">
          <p14:sldIdLst>
            <p14:sldId id="317"/>
            <p14:sldId id="319"/>
            <p14:sldId id="321"/>
            <p14:sldId id="323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50421E-5A22-A1E9-2BE3-63D161EB323D}" name="Matt Sinclair" initials="MS" userId="f24aeba2ac0afa84" providerId="Windows Live"/>
  <p188:author id="{59224894-BEA7-1F33-0A54-DF4650F294A7}" name="Huang, Xiaojia" initials="HX" userId="S::xh4537@eid.utexas.edu::86e0c166-766b-44ad-a244-13bc4c3d308f" providerId="AD"/>
  <p188:author id="{EF3E13B6-24E2-D178-99CE-5550AE75EBD6}" name="Gahona-Perez, Willington D" initials="GPWD" userId="S::wdg525@eid.utexas.edu::4aa641cd-0594-4422-8ac9-92978c9b626d" providerId="AD"/>
  <p188:author id="{07DD0DC0-9D28-2F58-3324-4241A40B76AD}" name="Delgado, Peter A" initials="PD" userId="S::pad2386@eid.utexas.edu::9e7d6c99-8a9f-49bc-bfba-4793f806469b" providerId="AD"/>
  <p188:author id="{5A15A0E8-CF9C-D1EA-6097-9DBD8829E4BB}" name="Gonzalez, Hiram" initials="GH" userId="S::hg3769@eid.utexas.edu::73f06fd1-c22f-444e-8cdd-2f7c518d3e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AC7"/>
    <a:srgbClr val="FFC2C2"/>
    <a:srgbClr val="CCCCFF"/>
    <a:srgbClr val="FFF8E7"/>
    <a:srgbClr val="9966FF"/>
    <a:srgbClr val="9933FF"/>
    <a:srgbClr val="C60000"/>
    <a:srgbClr val="FF0000"/>
    <a:srgbClr val="FF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89"/>
    <p:restoredTop sz="94658"/>
  </p:normalViewPr>
  <p:slideViewPr>
    <p:cSldViewPr snapToGrid="0">
      <p:cViewPr varScale="1">
        <p:scale>
          <a:sx n="120" d="100"/>
          <a:sy n="12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tx1"/>
                </a:solidFill>
              </a:rPr>
              <a:t>Race &amp; Ethnicity</a:t>
            </a:r>
          </a:p>
        </c:rich>
      </c:tx>
      <c:layout>
        <c:manualLayout>
          <c:xMode val="edge"/>
          <c:yMode val="edge"/>
          <c:x val="1.6840700333073021E-2"/>
          <c:y val="2.46645922946130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2964045252833995"/>
          <c:y val="0.1725288231008183"/>
          <c:w val="0.74866524524383737"/>
          <c:h val="0.782252757692391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Other</c:v>
                </c:pt>
                <c:pt idx="1">
                  <c:v>Asian</c:v>
                </c:pt>
                <c:pt idx="2">
                  <c:v>Black</c:v>
                </c:pt>
                <c:pt idx="3">
                  <c:v>Hispanic</c:v>
                </c:pt>
                <c:pt idx="4">
                  <c:v>White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0.04</c:v>
                </c:pt>
                <c:pt idx="1">
                  <c:v>0.02</c:v>
                </c:pt>
                <c:pt idx="2">
                  <c:v>0.08</c:v>
                </c:pt>
                <c:pt idx="3">
                  <c:v>0.08</c:v>
                </c:pt>
                <c:pt idx="4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9F-4462-B7A4-E55333FDE9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76203552"/>
        <c:axId val="1076204512"/>
      </c:barChart>
      <c:catAx>
        <c:axId val="1076203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204512"/>
        <c:crosses val="autoZero"/>
        <c:auto val="1"/>
        <c:lblAlgn val="ctr"/>
        <c:lblOffset val="100"/>
        <c:noMultiLvlLbl val="0"/>
      </c:catAx>
      <c:valAx>
        <c:axId val="107620451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07620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C6000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tx1"/>
                </a:solidFill>
              </a:rPr>
              <a:t>Store Format Mix</a:t>
            </a:r>
          </a:p>
        </c:rich>
      </c:tx>
      <c:layout>
        <c:manualLayout>
          <c:xMode val="edge"/>
          <c:yMode val="edge"/>
          <c:x val="1.6840700333073021E-2"/>
          <c:y val="2.46645922946130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2964045252833995"/>
          <c:y val="0.1725288231008183"/>
          <c:w val="0.74866524524383737"/>
          <c:h val="0.782252757692391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Target Express</c:v>
                </c:pt>
                <c:pt idx="1">
                  <c:v>Super Target</c:v>
                </c:pt>
                <c:pt idx="2">
                  <c:v>Gen Merch</c:v>
                </c:pt>
                <c:pt idx="3">
                  <c:v>P-Fresh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0.01</c:v>
                </c:pt>
                <c:pt idx="1">
                  <c:v>0.02</c:v>
                </c:pt>
                <c:pt idx="2">
                  <c:v>0.25</c:v>
                </c:pt>
                <c:pt idx="3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68-42C0-BA2C-4C1CF54BC5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76203552"/>
        <c:axId val="1076204512"/>
      </c:barChart>
      <c:catAx>
        <c:axId val="1076203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204512"/>
        <c:crosses val="autoZero"/>
        <c:auto val="1"/>
        <c:lblAlgn val="ctr"/>
        <c:lblOffset val="100"/>
        <c:noMultiLvlLbl val="0"/>
      </c:catAx>
      <c:valAx>
        <c:axId val="107620451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07620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C6000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tx1"/>
                </a:solidFill>
              </a:rPr>
              <a:t>Consumer Behavior</a:t>
            </a:r>
            <a:r>
              <a:rPr lang="en-US" sz="1600" b="1" baseline="0">
                <a:solidFill>
                  <a:schemeClr val="tx1"/>
                </a:solidFill>
              </a:rPr>
              <a:t> Indices</a:t>
            </a:r>
            <a:endParaRPr lang="en-US" sz="1600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6840700333073021E-2"/>
          <c:y val="2.46645922946130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2964045252833995"/>
          <c:y val="0.21066115915173972"/>
          <c:w val="0.74866524524383737"/>
          <c:h val="0.7441205991352687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Consumer Behavior Indices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Food Brand Loyal</c:v>
                </c:pt>
                <c:pt idx="1">
                  <c:v>Careful With Money</c:v>
                </c:pt>
                <c:pt idx="2">
                  <c:v>Religious Services</c:v>
                </c:pt>
                <c:pt idx="3">
                  <c:v>Conservative</c:v>
                </c:pt>
                <c:pt idx="4">
                  <c:v>Buying American</c:v>
                </c:pt>
              </c:strCache>
            </c:strRef>
          </c:cat>
          <c:val>
            <c:numRef>
              <c:f>Sheet1!$B$3:$B$6</c:f>
              <c:numCache>
                <c:formatCode>General</c:formatCode>
                <c:ptCount val="4"/>
                <c:pt idx="0">
                  <c:v>98.6</c:v>
                </c:pt>
                <c:pt idx="1">
                  <c:v>106</c:v>
                </c:pt>
                <c:pt idx="2">
                  <c:v>109.8</c:v>
                </c:pt>
                <c:pt idx="3">
                  <c:v>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5F-488B-AA08-C24F12298E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76203552"/>
        <c:axId val="1076204512"/>
      </c:barChart>
      <c:catAx>
        <c:axId val="1076203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204512"/>
        <c:crosses val="autoZero"/>
        <c:auto val="1"/>
        <c:lblAlgn val="ctr"/>
        <c:lblOffset val="100"/>
        <c:noMultiLvlLbl val="0"/>
      </c:catAx>
      <c:valAx>
        <c:axId val="10762045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7620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C6000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EF385-7B0D-4D71-801B-75DD2FC55EB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97775-39D0-4959-8CB3-A2FC1DCB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6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97775-39D0-4959-8CB3-A2FC1DCB3F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91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23D8-5C14-B1E6-8551-10C14F2D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7B8C8-B974-73D0-DE70-6AD8CB63D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EB51A-1020-EB8F-0667-41FA68047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CC36A-F761-56FD-D033-3E3A9DC56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97775-39D0-4959-8CB3-A2FC1DCB3F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6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6F77-E21C-21C9-FA3F-66E24231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94C23-FA96-5621-7F5D-587E6A17D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B188C-1D27-3419-DB6A-249090718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solidFill>
                  <a:srgbClr val="6B7280"/>
                </a:solidFill>
              </a:rPr>
              <a:t>~74% of item types have Max VIF &lt; 10</a:t>
            </a:r>
            <a:endParaRPr lang="en-US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solidFill>
                  <a:srgbClr val="6B7280"/>
                </a:solidFill>
              </a:rPr>
              <a:t>~40% of levers have CV &gt; 30%</a:t>
            </a:r>
            <a:endParaRPr lang="en-US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D00D7-DA39-F28F-29D5-C5ED93EF7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97775-39D0-4959-8CB3-A2FC1DCB3F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35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B895-562E-11BD-FB0B-A7F65466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BB973-1F38-96C1-A02B-AB51FC19A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EC79B-7168-3359-776D-B6565CAA0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Zeroes out irrelevant brands (like LASSO)
→ Handles correlated brands (like Ridge)
</a:t>
            </a:r>
            <a:r>
              <a:rPr lang="en-US" sz="12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Cross-validated α &amp; </a:t>
            </a:r>
            <a:r>
              <a:rPr lang="en-US" sz="120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r>
              <a:rPr lang="en-US" sz="12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manual tuning
→ Outputs betas per brand interaction</a:t>
            </a:r>
            <a:endParaRPr lang="en-US" sz="1200"/>
          </a:p>
          <a:p>
            <a:endParaRPr lang="en-US"/>
          </a:p>
          <a:p>
            <a:r>
              <a:rPr lang="en-US"/>
              <a:t>Within this item type, some products appear to benefit more from added facing share than others.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3BE65-39A7-7B09-B7F5-B4956742F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97775-39D0-4959-8CB3-A2FC1DCB3F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02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brands are STRONGER when local rivals (A, C, E, H) are nearby — Target beats them head-to-head. </a:t>
            </a:r>
            <a:r>
              <a:rPr lang="en-US" sz="120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D] and [Brand E] sell LESS when warehouse D is nearby — customers switch to Costco/Sam's Club. </a:t>
            </a:r>
            <a:r>
              <a:rPr lang="en-US" sz="1200" b="1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(F) is surprisingly neutral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proximity alone does not threaten Training Pants sales. </a:t>
            </a:r>
            <a:r>
              <a:rPr lang="en-US" sz="1200" b="1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GROW: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E], [Brand D], </a:t>
            </a:r>
            <a:r>
              <a:rPr lang="en-US" sz="12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H]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b="1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I]</a:t>
            </a:r>
            <a:endParaRPr lang="en-US" sz="12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97775-39D0-4959-8CB3-A2FC1DCB3F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96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2826E-8E56-6717-0593-C3BE71C8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C66C0-AE4E-87EE-EF2D-4043093A8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67C80-7BB0-9DA6-49D3-6A7AD2395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 already thinks this item should get </a:t>
            </a:r>
            <a:r>
              <a:rPr lang="en-US" b="1"/>
              <a:t>less shelf space</a:t>
            </a:r>
            <a:r>
              <a:rPr lang="en-US"/>
              <a:t>, and the competitive signal says a nearby rival is already making things worse. So “compound” here just means </a:t>
            </a:r>
            <a:r>
              <a:rPr lang="en-US" b="1"/>
              <a:t>the downside stacks up</a:t>
            </a:r>
            <a:r>
              <a:rPr lang="en-US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64C0-2063-E775-25D1-A470B219A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97775-39D0-4959-8CB3-A2FC1DCB3F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8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ABD6-3185-3759-A432-774466896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560FC-BB4D-CE1C-60B0-0A1FCBF9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35A-FF0A-4AE7-AB48-ABE2BCAD49EB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0718E-7098-A9BC-6B0A-C34A9467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5AEE0-5ED7-4CA0-C579-C4CBE3FA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F997822-D78B-5F2F-DE1F-44FA712FFE15}"/>
              </a:ext>
            </a:extLst>
          </p:cNvPr>
          <p:cNvSpPr/>
          <p:nvPr userDrawn="1"/>
        </p:nvSpPr>
        <p:spPr>
          <a:xfrm>
            <a:off x="0" y="3828421"/>
            <a:ext cx="12192000" cy="1205803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66972-E6DE-69DD-D4D8-BA135DD1B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7351"/>
            <a:ext cx="9144000" cy="1095270"/>
          </a:xfrm>
        </p:spPr>
        <p:txBody>
          <a:bodyPr/>
          <a:lstStyle>
            <a:lvl1pPr marL="0" indent="0" algn="ctr">
              <a:buNone/>
              <a:defRPr sz="24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970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44A4F-E3E9-FF07-4DC9-9395C73FC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53" y="1329145"/>
            <a:ext cx="10925093" cy="4351338"/>
          </a:xfrm>
          <a:ln>
            <a:noFill/>
          </a:ln>
        </p:spPr>
        <p:txBody>
          <a:bodyPr/>
          <a:lstStyle>
            <a:lvl1pPr>
              <a:defRPr sz="24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816CA-46E0-55F6-4EEC-38282B61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E9611-F655-F314-F6CE-877C91FA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5200" y="6425608"/>
            <a:ext cx="2743200" cy="365125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fld id="{B3FA7D70-52BF-4D9F-A014-1293FC3607F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44935826-2882-76AC-31B6-FB04A9A28F8C}"/>
              </a:ext>
            </a:extLst>
          </p:cNvPr>
          <p:cNvSpPr/>
          <p:nvPr userDrawn="1"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University of Texas at Austin - Wikipedia">
            <a:extLst>
              <a:ext uri="{FF2B5EF4-FFF2-40B4-BE49-F238E27FC236}">
                <a16:creationId xmlns:a16="http://schemas.microsoft.com/office/drawing/2014/main" id="{AB83E617-F119-2683-34C8-F89CAB416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88" y="6026779"/>
            <a:ext cx="763954" cy="763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49A4C8D-6E32-2A0D-6D7E-1F85D0216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41" y="5980649"/>
            <a:ext cx="664596" cy="88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AEFD13-E217-696B-CEBD-866FEF2B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7991060" cy="636739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317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148D-BABB-0CB6-51AB-32BF8621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2190F-C911-330C-52FE-A25EAC2AA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CEB78-B5E0-F8E5-75D6-9553B160F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9D853-85E9-4582-9735-7634A0E678A2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1B98-BC82-5E05-DCBA-60C2D68D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A6FF7-903E-9F84-9F50-B14C93EE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9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2AFC-AAE2-31DA-64C5-705D18B7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F98F0-1411-B220-4D71-37103236D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21D2E-D8CE-50C1-06FC-41A147C9F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CFF70-8BD5-BB65-CD31-B41CEFF1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C1E8-AC3C-4F90-80A1-EA428D8BC175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00C52-0FFA-D0F4-E4FA-CC68DCD7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82DCE-7119-8475-738F-AD816C83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DAF57DBA-B3F6-DA7C-9C78-E4EE3220FFA1}"/>
              </a:ext>
            </a:extLst>
          </p:cNvPr>
          <p:cNvSpPr/>
          <p:nvPr userDrawn="1"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9386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CB08-5102-C681-3F44-689693B7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DE516-C6FC-7903-093C-6927478FA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A63EB-A9F1-9399-7263-7EED3B795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3C32B-1E4A-A01C-E78B-4D2A21201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14CF6-EDC5-224A-4B80-22B86A9F4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D6549-FEC1-30FF-2F65-5052A521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FF57-444D-4208-B865-E7335ED8C90F}" type="datetime1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54F349-69AB-FCDD-8BCE-3ED47954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E01BD-A243-4295-5A5B-8CF19961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7977-BCF0-6AC1-2048-AB6E81094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E7CE7-0F81-8B64-8DAC-B8669279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A65-7DFE-4778-AD0D-2D1CF321964B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733AE-3D04-7952-29C2-50B50050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92625-F7F7-DB9A-1407-1AC24A8A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0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66757-66D1-184A-38C0-63480F76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9DBE-061E-4D0D-AF43-DF9901DA6C27}" type="datetime1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0F480-139F-DB6F-BAB5-3AB3BF47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13D91-6D4B-7538-0A4E-320AEFB3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0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B558-F751-0F07-4CB8-E02A7170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956F-337B-473B-FAC4-37354F48F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2C9EF-BB60-336D-2722-99E667F78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AAAC0-FAC4-86F1-AB65-00D2529B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1C80-2C7D-4937-8317-D154E293B9E5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41701-33BB-1441-C5B2-5D8D7A89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4C8C2-B7F2-0979-D40C-AEF8A8DF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9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94B0-EA1E-14CD-20E6-2BCEE6BA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0B35D-F9C5-D05A-3EC2-8C17A6574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BE03B-D48C-154C-5F43-79C767FA2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76359-BEB3-036E-E363-99690C56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3A9-68D7-4E3D-9051-45A3F6C46205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1C39C-5ABC-D70F-C81B-D9C2AC11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DA945-8EC8-9B93-D268-33077C03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1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4548-8B0A-308E-D05A-74A1DCBA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B66B4-DC4E-7CC9-83E0-DCD415E63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8022B-A72C-F277-926A-3BC3A057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6626C-2E83-417B-8B62-3DF55BBFBAA4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90133-D015-496E-CA1C-A9E3A8F8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774F-9D54-54B8-C48A-E8EF0B76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9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909C3E-6D18-872F-D57F-876295E30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C9542-D419-A55E-091C-B6E47D59E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86E8C-A118-4F48-999E-D9ACA888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DA62-6E9F-40B6-B96A-2E07B1F03FFD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FC844-8FC4-FA32-D083-98F04497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A8A65-20EE-3074-AA63-17D909BC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9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9E422-D393-892E-DE2E-683A171D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F2762-8515-3B26-0338-36930DD7A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26707-EE25-F294-CABE-706BDEBCF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9D504-8409-4990-9858-DAD432B4FA80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9C037-F49C-4AF2-973E-78AA90415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1D0AF-952C-80E8-DD51-824BE39CF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A7D70-52BF-4D9F-A014-1293FC360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05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943B1B-D3B5-C1DA-901F-2FA614718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938" y="3818965"/>
            <a:ext cx="6960125" cy="1170694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April 27, 2026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UT Austin MSBA Students:</a:t>
            </a:r>
          </a:p>
          <a:p>
            <a:r>
              <a:rPr lang="en-US" sz="1600" dirty="0">
                <a:solidFill>
                  <a:schemeClr val="bg1"/>
                </a:solidFill>
              </a:rPr>
              <a:t>[Names Redacted]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6302D-3855-840F-1699-88E1C2847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336" y="5437205"/>
            <a:ext cx="1116826" cy="112641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A1B7993-A9B9-86C2-ED06-5C2D7AD3B6A4}"/>
              </a:ext>
            </a:extLst>
          </p:cNvPr>
          <p:cNvGrpSpPr/>
          <p:nvPr/>
        </p:nvGrpSpPr>
        <p:grpSpPr>
          <a:xfrm>
            <a:off x="4548416" y="5415064"/>
            <a:ext cx="1172016" cy="1170694"/>
            <a:chOff x="9097609" y="3916971"/>
            <a:chExt cx="4408330" cy="440335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EAEC81B-5218-A4E7-8BC5-44496783A972}"/>
                </a:ext>
              </a:extLst>
            </p:cNvPr>
            <p:cNvSpPr/>
            <p:nvPr/>
          </p:nvSpPr>
          <p:spPr>
            <a:xfrm>
              <a:off x="9097609" y="3916971"/>
              <a:ext cx="4408330" cy="4403356"/>
            </a:xfrm>
            <a:prstGeom prst="ellipse">
              <a:avLst/>
            </a:prstGeom>
            <a:solidFill>
              <a:srgbClr val="CC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999C46-322C-A2F3-4270-D292455AC1E8}"/>
                </a:ext>
              </a:extLst>
            </p:cNvPr>
            <p:cNvSpPr/>
            <p:nvPr/>
          </p:nvSpPr>
          <p:spPr>
            <a:xfrm>
              <a:off x="9734157" y="4571291"/>
              <a:ext cx="3135234" cy="30947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87A04AA-41CA-FEDB-6CDB-2ACE972FB5A2}"/>
                </a:ext>
              </a:extLst>
            </p:cNvPr>
            <p:cNvSpPr/>
            <p:nvPr/>
          </p:nvSpPr>
          <p:spPr>
            <a:xfrm>
              <a:off x="10460063" y="5252937"/>
              <a:ext cx="1683422" cy="1731423"/>
            </a:xfrm>
            <a:prstGeom prst="ellipse">
              <a:avLst/>
            </a:prstGeom>
            <a:solidFill>
              <a:srgbClr val="CC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8DBACDE8-4B1B-9168-D698-9977FC38BE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Target</a:t>
            </a:r>
            <a:r>
              <a:rPr lang="en-US" b="0"/>
              <a:t>:</a:t>
            </a:r>
            <a:r>
              <a:rPr lang="en-US"/>
              <a:t> </a:t>
            </a:r>
            <a:br>
              <a:rPr lang="en-US"/>
            </a:br>
            <a:r>
              <a:rPr lang="en-US" b="0"/>
              <a:t>Customer Segmentation &amp; Shelf Space Optimization </a:t>
            </a:r>
          </a:p>
        </p:txBody>
      </p:sp>
    </p:spTree>
    <p:extLst>
      <p:ext uri="{BB962C8B-B14F-4D97-AF65-F5344CB8AC3E}">
        <p14:creationId xmlns:p14="http://schemas.microsoft.com/office/powerpoint/2010/main" val="358374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07C068-B193-E29A-6BF2-D11E17014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45" y="1380515"/>
            <a:ext cx="10925093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2400"/>
              </a:spcAft>
              <a:buNone/>
            </a:pPr>
            <a:r>
              <a:rPr lang="en-US"/>
              <a:t>	Why Shelf Space Matters?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/>
              <a:t>	Business Value &amp; Objectives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/>
              <a:t>	Data Assets Structure &amp; Breakdown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/>
              <a:t>	Our Approach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/>
              <a:t>	Operational Execution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/>
              <a:t>	Next Steps &amp; Recommendations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429A1-840C-C15B-CFD2-B14FB804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2</a:t>
            </a:fld>
            <a:endParaRPr lang="en-US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8D649C-785D-938C-C3F2-DEC16590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Agenda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B136B8B-CF79-EE0D-3195-D8550F723F75}"/>
              </a:ext>
            </a:extLst>
          </p:cNvPr>
          <p:cNvGrpSpPr/>
          <p:nvPr/>
        </p:nvGrpSpPr>
        <p:grpSpPr>
          <a:xfrm>
            <a:off x="564903" y="1298974"/>
            <a:ext cx="585216" cy="585216"/>
            <a:chOff x="969264" y="1207008"/>
            <a:chExt cx="585216" cy="585216"/>
          </a:xfrm>
        </p:grpSpPr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821705CB-40D1-C5FF-3ADA-F8BCCC4FFA66}"/>
                </a:ext>
              </a:extLst>
            </p:cNvPr>
            <p:cNvSpPr/>
            <p:nvPr/>
          </p:nvSpPr>
          <p:spPr>
            <a:xfrm>
              <a:off x="969264" y="1207008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F47BFD0B-4B18-AC01-B8DF-D1904399E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136" y="1325880"/>
              <a:ext cx="347472" cy="347472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735B1B-37A3-D928-E71D-C3F9C7656663}"/>
              </a:ext>
            </a:extLst>
          </p:cNvPr>
          <p:cNvGrpSpPr/>
          <p:nvPr/>
        </p:nvGrpSpPr>
        <p:grpSpPr>
          <a:xfrm>
            <a:off x="564903" y="2066805"/>
            <a:ext cx="585216" cy="585216"/>
            <a:chOff x="5376672" y="1207008"/>
            <a:chExt cx="585216" cy="585216"/>
          </a:xfrm>
        </p:grpSpPr>
        <p:sp>
          <p:nvSpPr>
            <p:cNvPr id="9" name="Shape 17">
              <a:extLst>
                <a:ext uri="{FF2B5EF4-FFF2-40B4-BE49-F238E27FC236}">
                  <a16:creationId xmlns:a16="http://schemas.microsoft.com/office/drawing/2014/main" id="{74427143-D297-047A-42D0-517715E86D19}"/>
                </a:ext>
              </a:extLst>
            </p:cNvPr>
            <p:cNvSpPr/>
            <p:nvPr/>
          </p:nvSpPr>
          <p:spPr>
            <a:xfrm>
              <a:off x="5376672" y="1207008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0D144F82-38A8-00C6-10C4-5B696C85C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5544" y="1325880"/>
              <a:ext cx="347472" cy="34747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FD55F-3410-C514-2DFF-41BD9706DDC9}"/>
              </a:ext>
            </a:extLst>
          </p:cNvPr>
          <p:cNvGrpSpPr/>
          <p:nvPr/>
        </p:nvGrpSpPr>
        <p:grpSpPr>
          <a:xfrm>
            <a:off x="564903" y="3602467"/>
            <a:ext cx="585216" cy="585216"/>
            <a:chOff x="5376672" y="2505456"/>
            <a:chExt cx="585216" cy="585216"/>
          </a:xfrm>
        </p:grpSpPr>
        <p:sp>
          <p:nvSpPr>
            <p:cNvPr id="15" name="Shape 31">
              <a:extLst>
                <a:ext uri="{FF2B5EF4-FFF2-40B4-BE49-F238E27FC236}">
                  <a16:creationId xmlns:a16="http://schemas.microsoft.com/office/drawing/2014/main" id="{474B5903-29F7-CCAB-385E-D20C800C19DE}"/>
                </a:ext>
              </a:extLst>
            </p:cNvPr>
            <p:cNvSpPr/>
            <p:nvPr/>
          </p:nvSpPr>
          <p:spPr>
            <a:xfrm>
              <a:off x="5376672" y="2505456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6" name="Image 3" descr="preencoded.png">
              <a:extLst>
                <a:ext uri="{FF2B5EF4-FFF2-40B4-BE49-F238E27FC236}">
                  <a16:creationId xmlns:a16="http://schemas.microsoft.com/office/drawing/2014/main" id="{8FCEB6C3-25C0-C3E4-EAF5-FE449DE69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5544" y="2624328"/>
              <a:ext cx="347472" cy="34747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18A7D0-5D8F-F88A-BDAC-4FB5F24E8EC6}"/>
              </a:ext>
            </a:extLst>
          </p:cNvPr>
          <p:cNvGrpSpPr/>
          <p:nvPr/>
        </p:nvGrpSpPr>
        <p:grpSpPr>
          <a:xfrm>
            <a:off x="564903" y="2829940"/>
            <a:ext cx="585216" cy="585216"/>
            <a:chOff x="969264" y="2505456"/>
            <a:chExt cx="585216" cy="585216"/>
          </a:xfrm>
        </p:grpSpPr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4E1AF1D9-7BB3-1232-A372-341155F04473}"/>
                </a:ext>
              </a:extLst>
            </p:cNvPr>
            <p:cNvSpPr/>
            <p:nvPr/>
          </p:nvSpPr>
          <p:spPr>
            <a:xfrm>
              <a:off x="969264" y="2505456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2" descr="preencoded.png">
              <a:extLst>
                <a:ext uri="{FF2B5EF4-FFF2-40B4-BE49-F238E27FC236}">
                  <a16:creationId xmlns:a16="http://schemas.microsoft.com/office/drawing/2014/main" id="{AFDFF125-8579-45A2-D23E-F3C8D701C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8136" y="2624328"/>
              <a:ext cx="347472" cy="34747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07AA6F-7DAA-BB62-FCB4-07CE000329DA}"/>
              </a:ext>
            </a:extLst>
          </p:cNvPr>
          <p:cNvGrpSpPr/>
          <p:nvPr/>
        </p:nvGrpSpPr>
        <p:grpSpPr>
          <a:xfrm>
            <a:off x="564903" y="4370296"/>
            <a:ext cx="585216" cy="585216"/>
            <a:chOff x="5376672" y="2505456"/>
            <a:chExt cx="585216" cy="585216"/>
          </a:xfrm>
        </p:grpSpPr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224EB652-89E3-9513-A020-7AA3AA8D7B73}"/>
                </a:ext>
              </a:extLst>
            </p:cNvPr>
            <p:cNvSpPr/>
            <p:nvPr/>
          </p:nvSpPr>
          <p:spPr>
            <a:xfrm>
              <a:off x="5376672" y="2505456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4" name="Image 3" descr="preencoded.png">
              <a:extLst>
                <a:ext uri="{FF2B5EF4-FFF2-40B4-BE49-F238E27FC236}">
                  <a16:creationId xmlns:a16="http://schemas.microsoft.com/office/drawing/2014/main" id="{A1102E4E-610E-683F-0B65-533627C04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95544" y="2624328"/>
              <a:ext cx="347472" cy="347472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E7B8F7-DF93-E501-73D3-915AD3FC36A2}"/>
              </a:ext>
            </a:extLst>
          </p:cNvPr>
          <p:cNvGrpSpPr/>
          <p:nvPr/>
        </p:nvGrpSpPr>
        <p:grpSpPr>
          <a:xfrm>
            <a:off x="564903" y="3602467"/>
            <a:ext cx="585216" cy="585216"/>
            <a:chOff x="969264" y="3803904"/>
            <a:chExt cx="585216" cy="585216"/>
          </a:xfrm>
        </p:grpSpPr>
        <p:sp>
          <p:nvSpPr>
            <p:cNvPr id="36" name="Shape 38">
              <a:extLst>
                <a:ext uri="{FF2B5EF4-FFF2-40B4-BE49-F238E27FC236}">
                  <a16:creationId xmlns:a16="http://schemas.microsoft.com/office/drawing/2014/main" id="{02A40DB3-5F02-7EA8-8EDB-59AFA7D1F957}"/>
                </a:ext>
              </a:extLst>
            </p:cNvPr>
            <p:cNvSpPr/>
            <p:nvPr/>
          </p:nvSpPr>
          <p:spPr>
            <a:xfrm>
              <a:off x="969264" y="3803904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7" name="Image 4" descr="preencoded.png">
              <a:extLst>
                <a:ext uri="{FF2B5EF4-FFF2-40B4-BE49-F238E27FC236}">
                  <a16:creationId xmlns:a16="http://schemas.microsoft.com/office/drawing/2014/main" id="{5EA5EA06-F68D-CBEB-1625-FEF9AC26F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8136" y="3922776"/>
              <a:ext cx="347472" cy="347472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75E59B-04FB-9AE4-AC20-FE73070E8D63}"/>
              </a:ext>
            </a:extLst>
          </p:cNvPr>
          <p:cNvGrpSpPr/>
          <p:nvPr/>
        </p:nvGrpSpPr>
        <p:grpSpPr>
          <a:xfrm>
            <a:off x="564903" y="5138127"/>
            <a:ext cx="585216" cy="585216"/>
            <a:chOff x="5376672" y="3803904"/>
            <a:chExt cx="585216" cy="585216"/>
          </a:xfrm>
        </p:grpSpPr>
        <p:sp>
          <p:nvSpPr>
            <p:cNvPr id="39" name="Shape 45">
              <a:extLst>
                <a:ext uri="{FF2B5EF4-FFF2-40B4-BE49-F238E27FC236}">
                  <a16:creationId xmlns:a16="http://schemas.microsoft.com/office/drawing/2014/main" id="{EDCC64AE-49CB-0E1F-FF3A-7B7ABBC09A00}"/>
                </a:ext>
              </a:extLst>
            </p:cNvPr>
            <p:cNvSpPr/>
            <p:nvPr/>
          </p:nvSpPr>
          <p:spPr>
            <a:xfrm>
              <a:off x="5376672" y="3803904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0" name="Image 5" descr="preencoded.png">
              <a:extLst>
                <a:ext uri="{FF2B5EF4-FFF2-40B4-BE49-F238E27FC236}">
                  <a16:creationId xmlns:a16="http://schemas.microsoft.com/office/drawing/2014/main" id="{8AFD05CC-BE3A-3C26-9995-5193DA843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95544" y="3922776"/>
              <a:ext cx="347472" cy="347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349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388EBB-3BC5-0EEB-AA38-6A62E1204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53" y="1694909"/>
            <a:ext cx="10925093" cy="63674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 single planogram for ~2,000 stores leaves significant revenue on the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E9C004-CBF5-E93B-5B0C-ECEFE708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3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DCAC2F-5F13-66A6-8D0E-C6F8BBAA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39" y="231865"/>
            <a:ext cx="8831053" cy="636739"/>
          </a:xfrm>
        </p:spPr>
        <p:txBody>
          <a:bodyPr>
            <a:normAutofit fontScale="90000"/>
          </a:bodyPr>
          <a:lstStyle/>
          <a:p>
            <a:r>
              <a:rPr lang="en-US"/>
              <a:t>Why Shelf Space Strategy Matters?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BBBF1164-7454-6216-405C-A841075C058C}"/>
              </a:ext>
            </a:extLst>
          </p:cNvPr>
          <p:cNvSpPr/>
          <p:nvPr/>
        </p:nvSpPr>
        <p:spPr>
          <a:xfrm>
            <a:off x="9520817" y="438014"/>
            <a:ext cx="380299" cy="227464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1486EB15-02D8-0C26-3328-A6EBE152F291}"/>
              </a:ext>
            </a:extLst>
          </p:cNvPr>
          <p:cNvSpPr/>
          <p:nvPr/>
        </p:nvSpPr>
        <p:spPr>
          <a:xfrm>
            <a:off x="9844381" y="438014"/>
            <a:ext cx="380299" cy="22746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660B2831-A0C6-6301-306C-417AD985FC5A}"/>
              </a:ext>
            </a:extLst>
          </p:cNvPr>
          <p:cNvSpPr/>
          <p:nvPr/>
        </p:nvSpPr>
        <p:spPr>
          <a:xfrm>
            <a:off x="10167945" y="438014"/>
            <a:ext cx="380299" cy="22746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8553E97C-0DE2-3748-82AA-D439158BB0AA}"/>
              </a:ext>
            </a:extLst>
          </p:cNvPr>
          <p:cNvSpPr/>
          <p:nvPr/>
        </p:nvSpPr>
        <p:spPr>
          <a:xfrm>
            <a:off x="10491509" y="438014"/>
            <a:ext cx="380299" cy="22746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B943039C-0461-6C5F-BF7D-FB0879B9BD88}"/>
              </a:ext>
            </a:extLst>
          </p:cNvPr>
          <p:cNvSpPr/>
          <p:nvPr/>
        </p:nvSpPr>
        <p:spPr>
          <a:xfrm>
            <a:off x="10815073" y="438014"/>
            <a:ext cx="380299" cy="22746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70AF2BB7-EBD3-8699-CF98-32377CBF7FB5}"/>
              </a:ext>
            </a:extLst>
          </p:cNvPr>
          <p:cNvSpPr/>
          <p:nvPr/>
        </p:nvSpPr>
        <p:spPr>
          <a:xfrm>
            <a:off x="11138638" y="438014"/>
            <a:ext cx="380299" cy="22746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4AF15C6-9D40-4A0C-459C-89F20B472EAB}"/>
              </a:ext>
            </a:extLst>
          </p:cNvPr>
          <p:cNvSpPr txBox="1">
            <a:spLocks/>
          </p:cNvSpPr>
          <p:nvPr/>
        </p:nvSpPr>
        <p:spPr>
          <a:xfrm>
            <a:off x="388068" y="2732756"/>
            <a:ext cx="3346705" cy="2725653"/>
          </a:xfrm>
          <a:prstGeom prst="rect">
            <a:avLst/>
          </a:prstGeom>
          <a:solidFill>
            <a:schemeClr val="bg1">
              <a:alpha val="89000"/>
            </a:schemeClr>
          </a:solidFill>
          <a:ln w="12700">
            <a:solidFill>
              <a:srgbClr val="CC0000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>
                <a:latin typeface="Guardsman red"/>
              </a:rPr>
              <a:t>Space Misalignment</a:t>
            </a:r>
            <a:endParaRPr lang="en-US" sz="1900">
              <a:latin typeface="Guardsman red"/>
            </a:endParaRPr>
          </a:p>
          <a:p>
            <a:pPr marL="0" indent="0" algn="ctr">
              <a:buNone/>
            </a:pPr>
            <a:endParaRPr lang="en-US" sz="2000" b="1" dirty="0">
              <a:latin typeface="Guardsman red"/>
            </a:endParaRPr>
          </a:p>
          <a:p>
            <a:pPr marL="342900" indent="-342900"/>
            <a:r>
              <a:rPr lang="en-US" sz="1900"/>
              <a:t>Over/under allocation vs. Actual demand</a:t>
            </a:r>
          </a:p>
          <a:p>
            <a:pPr marL="342900" indent="-342900"/>
            <a:r>
              <a:rPr lang="en-US" sz="1900"/>
              <a:t>Lost revenue at store level</a:t>
            </a:r>
            <a:endParaRPr lang="en-US" sz="19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00D699-B283-F3EB-142D-C511540A1E45}"/>
              </a:ext>
            </a:extLst>
          </p:cNvPr>
          <p:cNvSpPr txBox="1">
            <a:spLocks/>
          </p:cNvSpPr>
          <p:nvPr/>
        </p:nvSpPr>
        <p:spPr>
          <a:xfrm>
            <a:off x="4422646" y="2732755"/>
            <a:ext cx="3346705" cy="2725653"/>
          </a:xfrm>
          <a:prstGeom prst="rect">
            <a:avLst/>
          </a:prstGeom>
          <a:solidFill>
            <a:schemeClr val="bg1">
              <a:alpha val="89000"/>
            </a:schemeClr>
          </a:solidFill>
          <a:ln w="12700">
            <a:solidFill>
              <a:srgbClr val="CC0000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>
                <a:latin typeface="Guardsman red"/>
              </a:rPr>
              <a:t>Silo Management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900"/>
          </a:p>
          <a:p>
            <a:pPr marL="342900" indent="-342900"/>
            <a:r>
              <a:rPr lang="en-US" sz="2000">
                <a:latin typeface="Guardsman red"/>
              </a:rPr>
              <a:t>Categories managed independently</a:t>
            </a:r>
          </a:p>
          <a:p>
            <a:pPr marL="342900" indent="-342900"/>
            <a:r>
              <a:rPr lang="en-US" sz="2000" dirty="0">
                <a:latin typeface="Guardsman red"/>
              </a:rPr>
              <a:t>Miss </a:t>
            </a:r>
            <a:r>
              <a:rPr lang="en-US" sz="2000">
                <a:latin typeface="Guardsman red"/>
              </a:rPr>
              <a:t>cross-item (halo/cannibalization) effects</a:t>
            </a:r>
            <a:endParaRPr lang="en-US" sz="2000" dirty="0">
              <a:latin typeface="Guardsman red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5B2330-FA85-54D4-9221-189BB474CD20}"/>
              </a:ext>
            </a:extLst>
          </p:cNvPr>
          <p:cNvSpPr txBox="1">
            <a:spLocks/>
          </p:cNvSpPr>
          <p:nvPr/>
        </p:nvSpPr>
        <p:spPr>
          <a:xfrm>
            <a:off x="8457222" y="2732755"/>
            <a:ext cx="3346705" cy="2725653"/>
          </a:xfrm>
          <a:prstGeom prst="rect">
            <a:avLst/>
          </a:prstGeom>
          <a:solidFill>
            <a:schemeClr val="bg1">
              <a:alpha val="89000"/>
            </a:schemeClr>
          </a:solidFill>
          <a:ln w="12700">
            <a:solidFill>
              <a:srgbClr val="CC0000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>
                <a:latin typeface="Guardsman red"/>
              </a:rPr>
              <a:t>No Scalability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900"/>
          </a:p>
          <a:p>
            <a:pPr marL="342900" indent="-342900"/>
            <a:r>
              <a:rPr lang="en-US" sz="2000">
                <a:latin typeface="Guardsman red"/>
              </a:rPr>
              <a:t>One-size-fits-all planogram</a:t>
            </a:r>
          </a:p>
          <a:p>
            <a:pPr marL="342900" indent="-342900"/>
            <a:r>
              <a:rPr lang="en-US" sz="2000">
                <a:latin typeface="Guardsman red"/>
              </a:rPr>
              <a:t>Does not</a:t>
            </a:r>
            <a:r>
              <a:rPr lang="en-US" sz="2000" dirty="0">
                <a:latin typeface="Guardsman red"/>
              </a:rPr>
              <a:t> adapt across ~2,000 stores</a:t>
            </a:r>
          </a:p>
        </p:txBody>
      </p:sp>
    </p:spTree>
    <p:extLst>
      <p:ext uri="{BB962C8B-B14F-4D97-AF65-F5344CB8AC3E}">
        <p14:creationId xmlns:p14="http://schemas.microsoft.com/office/powerpoint/2010/main" val="60018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9878E-86B8-F50B-ECE2-EB66073CB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3ECCBA2-EA7C-4125-5B9C-E674662A1B84}"/>
              </a:ext>
            </a:extLst>
          </p:cNvPr>
          <p:cNvSpPr/>
          <p:nvPr/>
        </p:nvSpPr>
        <p:spPr>
          <a:xfrm>
            <a:off x="8450283" y="2556556"/>
            <a:ext cx="2560320" cy="640080"/>
          </a:xfrm>
          <a:prstGeom prst="rect">
            <a:avLst/>
          </a:prstGeom>
          <a:solidFill>
            <a:srgbClr val="FFF8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Increase Revenue &amp; Reduce Costs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B3FFFD-D46F-CBC2-38C8-46629070D713}"/>
              </a:ext>
            </a:extLst>
          </p:cNvPr>
          <p:cNvSpPr/>
          <p:nvPr/>
        </p:nvSpPr>
        <p:spPr>
          <a:xfrm>
            <a:off x="4913028" y="2547547"/>
            <a:ext cx="2560320" cy="640080"/>
          </a:xfrm>
          <a:prstGeom prst="rect">
            <a:avLst/>
          </a:prstGeom>
          <a:solidFill>
            <a:srgbClr val="FFF8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Better customer satisfaction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A2D24-B812-BED8-719A-C7F80A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4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FF61DC-FD39-C9ED-F7A0-979EE827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Business Value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B825A4-CDBC-EF9B-F957-FB36DDF048EF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EE1056D8-1832-027A-2EE0-03D96702492E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26FCAB4D-8EF5-56C3-243C-80180850791F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9B4BBC66-4ABF-4BEE-FBB6-F81B5BBD0EC3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5159F2F0-546F-5C33-BEDB-25C08500B10A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9641FF87-3747-060C-C6D0-A88B39A9D3E0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52EF75C3-CD04-86BE-E270-1F827C433421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6AE434-F73D-E056-4E61-6CB46288D3E4}"/>
              </a:ext>
            </a:extLst>
          </p:cNvPr>
          <p:cNvGrpSpPr/>
          <p:nvPr/>
        </p:nvGrpSpPr>
        <p:grpSpPr>
          <a:xfrm>
            <a:off x="4247583" y="2410387"/>
            <a:ext cx="914400" cy="914400"/>
            <a:chOff x="969264" y="2505456"/>
            <a:chExt cx="585216" cy="585216"/>
          </a:xfrm>
        </p:grpSpPr>
        <p:sp>
          <p:nvSpPr>
            <p:cNvPr id="20" name="Shape 24">
              <a:extLst>
                <a:ext uri="{FF2B5EF4-FFF2-40B4-BE49-F238E27FC236}">
                  <a16:creationId xmlns:a16="http://schemas.microsoft.com/office/drawing/2014/main" id="{2E421906-B16D-5DB8-D4E3-DBCC11258114}"/>
                </a:ext>
              </a:extLst>
            </p:cNvPr>
            <p:cNvSpPr/>
            <p:nvPr/>
          </p:nvSpPr>
          <p:spPr>
            <a:xfrm>
              <a:off x="969264" y="2505456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2" descr="preencoded.png">
              <a:extLst>
                <a:ext uri="{FF2B5EF4-FFF2-40B4-BE49-F238E27FC236}">
                  <a16:creationId xmlns:a16="http://schemas.microsoft.com/office/drawing/2014/main" id="{D78A966F-FF91-89EA-CBC3-8E151EF29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136" y="2624328"/>
              <a:ext cx="347472" cy="34747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E07197-5D3E-C3FB-BE36-48B0007D318E}"/>
              </a:ext>
            </a:extLst>
          </p:cNvPr>
          <p:cNvGrpSpPr/>
          <p:nvPr/>
        </p:nvGrpSpPr>
        <p:grpSpPr>
          <a:xfrm>
            <a:off x="7784427" y="2410387"/>
            <a:ext cx="914400" cy="914400"/>
            <a:chOff x="5376672" y="1207008"/>
            <a:chExt cx="585216" cy="585216"/>
          </a:xfrm>
        </p:grpSpPr>
        <p:sp>
          <p:nvSpPr>
            <p:cNvPr id="17" name="Shape 17">
              <a:extLst>
                <a:ext uri="{FF2B5EF4-FFF2-40B4-BE49-F238E27FC236}">
                  <a16:creationId xmlns:a16="http://schemas.microsoft.com/office/drawing/2014/main" id="{31A5535A-27D2-1E3F-A9DF-6F71CFA44FEE}"/>
                </a:ext>
              </a:extLst>
            </p:cNvPr>
            <p:cNvSpPr/>
            <p:nvPr/>
          </p:nvSpPr>
          <p:spPr>
            <a:xfrm>
              <a:off x="5376672" y="1207008"/>
              <a:ext cx="585216" cy="58521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1" descr="preencoded.png">
              <a:extLst>
                <a:ext uri="{FF2B5EF4-FFF2-40B4-BE49-F238E27FC236}">
                  <a16:creationId xmlns:a16="http://schemas.microsoft.com/office/drawing/2014/main" id="{4C5C71C1-AEA4-EE7C-C368-1815492CA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5544" y="1325880"/>
              <a:ext cx="347472" cy="347472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7B379B7-A732-1931-213C-307517AC83F8}"/>
              </a:ext>
            </a:extLst>
          </p:cNvPr>
          <p:cNvSpPr/>
          <p:nvPr/>
        </p:nvSpPr>
        <p:spPr>
          <a:xfrm>
            <a:off x="1314553" y="2547547"/>
            <a:ext cx="2560320" cy="640080"/>
          </a:xfrm>
          <a:prstGeom prst="rect">
            <a:avLst/>
          </a:prstGeom>
          <a:solidFill>
            <a:srgbClr val="FFF8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Maximize store efficiencies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516977-396B-E543-5DC0-534048977469}"/>
              </a:ext>
            </a:extLst>
          </p:cNvPr>
          <p:cNvGrpSpPr/>
          <p:nvPr/>
        </p:nvGrpSpPr>
        <p:grpSpPr>
          <a:xfrm>
            <a:off x="860517" y="2410387"/>
            <a:ext cx="914400" cy="914400"/>
            <a:chOff x="4492752" y="1804416"/>
            <a:chExt cx="829056" cy="829056"/>
          </a:xfrm>
        </p:grpSpPr>
        <p:sp>
          <p:nvSpPr>
            <p:cNvPr id="15" name="Shape 23">
              <a:extLst>
                <a:ext uri="{FF2B5EF4-FFF2-40B4-BE49-F238E27FC236}">
                  <a16:creationId xmlns:a16="http://schemas.microsoft.com/office/drawing/2014/main" id="{BC942365-E2BB-925B-788F-EB2D41A6FE4E}"/>
                </a:ext>
              </a:extLst>
            </p:cNvPr>
            <p:cNvSpPr/>
            <p:nvPr/>
          </p:nvSpPr>
          <p:spPr>
            <a:xfrm>
              <a:off x="4492752" y="1804416"/>
              <a:ext cx="829056" cy="82905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9" name="Image 2" descr="preencoded.png">
              <a:extLst>
                <a:ext uri="{FF2B5EF4-FFF2-40B4-BE49-F238E27FC236}">
                  <a16:creationId xmlns:a16="http://schemas.microsoft.com/office/drawing/2014/main" id="{A32AF2BB-5A4D-8CDA-BAA7-960018226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1248" y="1962912"/>
              <a:ext cx="512064" cy="512064"/>
            </a:xfrm>
            <a:prstGeom prst="rect">
              <a:avLst/>
            </a:prstGeom>
          </p:spPr>
        </p:pic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E76D6C7-2062-5EEE-2ED1-10C68A5DB89B}"/>
              </a:ext>
            </a:extLst>
          </p:cNvPr>
          <p:cNvSpPr/>
          <p:nvPr/>
        </p:nvSpPr>
        <p:spPr>
          <a:xfrm>
            <a:off x="8450283" y="4701481"/>
            <a:ext cx="2560320" cy="640080"/>
          </a:xfrm>
          <a:prstGeom prst="rect">
            <a:avLst/>
          </a:prstGeom>
          <a:solidFill>
            <a:srgbClr val="FFF8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Optimizing Shelf Space </a:t>
            </a:r>
          </a:p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Brand and Items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FA67F3-B94A-D01F-4366-1BF86AC4948E}"/>
              </a:ext>
            </a:extLst>
          </p:cNvPr>
          <p:cNvGrpSpPr/>
          <p:nvPr/>
        </p:nvGrpSpPr>
        <p:grpSpPr>
          <a:xfrm>
            <a:off x="7784427" y="4564321"/>
            <a:ext cx="914400" cy="914400"/>
            <a:chOff x="2724912" y="5315712"/>
            <a:chExt cx="829056" cy="829056"/>
          </a:xfrm>
        </p:grpSpPr>
        <p:sp>
          <p:nvSpPr>
            <p:cNvPr id="30" name="Shape 73">
              <a:extLst>
                <a:ext uri="{FF2B5EF4-FFF2-40B4-BE49-F238E27FC236}">
                  <a16:creationId xmlns:a16="http://schemas.microsoft.com/office/drawing/2014/main" id="{D103DD32-F193-247D-6AB9-DACF9C45C57C}"/>
                </a:ext>
              </a:extLst>
            </p:cNvPr>
            <p:cNvSpPr/>
            <p:nvPr/>
          </p:nvSpPr>
          <p:spPr>
            <a:xfrm>
              <a:off x="2724912" y="5315712"/>
              <a:ext cx="829056" cy="82905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1" name="Image 25" descr="preencoded.png">
              <a:extLst>
                <a:ext uri="{FF2B5EF4-FFF2-40B4-BE49-F238E27FC236}">
                  <a16:creationId xmlns:a16="http://schemas.microsoft.com/office/drawing/2014/main" id="{7E6D71FD-3F29-BC23-8948-BE9A27EB1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83408" y="5474208"/>
              <a:ext cx="512064" cy="512064"/>
            </a:xfrm>
            <a:prstGeom prst="rect">
              <a:avLst/>
            </a:prstGeom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24181184-E4C1-12D8-D311-E1010B9158BE}"/>
              </a:ext>
            </a:extLst>
          </p:cNvPr>
          <p:cNvSpPr/>
          <p:nvPr/>
        </p:nvSpPr>
        <p:spPr>
          <a:xfrm>
            <a:off x="1383911" y="4701481"/>
            <a:ext cx="2560320" cy="640080"/>
          </a:xfrm>
          <a:prstGeom prst="rect">
            <a:avLst/>
          </a:prstGeom>
          <a:solidFill>
            <a:srgbClr val="FFF8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Clustering Stores </a:t>
            </a:r>
          </a:p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Demographics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B2601D5-9910-A2B5-4733-EE07A8A04B6B}"/>
              </a:ext>
            </a:extLst>
          </p:cNvPr>
          <p:cNvGrpSpPr/>
          <p:nvPr/>
        </p:nvGrpSpPr>
        <p:grpSpPr>
          <a:xfrm>
            <a:off x="860517" y="4564321"/>
            <a:ext cx="914400" cy="914400"/>
            <a:chOff x="2724912" y="5315712"/>
            <a:chExt cx="829056" cy="829056"/>
          </a:xfrm>
        </p:grpSpPr>
        <p:sp>
          <p:nvSpPr>
            <p:cNvPr id="46" name="Shape 73">
              <a:extLst>
                <a:ext uri="{FF2B5EF4-FFF2-40B4-BE49-F238E27FC236}">
                  <a16:creationId xmlns:a16="http://schemas.microsoft.com/office/drawing/2014/main" id="{7ECD01E4-353A-DBCC-5103-453AA0140D5E}"/>
                </a:ext>
              </a:extLst>
            </p:cNvPr>
            <p:cNvSpPr/>
            <p:nvPr/>
          </p:nvSpPr>
          <p:spPr>
            <a:xfrm>
              <a:off x="2724912" y="5315712"/>
              <a:ext cx="829056" cy="82905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47" name="Image 25" descr="preencoded.png">
              <a:extLst>
                <a:ext uri="{FF2B5EF4-FFF2-40B4-BE49-F238E27FC236}">
                  <a16:creationId xmlns:a16="http://schemas.microsoft.com/office/drawing/2014/main" id="{4831D42A-7C33-D4C9-7DBB-8441162C5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83408" y="5474208"/>
              <a:ext cx="512064" cy="512064"/>
            </a:xfrm>
            <a:prstGeom prst="rect">
              <a:avLst/>
            </a:prstGeom>
          </p:spPr>
        </p:pic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3461668B-99D0-42E0-97C2-9B189F0A07AF}"/>
              </a:ext>
            </a:extLst>
          </p:cNvPr>
          <p:cNvSpPr/>
          <p:nvPr/>
        </p:nvSpPr>
        <p:spPr>
          <a:xfrm>
            <a:off x="4913028" y="4701481"/>
            <a:ext cx="2560320" cy="640080"/>
          </a:xfrm>
          <a:prstGeom prst="rect">
            <a:avLst/>
          </a:prstGeom>
          <a:solidFill>
            <a:srgbClr val="FFF8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Isolated Key Attributes </a:t>
            </a:r>
          </a:p>
          <a:p>
            <a:pPr algn="r"/>
            <a:r>
              <a:rPr lang="en-US"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Stores</a:t>
            </a:r>
          </a:p>
        </p:txBody>
      </p:sp>
      <p:sp>
        <p:nvSpPr>
          <p:cNvPr id="53" name="Shape 73">
            <a:extLst>
              <a:ext uri="{FF2B5EF4-FFF2-40B4-BE49-F238E27FC236}">
                <a16:creationId xmlns:a16="http://schemas.microsoft.com/office/drawing/2014/main" id="{5A087B21-678A-38E1-908D-135A1ED15FFC}"/>
              </a:ext>
            </a:extLst>
          </p:cNvPr>
          <p:cNvSpPr/>
          <p:nvPr/>
        </p:nvSpPr>
        <p:spPr>
          <a:xfrm>
            <a:off x="4247583" y="4564321"/>
            <a:ext cx="914400" cy="9144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5" name="Image 0" descr="preencoded.png">
            <a:extLst>
              <a:ext uri="{FF2B5EF4-FFF2-40B4-BE49-F238E27FC236}">
                <a16:creationId xmlns:a16="http://schemas.microsoft.com/office/drawing/2014/main" id="{D21FB150-41AC-DBCC-69FA-F38F5BF2B8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636" y="4765489"/>
            <a:ext cx="512064" cy="5120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CCD8F52-F935-DB19-45F4-2EDDD9021250}"/>
              </a:ext>
            </a:extLst>
          </p:cNvPr>
          <p:cNvSpPr/>
          <p:nvPr/>
        </p:nvSpPr>
        <p:spPr>
          <a:xfrm>
            <a:off x="726621" y="1612301"/>
            <a:ext cx="3536844" cy="64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Outcomes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98F681E-3C00-CDDD-6AAD-BF9B7325FB0B}"/>
              </a:ext>
            </a:extLst>
          </p:cNvPr>
          <p:cNvCxnSpPr/>
          <p:nvPr/>
        </p:nvCxnSpPr>
        <p:spPr>
          <a:xfrm>
            <a:off x="726621" y="2261507"/>
            <a:ext cx="102786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1882171-9760-C0FE-7CC4-540B22B78A5A}"/>
              </a:ext>
            </a:extLst>
          </p:cNvPr>
          <p:cNvSpPr/>
          <p:nvPr/>
        </p:nvSpPr>
        <p:spPr>
          <a:xfrm>
            <a:off x="728886" y="3741262"/>
            <a:ext cx="3536844" cy="64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 Analytical Approach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30BB45-CEA4-5A4D-C33F-5E36045C752D}"/>
              </a:ext>
            </a:extLst>
          </p:cNvPr>
          <p:cNvCxnSpPr/>
          <p:nvPr/>
        </p:nvCxnSpPr>
        <p:spPr>
          <a:xfrm>
            <a:off x="728886" y="4390468"/>
            <a:ext cx="102786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5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657FD-DE71-6120-1D2B-FC85E27C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2B8E15-8036-F362-277D-E71D9597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Objectives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1A1E369-59AA-F68C-1586-B8B052355EB6}"/>
              </a:ext>
            </a:extLst>
          </p:cNvPr>
          <p:cNvGrpSpPr/>
          <p:nvPr/>
        </p:nvGrpSpPr>
        <p:grpSpPr>
          <a:xfrm>
            <a:off x="4435657" y="1747156"/>
            <a:ext cx="3320687" cy="1706336"/>
            <a:chOff x="426720" y="1657350"/>
            <a:chExt cx="2606040" cy="1234440"/>
          </a:xfrm>
        </p:grpSpPr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9499062C-F285-43C7-B17B-E005F04047FB}"/>
                </a:ext>
              </a:extLst>
            </p:cNvPr>
            <p:cNvSpPr/>
            <p:nvPr/>
          </p:nvSpPr>
          <p:spPr>
            <a:xfrm>
              <a:off x="426720" y="1657350"/>
              <a:ext cx="2606040" cy="1234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C98BDDCD-86A9-6910-D4B0-9684BE68C4ED}"/>
                </a:ext>
              </a:extLst>
            </p:cNvPr>
            <p:cNvSpPr/>
            <p:nvPr/>
          </p:nvSpPr>
          <p:spPr>
            <a:xfrm>
              <a:off x="426720" y="1657350"/>
              <a:ext cx="54864" cy="1234440"/>
            </a:xfrm>
            <a:prstGeom prst="rect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372791B-99BD-491F-2344-9D3082CC629F}"/>
              </a:ext>
            </a:extLst>
          </p:cNvPr>
          <p:cNvGrpSpPr/>
          <p:nvPr/>
        </p:nvGrpSpPr>
        <p:grpSpPr>
          <a:xfrm>
            <a:off x="8487863" y="1747156"/>
            <a:ext cx="3320687" cy="1706336"/>
            <a:chOff x="426720" y="1657350"/>
            <a:chExt cx="2606040" cy="1234440"/>
          </a:xfrm>
        </p:grpSpPr>
        <p:sp>
          <p:nvSpPr>
            <p:cNvPr id="29" name="Shape 10">
              <a:extLst>
                <a:ext uri="{FF2B5EF4-FFF2-40B4-BE49-F238E27FC236}">
                  <a16:creationId xmlns:a16="http://schemas.microsoft.com/office/drawing/2014/main" id="{0644E18E-0BF5-396A-FC15-77EFC4A6CF77}"/>
                </a:ext>
              </a:extLst>
            </p:cNvPr>
            <p:cNvSpPr/>
            <p:nvPr/>
          </p:nvSpPr>
          <p:spPr>
            <a:xfrm>
              <a:off x="426720" y="1657350"/>
              <a:ext cx="2606040" cy="1234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6">
              <a:extLst>
                <a:ext uri="{FF2B5EF4-FFF2-40B4-BE49-F238E27FC236}">
                  <a16:creationId xmlns:a16="http://schemas.microsoft.com/office/drawing/2014/main" id="{6845D444-FEE3-3A44-FBFC-2B3937A9BCD5}"/>
                </a:ext>
              </a:extLst>
            </p:cNvPr>
            <p:cNvSpPr/>
            <p:nvPr/>
          </p:nvSpPr>
          <p:spPr>
            <a:xfrm>
              <a:off x="426720" y="1657350"/>
              <a:ext cx="54864" cy="1234440"/>
            </a:xfrm>
            <a:prstGeom prst="rect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83BBAF-8A17-B314-0750-E9E8F0092058}"/>
              </a:ext>
            </a:extLst>
          </p:cNvPr>
          <p:cNvGrpSpPr/>
          <p:nvPr/>
        </p:nvGrpSpPr>
        <p:grpSpPr>
          <a:xfrm>
            <a:off x="383450" y="1747156"/>
            <a:ext cx="3320687" cy="1706336"/>
            <a:chOff x="426720" y="1657350"/>
            <a:chExt cx="2606040" cy="1234440"/>
          </a:xfrm>
        </p:grpSpPr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64ACFA5A-4957-8439-1164-1C66689BF361}"/>
                </a:ext>
              </a:extLst>
            </p:cNvPr>
            <p:cNvSpPr/>
            <p:nvPr/>
          </p:nvSpPr>
          <p:spPr>
            <a:xfrm>
              <a:off x="426720" y="1657350"/>
              <a:ext cx="2606040" cy="1234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16">
              <a:extLst>
                <a:ext uri="{FF2B5EF4-FFF2-40B4-BE49-F238E27FC236}">
                  <a16:creationId xmlns:a16="http://schemas.microsoft.com/office/drawing/2014/main" id="{746BA0DC-9FCF-864A-AC0E-66E62E142042}"/>
                </a:ext>
              </a:extLst>
            </p:cNvPr>
            <p:cNvSpPr/>
            <p:nvPr/>
          </p:nvSpPr>
          <p:spPr>
            <a:xfrm>
              <a:off x="426720" y="1657350"/>
              <a:ext cx="54864" cy="1234440"/>
            </a:xfrm>
            <a:prstGeom prst="rect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137C1C-D538-8CF2-3C13-2D2819EA318C}"/>
              </a:ext>
            </a:extLst>
          </p:cNvPr>
          <p:cNvGrpSpPr/>
          <p:nvPr/>
        </p:nvGrpSpPr>
        <p:grpSpPr>
          <a:xfrm>
            <a:off x="6484892" y="3932464"/>
            <a:ext cx="3320687" cy="1706336"/>
            <a:chOff x="426720" y="1657350"/>
            <a:chExt cx="2606040" cy="1234440"/>
          </a:xfrm>
        </p:grpSpPr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4A814494-17BD-526B-4F99-C31D066CDC91}"/>
                </a:ext>
              </a:extLst>
            </p:cNvPr>
            <p:cNvSpPr/>
            <p:nvPr/>
          </p:nvSpPr>
          <p:spPr>
            <a:xfrm>
              <a:off x="426720" y="1657350"/>
              <a:ext cx="2606040" cy="1234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843F957D-7E4D-7103-16EC-CD1B734FD006}"/>
                </a:ext>
              </a:extLst>
            </p:cNvPr>
            <p:cNvSpPr/>
            <p:nvPr/>
          </p:nvSpPr>
          <p:spPr>
            <a:xfrm>
              <a:off x="426720" y="1657350"/>
              <a:ext cx="54864" cy="1234440"/>
            </a:xfrm>
            <a:prstGeom prst="rect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E6A0175-F673-7C3B-2CD9-60364C13DB91}"/>
              </a:ext>
            </a:extLst>
          </p:cNvPr>
          <p:cNvGrpSpPr/>
          <p:nvPr/>
        </p:nvGrpSpPr>
        <p:grpSpPr>
          <a:xfrm>
            <a:off x="2432685" y="3932464"/>
            <a:ext cx="3320687" cy="1706336"/>
            <a:chOff x="426720" y="1657350"/>
            <a:chExt cx="2606040" cy="1234440"/>
          </a:xfrm>
        </p:grpSpPr>
        <p:sp>
          <p:nvSpPr>
            <p:cNvPr id="41" name="Shape 10">
              <a:extLst>
                <a:ext uri="{FF2B5EF4-FFF2-40B4-BE49-F238E27FC236}">
                  <a16:creationId xmlns:a16="http://schemas.microsoft.com/office/drawing/2014/main" id="{7D222C61-FE85-F7C3-7C43-5C0778C0D4AF}"/>
                </a:ext>
              </a:extLst>
            </p:cNvPr>
            <p:cNvSpPr/>
            <p:nvPr/>
          </p:nvSpPr>
          <p:spPr>
            <a:xfrm>
              <a:off x="426720" y="1657350"/>
              <a:ext cx="2606040" cy="1234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16">
              <a:extLst>
                <a:ext uri="{FF2B5EF4-FFF2-40B4-BE49-F238E27FC236}">
                  <a16:creationId xmlns:a16="http://schemas.microsoft.com/office/drawing/2014/main" id="{2318B045-BD3E-DC4C-5665-4176C47F128C}"/>
                </a:ext>
              </a:extLst>
            </p:cNvPr>
            <p:cNvSpPr/>
            <p:nvPr/>
          </p:nvSpPr>
          <p:spPr>
            <a:xfrm>
              <a:off x="426720" y="1657350"/>
              <a:ext cx="54864" cy="1234440"/>
            </a:xfrm>
            <a:prstGeom prst="rect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Text 13">
            <a:extLst>
              <a:ext uri="{FF2B5EF4-FFF2-40B4-BE49-F238E27FC236}">
                <a16:creationId xmlns:a16="http://schemas.microsoft.com/office/drawing/2014/main" id="{F07B6278-D655-77D0-3FB1-FE815289FDAF}"/>
              </a:ext>
            </a:extLst>
          </p:cNvPr>
          <p:cNvSpPr/>
          <p:nvPr/>
        </p:nvSpPr>
        <p:spPr>
          <a:xfrm>
            <a:off x="1351493" y="1950782"/>
            <a:ext cx="2010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Drives Demand?</a:t>
            </a:r>
            <a:endParaRPr lang="en-US" sz="1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B5607F27-0CDD-6F00-C4FB-3B0A8F9F1A30}"/>
              </a:ext>
            </a:extLst>
          </p:cNvPr>
          <p:cNvSpPr/>
          <p:nvPr/>
        </p:nvSpPr>
        <p:spPr>
          <a:xfrm>
            <a:off x="711892" y="2579669"/>
            <a:ext cx="28876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 which</a:t>
            </a:r>
            <a:r>
              <a:rPr lang="en-US" sz="1200" b="1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store attributes influence demand across item groups and categories.</a:t>
            </a:r>
            <a:endParaRPr lang="en-US" sz="1200" b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E6FF9A1E-0197-9342-0386-4A70A28C3172}"/>
              </a:ext>
            </a:extLst>
          </p:cNvPr>
          <p:cNvSpPr/>
          <p:nvPr/>
        </p:nvSpPr>
        <p:spPr>
          <a:xfrm>
            <a:off x="5156034" y="1950782"/>
            <a:ext cx="2426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Drivers Interact?</a:t>
            </a:r>
            <a:endParaRPr lang="en-US" sz="1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07DC7B65-8238-9F04-5512-D1DEBD603CC1}"/>
              </a:ext>
            </a:extLst>
          </p:cNvPr>
          <p:cNvSpPr/>
          <p:nvPr/>
        </p:nvSpPr>
        <p:spPr>
          <a:xfrm>
            <a:off x="4694888" y="2579669"/>
            <a:ext cx="28876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Assess whether</a:t>
            </a:r>
            <a:r>
              <a:rPr lang="en-US" sz="1200" b="1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demand is driven by single factors or combinations and how this varies across stores.</a:t>
            </a:r>
            <a:endParaRPr lang="en-US" sz="1200" b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0571C7D0-E744-66E1-3184-889812412A7A}"/>
              </a:ext>
            </a:extLst>
          </p:cNvPr>
          <p:cNvSpPr/>
          <p:nvPr/>
        </p:nvSpPr>
        <p:spPr>
          <a:xfrm>
            <a:off x="9377258" y="1950782"/>
            <a:ext cx="2010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Space Misaligned?</a:t>
            </a:r>
            <a:endParaRPr lang="en-US" sz="1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E1EBA86F-7BD6-C36D-B3AB-799A5CCDFBB2}"/>
              </a:ext>
            </a:extLst>
          </p:cNvPr>
          <p:cNvSpPr/>
          <p:nvPr/>
        </p:nvSpPr>
        <p:spPr>
          <a:xfrm>
            <a:off x="8789637" y="2579669"/>
            <a:ext cx="28876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Pinpoint</a:t>
            </a:r>
            <a:r>
              <a:rPr lang="en-US" sz="1200" b="1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where current shelf allocation over or under indexes relative to actual sales share by brand and item type.</a:t>
            </a:r>
            <a:endParaRPr lang="en-US" sz="1200" b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A8A64C4E-E77D-3D9A-F743-444DCA15245F}"/>
              </a:ext>
            </a:extLst>
          </p:cNvPr>
          <p:cNvSpPr/>
          <p:nvPr/>
        </p:nvSpPr>
        <p:spPr>
          <a:xfrm>
            <a:off x="3344015" y="4146503"/>
            <a:ext cx="2002449" cy="37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we test and measure impact?</a:t>
            </a:r>
            <a:endParaRPr lang="en-US" sz="1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013FC42D-D2AD-108E-38C4-3590C90D2443}"/>
              </a:ext>
            </a:extLst>
          </p:cNvPr>
          <p:cNvSpPr/>
          <p:nvPr/>
        </p:nvSpPr>
        <p:spPr>
          <a:xfrm>
            <a:off x="2872437" y="4822728"/>
            <a:ext cx="26376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Define pilot plans, success metrics, and guardrails before full rollout.</a:t>
            </a:r>
            <a:endParaRPr lang="en-US" sz="1200" b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2BEA287E-627C-142D-5D79-C1690ACF6676}"/>
              </a:ext>
            </a:extLst>
          </p:cNvPr>
          <p:cNvSpPr/>
          <p:nvPr/>
        </p:nvSpPr>
        <p:spPr>
          <a:xfrm>
            <a:off x="7358449" y="4088524"/>
            <a:ext cx="2276856" cy="493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we scale decisions across stores?</a:t>
            </a:r>
            <a:endParaRPr lang="en-US" sz="1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7" name="Text 34">
            <a:extLst>
              <a:ext uri="{FF2B5EF4-FFF2-40B4-BE49-F238E27FC236}">
                <a16:creationId xmlns:a16="http://schemas.microsoft.com/office/drawing/2014/main" id="{C5F658B1-7D72-FFE7-CB0B-BE05891174B1}"/>
              </a:ext>
            </a:extLst>
          </p:cNvPr>
          <p:cNvSpPr/>
          <p:nvPr/>
        </p:nvSpPr>
        <p:spPr>
          <a:xfrm>
            <a:off x="6905665" y="4822728"/>
            <a:ext cx="27124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rgbClr val="66666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stores into 6 to 7 segments and assign clear, repeatable space strategies.</a:t>
            </a:r>
            <a:endParaRPr lang="en-US" sz="1200" b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8E41DA3-F2BC-2B53-0CA2-FC527AD10728}"/>
              </a:ext>
            </a:extLst>
          </p:cNvPr>
          <p:cNvGrpSpPr/>
          <p:nvPr/>
        </p:nvGrpSpPr>
        <p:grpSpPr>
          <a:xfrm>
            <a:off x="654645" y="1905062"/>
            <a:ext cx="457200" cy="457200"/>
            <a:chOff x="530352" y="1280160"/>
            <a:chExt cx="347472" cy="347472"/>
          </a:xfrm>
        </p:grpSpPr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12265BC4-F527-5B24-C8A0-291AC33D1CEF}"/>
                </a:ext>
              </a:extLst>
            </p:cNvPr>
            <p:cNvSpPr/>
            <p:nvPr/>
          </p:nvSpPr>
          <p:spPr>
            <a:xfrm>
              <a:off x="530352" y="1280160"/>
              <a:ext cx="347472" cy="347472"/>
            </a:xfrm>
            <a:prstGeom prst="ellipse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73" name="Image 0" descr="preencoded.png">
              <a:extLst>
                <a:ext uri="{FF2B5EF4-FFF2-40B4-BE49-F238E27FC236}">
                  <a16:creationId xmlns:a16="http://schemas.microsoft.com/office/drawing/2014/main" id="{CC10B69D-F0D1-4246-8EBE-B48FD7342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" y="1344168"/>
              <a:ext cx="219456" cy="219456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21CCFD4-5972-9969-76F3-E05188572BD7}"/>
              </a:ext>
            </a:extLst>
          </p:cNvPr>
          <p:cNvGrpSpPr/>
          <p:nvPr/>
        </p:nvGrpSpPr>
        <p:grpSpPr>
          <a:xfrm>
            <a:off x="6821444" y="4106711"/>
            <a:ext cx="457200" cy="457200"/>
            <a:chOff x="4850892" y="2880360"/>
            <a:chExt cx="347472" cy="347472"/>
          </a:xfrm>
        </p:grpSpPr>
        <p:sp>
          <p:nvSpPr>
            <p:cNvPr id="78" name="Shape 32">
              <a:extLst>
                <a:ext uri="{FF2B5EF4-FFF2-40B4-BE49-F238E27FC236}">
                  <a16:creationId xmlns:a16="http://schemas.microsoft.com/office/drawing/2014/main" id="{C55E69A4-3EDC-7D37-58B9-94AF4184DDCC}"/>
                </a:ext>
              </a:extLst>
            </p:cNvPr>
            <p:cNvSpPr/>
            <p:nvPr/>
          </p:nvSpPr>
          <p:spPr>
            <a:xfrm>
              <a:off x="4850892" y="2880360"/>
              <a:ext cx="347472" cy="347472"/>
            </a:xfrm>
            <a:prstGeom prst="ellipse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79" name="Image 4" descr="preencoded.png">
              <a:extLst>
                <a:ext uri="{FF2B5EF4-FFF2-40B4-BE49-F238E27FC236}">
                  <a16:creationId xmlns:a16="http://schemas.microsoft.com/office/drawing/2014/main" id="{C9E7591B-065A-A509-961D-86D0295ED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900" y="2944368"/>
              <a:ext cx="219456" cy="219456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A1C0474-337B-A5CC-A260-F2D14ACDAE71}"/>
              </a:ext>
            </a:extLst>
          </p:cNvPr>
          <p:cNvGrpSpPr/>
          <p:nvPr/>
        </p:nvGrpSpPr>
        <p:grpSpPr>
          <a:xfrm>
            <a:off x="2694182" y="4106711"/>
            <a:ext cx="457200" cy="457200"/>
            <a:chOff x="2016252" y="2880360"/>
            <a:chExt cx="347472" cy="347472"/>
          </a:xfrm>
        </p:grpSpPr>
        <p:sp>
          <p:nvSpPr>
            <p:cNvPr id="80" name="Shape 27">
              <a:extLst>
                <a:ext uri="{FF2B5EF4-FFF2-40B4-BE49-F238E27FC236}">
                  <a16:creationId xmlns:a16="http://schemas.microsoft.com/office/drawing/2014/main" id="{4AD840A8-FE8A-D20C-50D2-01DAFE93C996}"/>
                </a:ext>
              </a:extLst>
            </p:cNvPr>
            <p:cNvSpPr/>
            <p:nvPr/>
          </p:nvSpPr>
          <p:spPr>
            <a:xfrm>
              <a:off x="2016252" y="2880360"/>
              <a:ext cx="347472" cy="347472"/>
            </a:xfrm>
            <a:prstGeom prst="ellipse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81" name="Image 3" descr="preencoded.png">
              <a:extLst>
                <a:ext uri="{FF2B5EF4-FFF2-40B4-BE49-F238E27FC236}">
                  <a16:creationId xmlns:a16="http://schemas.microsoft.com/office/drawing/2014/main" id="{DAFCE08D-95A5-33AC-39BC-0E2DFCDBE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0260" y="2944368"/>
              <a:ext cx="219456" cy="219456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0A3EBB3-20E3-73B1-C374-2B2A25C1C7D6}"/>
              </a:ext>
            </a:extLst>
          </p:cNvPr>
          <p:cNvGrpSpPr/>
          <p:nvPr/>
        </p:nvGrpSpPr>
        <p:grpSpPr>
          <a:xfrm>
            <a:off x="8754400" y="1905062"/>
            <a:ext cx="457200" cy="457200"/>
            <a:chOff x="6199632" y="1280160"/>
            <a:chExt cx="347472" cy="347472"/>
          </a:xfrm>
        </p:grpSpPr>
        <p:sp>
          <p:nvSpPr>
            <p:cNvPr id="84" name="Shape 22">
              <a:extLst>
                <a:ext uri="{FF2B5EF4-FFF2-40B4-BE49-F238E27FC236}">
                  <a16:creationId xmlns:a16="http://schemas.microsoft.com/office/drawing/2014/main" id="{0B9F735E-7905-49C9-DF75-1728EE6B3DD1}"/>
                </a:ext>
              </a:extLst>
            </p:cNvPr>
            <p:cNvSpPr/>
            <p:nvPr/>
          </p:nvSpPr>
          <p:spPr>
            <a:xfrm>
              <a:off x="6199632" y="1280160"/>
              <a:ext cx="347472" cy="347472"/>
            </a:xfrm>
            <a:prstGeom prst="ellipse">
              <a:avLst/>
            </a:prstGeom>
            <a:solidFill>
              <a:srgbClr val="CC0000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85" name="Image 2" descr="preencoded.png">
              <a:extLst>
                <a:ext uri="{FF2B5EF4-FFF2-40B4-BE49-F238E27FC236}">
                  <a16:creationId xmlns:a16="http://schemas.microsoft.com/office/drawing/2014/main" id="{7FEC90ED-4384-B9EB-4A28-16B8AD775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3640" y="1344168"/>
              <a:ext cx="219456" cy="219456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89BBCB6-67AE-E1BE-A76F-B0469C253C66}"/>
              </a:ext>
            </a:extLst>
          </p:cNvPr>
          <p:cNvGrpSpPr/>
          <p:nvPr/>
        </p:nvGrpSpPr>
        <p:grpSpPr>
          <a:xfrm>
            <a:off x="4694301" y="1905062"/>
            <a:ext cx="457200" cy="457200"/>
            <a:chOff x="4566761" y="1714998"/>
            <a:chExt cx="914400" cy="914400"/>
          </a:xfrm>
        </p:grpSpPr>
        <p:sp>
          <p:nvSpPr>
            <p:cNvPr id="88" name="Shape 73">
              <a:extLst>
                <a:ext uri="{FF2B5EF4-FFF2-40B4-BE49-F238E27FC236}">
                  <a16:creationId xmlns:a16="http://schemas.microsoft.com/office/drawing/2014/main" id="{555B68A6-6F73-1543-EF32-EF07766A904B}"/>
                </a:ext>
              </a:extLst>
            </p:cNvPr>
            <p:cNvSpPr/>
            <p:nvPr/>
          </p:nvSpPr>
          <p:spPr>
            <a:xfrm>
              <a:off x="4566761" y="1714998"/>
              <a:ext cx="914400" cy="914400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rgbClr val="CC000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89" name="Image 25" descr="preencoded.png">
              <a:extLst>
                <a:ext uri="{FF2B5EF4-FFF2-40B4-BE49-F238E27FC236}">
                  <a16:creationId xmlns:a16="http://schemas.microsoft.com/office/drawing/2014/main" id="{0F0595F5-FEC5-CA91-D3E4-7E82E762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41573" y="1889810"/>
              <a:ext cx="564776" cy="564776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38067C0-1F7F-3A0F-3E54-A1BC82F089E0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92" name="Chevron 91">
              <a:extLst>
                <a:ext uri="{FF2B5EF4-FFF2-40B4-BE49-F238E27FC236}">
                  <a16:creationId xmlns:a16="http://schemas.microsoft.com/office/drawing/2014/main" id="{7E2D1E47-DFC9-0312-44F4-B1593287BC95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Chevron 92">
              <a:extLst>
                <a:ext uri="{FF2B5EF4-FFF2-40B4-BE49-F238E27FC236}">
                  <a16:creationId xmlns:a16="http://schemas.microsoft.com/office/drawing/2014/main" id="{40759108-EE15-1C6D-6130-5ED994EE849B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Chevron 93">
              <a:extLst>
                <a:ext uri="{FF2B5EF4-FFF2-40B4-BE49-F238E27FC236}">
                  <a16:creationId xmlns:a16="http://schemas.microsoft.com/office/drawing/2014/main" id="{2382FDFD-340C-7EC6-32E0-F88234E464C9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Chevron 94">
              <a:extLst>
                <a:ext uri="{FF2B5EF4-FFF2-40B4-BE49-F238E27FC236}">
                  <a16:creationId xmlns:a16="http://schemas.microsoft.com/office/drawing/2014/main" id="{552859DC-7295-E84E-0D41-2FBBA504CA9D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Chevron 95">
              <a:extLst>
                <a:ext uri="{FF2B5EF4-FFF2-40B4-BE49-F238E27FC236}">
                  <a16:creationId xmlns:a16="http://schemas.microsoft.com/office/drawing/2014/main" id="{22D2B7B8-6E0E-ED9D-A1C1-9749847A6531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7" name="Chevron 96">
              <a:extLst>
                <a:ext uri="{FF2B5EF4-FFF2-40B4-BE49-F238E27FC236}">
                  <a16:creationId xmlns:a16="http://schemas.microsoft.com/office/drawing/2014/main" id="{08389149-6AD6-9574-2422-684AA6617F6D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799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4DBED6-580D-3510-DB7C-A5CF5AD9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6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9380E0-56A1-DE1B-8499-1AD53648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Assets &amp; Structure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AB5F5A-8EED-781E-AE2D-7BFC726A3A17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BCC11AF1-387C-1268-2B6D-6904BB5C74D6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DD502B6C-232A-A054-38CE-CDF89E83FAB8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45E32EA1-AEFD-7970-13F5-4D2AC9321BDD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0F0E6D-570D-4D8E-0353-174AD9E84CE9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8B7477CD-69E2-DEDB-99DF-78E4B84C25CC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A4E16F9A-4BB1-0C9E-5A9C-2C8F95B303F8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9814D56-2682-480E-968B-65C6829EB980}"/>
              </a:ext>
            </a:extLst>
          </p:cNvPr>
          <p:cNvGrpSpPr/>
          <p:nvPr/>
        </p:nvGrpSpPr>
        <p:grpSpPr>
          <a:xfrm>
            <a:off x="3053871" y="1269972"/>
            <a:ext cx="6084259" cy="1699307"/>
            <a:chOff x="3164706" y="1269972"/>
            <a:chExt cx="6084259" cy="16993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2780F0-1481-F121-713B-C88A1C7D603C}"/>
                </a:ext>
              </a:extLst>
            </p:cNvPr>
            <p:cNvSpPr/>
            <p:nvPr/>
          </p:nvSpPr>
          <p:spPr>
            <a:xfrm>
              <a:off x="3164706" y="1687448"/>
              <a:ext cx="1879633" cy="4538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Baby Care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CE3653-1908-2DF6-44FF-5D6CD008C427}"/>
                </a:ext>
              </a:extLst>
            </p:cNvPr>
            <p:cNvSpPr/>
            <p:nvPr/>
          </p:nvSpPr>
          <p:spPr>
            <a:xfrm>
              <a:off x="5248852" y="1687448"/>
              <a:ext cx="1879633" cy="4538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Health &amp; Immune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7A6934-8D95-1FC7-049F-2E5CF73AA8E0}"/>
                </a:ext>
              </a:extLst>
            </p:cNvPr>
            <p:cNvSpPr/>
            <p:nvPr/>
          </p:nvSpPr>
          <p:spPr>
            <a:xfrm>
              <a:off x="7369332" y="1687448"/>
              <a:ext cx="1879633" cy="4538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Meal Essentials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5E81DB-45BC-2690-15A8-D091BF15C7D1}"/>
                </a:ext>
              </a:extLst>
            </p:cNvPr>
            <p:cNvSpPr/>
            <p:nvPr/>
          </p:nvSpPr>
          <p:spPr>
            <a:xfrm>
              <a:off x="5248852" y="2141299"/>
              <a:ext cx="1879633" cy="8279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n-US" kern="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[Redacted]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8AE2D9-9A0B-A92A-4D2D-F2EBD89C31C7}"/>
                </a:ext>
              </a:extLst>
            </p:cNvPr>
            <p:cNvSpPr/>
            <p:nvPr/>
          </p:nvSpPr>
          <p:spPr>
            <a:xfrm>
              <a:off x="3164706" y="2141299"/>
              <a:ext cx="1879633" cy="827980"/>
            </a:xfrm>
            <a:prstGeom prst="rect">
              <a:avLst/>
            </a:prstGeom>
            <a:solidFill>
              <a:srgbClr val="FF9999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>
                  <a:latin typeface="Helvetica Neue Medium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[Redacted]</a:t>
              </a:r>
              <a:endParaRPr kumimoji="0" lang="en-US" sz="18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EBE7F1-4689-EEDC-1A62-8E0927802359}"/>
                </a:ext>
              </a:extLst>
            </p:cNvPr>
            <p:cNvSpPr/>
            <p:nvPr/>
          </p:nvSpPr>
          <p:spPr>
            <a:xfrm>
              <a:off x="7369332" y="2141299"/>
              <a:ext cx="1879633" cy="8279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n-US" kern="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[Redacted]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F01B042-CF0D-10EF-86F8-F9543C16E3E0}"/>
                </a:ext>
              </a:extLst>
            </p:cNvPr>
            <p:cNvSpPr/>
            <p:nvPr/>
          </p:nvSpPr>
          <p:spPr>
            <a:xfrm>
              <a:off x="3164706" y="1269972"/>
              <a:ext cx="6084259" cy="298706"/>
            </a:xfrm>
            <a:prstGeom prst="rect">
              <a:avLst/>
            </a:prstGeom>
            <a:solidFill>
              <a:srgbClr val="AA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2024 Revenue by Category</a:t>
              </a:r>
            </a:p>
          </p:txBody>
        </p:sp>
      </p:grpSp>
      <p:sp>
        <p:nvSpPr>
          <p:cNvPr id="27" name="Trapezoid 26">
            <a:extLst>
              <a:ext uri="{FF2B5EF4-FFF2-40B4-BE49-F238E27FC236}">
                <a16:creationId xmlns:a16="http://schemas.microsoft.com/office/drawing/2014/main" id="{6CB671FF-2C4E-37DA-985A-5424F2435DA0}"/>
              </a:ext>
            </a:extLst>
          </p:cNvPr>
          <p:cNvSpPr/>
          <p:nvPr/>
        </p:nvSpPr>
        <p:spPr>
          <a:xfrm>
            <a:off x="639393" y="3139882"/>
            <a:ext cx="6102407" cy="637766"/>
          </a:xfrm>
          <a:custGeom>
            <a:avLst/>
            <a:gdLst>
              <a:gd name="csX0" fmla="*/ 0 w 3413028"/>
              <a:gd name="csY0" fmla="*/ 708509 h 708509"/>
              <a:gd name="csX1" fmla="*/ 177127 w 3413028"/>
              <a:gd name="csY1" fmla="*/ 0 h 708509"/>
              <a:gd name="csX2" fmla="*/ 3235901 w 3413028"/>
              <a:gd name="csY2" fmla="*/ 0 h 708509"/>
              <a:gd name="csX3" fmla="*/ 3413028 w 3413028"/>
              <a:gd name="csY3" fmla="*/ 708509 h 708509"/>
              <a:gd name="csX4" fmla="*/ 0 w 3413028"/>
              <a:gd name="csY4" fmla="*/ 708509 h 708509"/>
              <a:gd name="csX0" fmla="*/ 0 w 3413028"/>
              <a:gd name="csY0" fmla="*/ 708509 h 708509"/>
              <a:gd name="csX1" fmla="*/ 177127 w 3413028"/>
              <a:gd name="csY1" fmla="*/ 0 h 708509"/>
              <a:gd name="csX2" fmla="*/ 1933940 w 3413028"/>
              <a:gd name="csY2" fmla="*/ 0 h 708509"/>
              <a:gd name="csX3" fmla="*/ 3413028 w 3413028"/>
              <a:gd name="csY3" fmla="*/ 708509 h 708509"/>
              <a:gd name="csX4" fmla="*/ 0 w 3413028"/>
              <a:gd name="csY4" fmla="*/ 708509 h 708509"/>
              <a:gd name="csX0" fmla="*/ 0 w 6132005"/>
              <a:gd name="csY0" fmla="*/ 708509 h 763009"/>
              <a:gd name="csX1" fmla="*/ 177127 w 6132005"/>
              <a:gd name="csY1" fmla="*/ 0 h 763009"/>
              <a:gd name="csX2" fmla="*/ 1933940 w 6132005"/>
              <a:gd name="csY2" fmla="*/ 0 h 763009"/>
              <a:gd name="csX3" fmla="*/ 6132005 w 6132005"/>
              <a:gd name="csY3" fmla="*/ 763009 h 763009"/>
              <a:gd name="csX4" fmla="*/ 0 w 6132005"/>
              <a:gd name="csY4" fmla="*/ 708509 h 763009"/>
              <a:gd name="csX0" fmla="*/ 5968 w 5954878"/>
              <a:gd name="csY0" fmla="*/ 728889 h 763009"/>
              <a:gd name="csX1" fmla="*/ 0 w 5954878"/>
              <a:gd name="csY1" fmla="*/ 0 h 763009"/>
              <a:gd name="csX2" fmla="*/ 1756813 w 5954878"/>
              <a:gd name="csY2" fmla="*/ 0 h 763009"/>
              <a:gd name="csX3" fmla="*/ 5954878 w 5954878"/>
              <a:gd name="csY3" fmla="*/ 763009 h 763009"/>
              <a:gd name="csX4" fmla="*/ 5968 w 5954878"/>
              <a:gd name="csY4" fmla="*/ 728889 h 763009"/>
              <a:gd name="csX0" fmla="*/ 5968 w 5954878"/>
              <a:gd name="csY0" fmla="*/ 728889 h 763009"/>
              <a:gd name="csX1" fmla="*/ 0 w 5954878"/>
              <a:gd name="csY1" fmla="*/ 0 h 763009"/>
              <a:gd name="csX2" fmla="*/ 1872773 w 5954878"/>
              <a:gd name="csY2" fmla="*/ 0 h 763009"/>
              <a:gd name="csX3" fmla="*/ 5954878 w 5954878"/>
              <a:gd name="csY3" fmla="*/ 763009 h 763009"/>
              <a:gd name="csX4" fmla="*/ 5968 w 5954878"/>
              <a:gd name="csY4" fmla="*/ 728889 h 763009"/>
              <a:gd name="csX0" fmla="*/ 5968 w 6174591"/>
              <a:gd name="csY0" fmla="*/ 728889 h 742629"/>
              <a:gd name="csX1" fmla="*/ 0 w 6174591"/>
              <a:gd name="csY1" fmla="*/ 0 h 742629"/>
              <a:gd name="csX2" fmla="*/ 1872773 w 6174591"/>
              <a:gd name="csY2" fmla="*/ 0 h 742629"/>
              <a:gd name="csX3" fmla="*/ 6174591 w 6174591"/>
              <a:gd name="csY3" fmla="*/ 742629 h 742629"/>
              <a:gd name="csX4" fmla="*/ 5968 w 6174591"/>
              <a:gd name="csY4" fmla="*/ 728889 h 742629"/>
              <a:gd name="csX0" fmla="*/ 5968 w 6174591"/>
              <a:gd name="csY0" fmla="*/ 728889 h 776595"/>
              <a:gd name="csX1" fmla="*/ 0 w 6174591"/>
              <a:gd name="csY1" fmla="*/ 0 h 776595"/>
              <a:gd name="csX2" fmla="*/ 1872773 w 6174591"/>
              <a:gd name="csY2" fmla="*/ 0 h 776595"/>
              <a:gd name="csX3" fmla="*/ 6174591 w 6174591"/>
              <a:gd name="csY3" fmla="*/ 776595 h 776595"/>
              <a:gd name="csX4" fmla="*/ 5968 w 6174591"/>
              <a:gd name="csY4" fmla="*/ 728889 h 776595"/>
              <a:gd name="csX0" fmla="*/ 5968 w 6168488"/>
              <a:gd name="csY0" fmla="*/ 728889 h 756215"/>
              <a:gd name="csX1" fmla="*/ 0 w 6168488"/>
              <a:gd name="csY1" fmla="*/ 0 h 756215"/>
              <a:gd name="csX2" fmla="*/ 1872773 w 6168488"/>
              <a:gd name="csY2" fmla="*/ 0 h 756215"/>
              <a:gd name="csX3" fmla="*/ 6168488 w 6168488"/>
              <a:gd name="csY3" fmla="*/ 756215 h 756215"/>
              <a:gd name="csX4" fmla="*/ 5968 w 6168488"/>
              <a:gd name="csY4" fmla="*/ 728889 h 756215"/>
              <a:gd name="csX0" fmla="*/ 5968 w 6156281"/>
              <a:gd name="csY0" fmla="*/ 728889 h 735835"/>
              <a:gd name="csX1" fmla="*/ 0 w 6156281"/>
              <a:gd name="csY1" fmla="*/ 0 h 735835"/>
              <a:gd name="csX2" fmla="*/ 1872773 w 6156281"/>
              <a:gd name="csY2" fmla="*/ 0 h 735835"/>
              <a:gd name="csX3" fmla="*/ 6156281 w 6156281"/>
              <a:gd name="csY3" fmla="*/ 735835 h 735835"/>
              <a:gd name="csX4" fmla="*/ 5968 w 6156281"/>
              <a:gd name="csY4" fmla="*/ 728889 h 735835"/>
              <a:gd name="csX0" fmla="*/ 169 w 6150482"/>
              <a:gd name="csY0" fmla="*/ 728889 h 735835"/>
              <a:gd name="csX1" fmla="*/ 12511 w 6150482"/>
              <a:gd name="csY1" fmla="*/ 6793 h 735835"/>
              <a:gd name="csX2" fmla="*/ 1866974 w 6150482"/>
              <a:gd name="csY2" fmla="*/ 0 h 735835"/>
              <a:gd name="csX3" fmla="*/ 6150482 w 6150482"/>
              <a:gd name="csY3" fmla="*/ 735835 h 735835"/>
              <a:gd name="csX4" fmla="*/ 169 w 6150482"/>
              <a:gd name="csY4" fmla="*/ 728889 h 735835"/>
              <a:gd name="csX0" fmla="*/ 5968 w 6137971"/>
              <a:gd name="csY0" fmla="*/ 728889 h 735835"/>
              <a:gd name="csX1" fmla="*/ 0 w 6137971"/>
              <a:gd name="csY1" fmla="*/ 6793 h 735835"/>
              <a:gd name="csX2" fmla="*/ 1854463 w 6137971"/>
              <a:gd name="csY2" fmla="*/ 0 h 735835"/>
              <a:gd name="csX3" fmla="*/ 6137971 w 6137971"/>
              <a:gd name="csY3" fmla="*/ 735835 h 735835"/>
              <a:gd name="csX4" fmla="*/ 5968 w 6137971"/>
              <a:gd name="csY4" fmla="*/ 728889 h 735835"/>
              <a:gd name="csX0" fmla="*/ 5968 w 6137971"/>
              <a:gd name="csY0" fmla="*/ 728889 h 735835"/>
              <a:gd name="csX1" fmla="*/ 0 w 6137971"/>
              <a:gd name="csY1" fmla="*/ 6793 h 735835"/>
              <a:gd name="csX2" fmla="*/ 1775358 w 6137971"/>
              <a:gd name="csY2" fmla="*/ 0 h 735835"/>
              <a:gd name="csX3" fmla="*/ 6137971 w 6137971"/>
              <a:gd name="csY3" fmla="*/ 735835 h 735835"/>
              <a:gd name="csX4" fmla="*/ 5968 w 6137971"/>
              <a:gd name="csY4" fmla="*/ 728889 h 735835"/>
              <a:gd name="csX0" fmla="*/ 5968 w 6137971"/>
              <a:gd name="csY0" fmla="*/ 722096 h 729042"/>
              <a:gd name="csX1" fmla="*/ 0 w 6137971"/>
              <a:gd name="csY1" fmla="*/ 0 h 729042"/>
              <a:gd name="csX2" fmla="*/ 1860548 w 6137971"/>
              <a:gd name="csY2" fmla="*/ 0 h 729042"/>
              <a:gd name="csX3" fmla="*/ 6137971 w 6137971"/>
              <a:gd name="csY3" fmla="*/ 729042 h 729042"/>
              <a:gd name="csX4" fmla="*/ 5968 w 6137971"/>
              <a:gd name="csY4" fmla="*/ 722096 h 729042"/>
              <a:gd name="csX0" fmla="*/ 5968 w 6137971"/>
              <a:gd name="csY0" fmla="*/ 722096 h 729042"/>
              <a:gd name="csX1" fmla="*/ 0 w 6137971"/>
              <a:gd name="csY1" fmla="*/ 0 h 729042"/>
              <a:gd name="csX2" fmla="*/ 1872718 w 6137971"/>
              <a:gd name="csY2" fmla="*/ 0 h 729042"/>
              <a:gd name="csX3" fmla="*/ 6137971 w 6137971"/>
              <a:gd name="csY3" fmla="*/ 729042 h 729042"/>
              <a:gd name="csX4" fmla="*/ 5968 w 6137971"/>
              <a:gd name="csY4" fmla="*/ 722096 h 729042"/>
              <a:gd name="csX0" fmla="*/ 5968 w 6137971"/>
              <a:gd name="csY0" fmla="*/ 722096 h 729042"/>
              <a:gd name="csX1" fmla="*/ 0 w 6137971"/>
              <a:gd name="csY1" fmla="*/ 0 h 729042"/>
              <a:gd name="csX2" fmla="*/ 4397992 w 6137971"/>
              <a:gd name="csY2" fmla="*/ 13586 h 729042"/>
              <a:gd name="csX3" fmla="*/ 6137971 w 6137971"/>
              <a:gd name="csY3" fmla="*/ 729042 h 729042"/>
              <a:gd name="csX4" fmla="*/ 5968 w 6137971"/>
              <a:gd name="csY4" fmla="*/ 722096 h 729042"/>
              <a:gd name="csX0" fmla="*/ 2 w 6132005"/>
              <a:gd name="csY0" fmla="*/ 715302 h 722248"/>
              <a:gd name="csX1" fmla="*/ 2531479 w 6132005"/>
              <a:gd name="csY1" fmla="*/ 0 h 722248"/>
              <a:gd name="csX2" fmla="*/ 4392026 w 6132005"/>
              <a:gd name="csY2" fmla="*/ 6792 h 722248"/>
              <a:gd name="csX3" fmla="*/ 6132005 w 6132005"/>
              <a:gd name="csY3" fmla="*/ 722248 h 722248"/>
              <a:gd name="csX4" fmla="*/ 2 w 6132005"/>
              <a:gd name="csY4" fmla="*/ 715302 h 722248"/>
              <a:gd name="csX0" fmla="*/ 2 w 6132005"/>
              <a:gd name="csY0" fmla="*/ 715302 h 722248"/>
              <a:gd name="csX1" fmla="*/ 2531479 w 6132005"/>
              <a:gd name="csY1" fmla="*/ 0 h 722248"/>
              <a:gd name="csX2" fmla="*/ 4392026 w 6132005"/>
              <a:gd name="csY2" fmla="*/ 6792 h 722248"/>
              <a:gd name="csX3" fmla="*/ 6132005 w 6132005"/>
              <a:gd name="csY3" fmla="*/ 722248 h 722248"/>
              <a:gd name="csX4" fmla="*/ 2 w 6132005"/>
              <a:gd name="csY4" fmla="*/ 715302 h 722248"/>
              <a:gd name="csX0" fmla="*/ 0 w 6132003"/>
              <a:gd name="csY0" fmla="*/ 715302 h 722248"/>
              <a:gd name="csX1" fmla="*/ 2531477 w 6132003"/>
              <a:gd name="csY1" fmla="*/ 0 h 722248"/>
              <a:gd name="csX2" fmla="*/ 4392024 w 6132003"/>
              <a:gd name="csY2" fmla="*/ 6792 h 722248"/>
              <a:gd name="csX3" fmla="*/ 6132003 w 6132003"/>
              <a:gd name="csY3" fmla="*/ 722248 h 722248"/>
              <a:gd name="csX4" fmla="*/ 0 w 6132003"/>
              <a:gd name="csY4" fmla="*/ 715302 h 722248"/>
              <a:gd name="csX0" fmla="*/ 0 w 6132003"/>
              <a:gd name="csY0" fmla="*/ 708511 h 715457"/>
              <a:gd name="csX1" fmla="*/ 2446287 w 6132003"/>
              <a:gd name="csY1" fmla="*/ 3 h 715457"/>
              <a:gd name="csX2" fmla="*/ 4392024 w 6132003"/>
              <a:gd name="csY2" fmla="*/ 1 h 715457"/>
              <a:gd name="csX3" fmla="*/ 6132003 w 6132003"/>
              <a:gd name="csY3" fmla="*/ 715457 h 715457"/>
              <a:gd name="csX4" fmla="*/ 0 w 6132003"/>
              <a:gd name="csY4" fmla="*/ 708511 h 715457"/>
              <a:gd name="csX0" fmla="*/ 0 w 6132003"/>
              <a:gd name="csY0" fmla="*/ 708510 h 715456"/>
              <a:gd name="csX1" fmla="*/ 2446287 w 6132003"/>
              <a:gd name="csY1" fmla="*/ 2 h 715456"/>
              <a:gd name="csX2" fmla="*/ 4312919 w 6132003"/>
              <a:gd name="csY2" fmla="*/ 0 h 715456"/>
              <a:gd name="csX3" fmla="*/ 6132003 w 6132003"/>
              <a:gd name="csY3" fmla="*/ 715456 h 715456"/>
              <a:gd name="csX4" fmla="*/ 0 w 6132003"/>
              <a:gd name="csY4" fmla="*/ 708510 h 7154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32003" h="715456">
                <a:moveTo>
                  <a:pt x="0" y="708510"/>
                </a:moveTo>
                <a:cubicBezTo>
                  <a:pt x="320516" y="635380"/>
                  <a:pt x="2016241" y="113892"/>
                  <a:pt x="2446287" y="2"/>
                </a:cubicBezTo>
                <a:lnTo>
                  <a:pt x="4312919" y="0"/>
                </a:lnTo>
                <a:lnTo>
                  <a:pt x="6132003" y="715456"/>
                </a:lnTo>
                <a:lnTo>
                  <a:pt x="0" y="70851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45000"/>
                  <a:lumOff val="55000"/>
                </a:schemeClr>
              </a:gs>
              <a:gs pos="79000">
                <a:srgbClr val="FF8C8C"/>
              </a:gs>
              <a:gs pos="36000">
                <a:schemeClr val="accent1">
                  <a:lumMod val="30000"/>
                  <a:lumOff val="70000"/>
                  <a:alpha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BA893CC-6803-FAFB-C2A9-5680F435E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57526"/>
              </p:ext>
            </p:extLst>
          </p:nvPr>
        </p:nvGraphicFramePr>
        <p:xfrm>
          <a:off x="633453" y="4253414"/>
          <a:ext cx="60842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2130">
                  <a:extLst>
                    <a:ext uri="{9D8B030D-6E8A-4147-A177-3AD203B41FA5}">
                      <a16:colId xmlns:a16="http://schemas.microsoft.com/office/drawing/2014/main" val="2742920201"/>
                    </a:ext>
                  </a:extLst>
                </a:gridCol>
                <a:gridCol w="3042130">
                  <a:extLst>
                    <a:ext uri="{9D8B030D-6E8A-4147-A177-3AD203B41FA5}">
                      <a16:colId xmlns:a16="http://schemas.microsoft.com/office/drawing/2014/main" val="82653419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Item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17675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Disposable Diapers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07375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  <a:endParaRPr lang="en-US" sz="1200" b="0" i="0">
                        <a:latin typeface="Helvetica Neue Medium" panose="02000503000000020004" pitchFamily="2" charset="0"/>
                        <a:ea typeface="Helvetica Neue Medium" panose="02000503000000020004" pitchFamily="2" charset="0"/>
                        <a:cs typeface="Helvetica Neue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7849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Baby Wipes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466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Disposable Training 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  <a:endParaRPr lang="en-US" sz="1200" b="0" i="0">
                        <a:latin typeface="Helvetica Neue Medium" panose="02000503000000020004" pitchFamily="2" charset="0"/>
                        <a:ea typeface="Helvetica Neue Medium" panose="02000503000000020004" pitchFamily="2" charset="0"/>
                        <a:cs typeface="Helvetica Neue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7678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Baby Snacks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  <a:endParaRPr lang="en-US" sz="1200" b="0" i="0">
                        <a:latin typeface="Helvetica Neue Medium" panose="02000503000000020004" pitchFamily="2" charset="0"/>
                        <a:ea typeface="Helvetica Neue Medium" panose="02000503000000020004" pitchFamily="2" charset="0"/>
                        <a:cs typeface="Helvetica Neue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699616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F88228F8-7B51-6FC9-D748-2D27CA48ABA1}"/>
              </a:ext>
            </a:extLst>
          </p:cNvPr>
          <p:cNvSpPr/>
          <p:nvPr/>
        </p:nvSpPr>
        <p:spPr>
          <a:xfrm>
            <a:off x="633453" y="3913936"/>
            <a:ext cx="6084259" cy="298706"/>
          </a:xfrm>
          <a:prstGeom prst="rect">
            <a:avLst/>
          </a:prstGeom>
          <a:solidFill>
            <a:srgbClr val="AA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Top 5 Item Types in Baby Care</a:t>
            </a:r>
            <a:endParaRPr kumimoji="0" lang="en-US" sz="16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09C85E2A-4C84-12D7-2FAF-51AF2815DDB8}"/>
              </a:ext>
            </a:extLst>
          </p:cNvPr>
          <p:cNvSpPr/>
          <p:nvPr/>
        </p:nvSpPr>
        <p:spPr>
          <a:xfrm rot="16200000">
            <a:off x="5948479" y="4379437"/>
            <a:ext cx="2376169" cy="660064"/>
          </a:xfrm>
          <a:custGeom>
            <a:avLst/>
            <a:gdLst>
              <a:gd name="csX0" fmla="*/ 0 w 1982553"/>
              <a:gd name="csY0" fmla="*/ 563173 h 563173"/>
              <a:gd name="csX1" fmla="*/ 825077 w 1982553"/>
              <a:gd name="csY1" fmla="*/ 0 h 563173"/>
              <a:gd name="csX2" fmla="*/ 1157476 w 1982553"/>
              <a:gd name="csY2" fmla="*/ 0 h 563173"/>
              <a:gd name="csX3" fmla="*/ 1982553 w 1982553"/>
              <a:gd name="csY3" fmla="*/ 563173 h 563173"/>
              <a:gd name="csX4" fmla="*/ 0 w 1982553"/>
              <a:gd name="csY4" fmla="*/ 563173 h 563173"/>
              <a:gd name="csX0" fmla="*/ 0 w 3993022"/>
              <a:gd name="csY0" fmla="*/ 563173 h 581340"/>
              <a:gd name="csX1" fmla="*/ 825077 w 3993022"/>
              <a:gd name="csY1" fmla="*/ 0 h 581340"/>
              <a:gd name="csX2" fmla="*/ 1157476 w 3993022"/>
              <a:gd name="csY2" fmla="*/ 0 h 581340"/>
              <a:gd name="csX3" fmla="*/ 3993022 w 3993022"/>
              <a:gd name="csY3" fmla="*/ 581340 h 581340"/>
              <a:gd name="csX4" fmla="*/ 0 w 3993022"/>
              <a:gd name="csY4" fmla="*/ 563173 h 581340"/>
              <a:gd name="csX0" fmla="*/ 0 w 2751618"/>
              <a:gd name="csY0" fmla="*/ 563173 h 569229"/>
              <a:gd name="csX1" fmla="*/ 825077 w 2751618"/>
              <a:gd name="csY1" fmla="*/ 0 h 569229"/>
              <a:gd name="csX2" fmla="*/ 1157476 w 2751618"/>
              <a:gd name="csY2" fmla="*/ 0 h 569229"/>
              <a:gd name="csX3" fmla="*/ 2751618 w 2751618"/>
              <a:gd name="csY3" fmla="*/ 569229 h 569229"/>
              <a:gd name="csX4" fmla="*/ 0 w 2751618"/>
              <a:gd name="csY4" fmla="*/ 563173 h 569229"/>
              <a:gd name="csX0" fmla="*/ 0 w 3371020"/>
              <a:gd name="csY0" fmla="*/ 647951 h 647951"/>
              <a:gd name="csX1" fmla="*/ 1444479 w 3371020"/>
              <a:gd name="csY1" fmla="*/ 0 h 647951"/>
              <a:gd name="csX2" fmla="*/ 1776878 w 3371020"/>
              <a:gd name="csY2" fmla="*/ 0 h 647951"/>
              <a:gd name="csX3" fmla="*/ 3371020 w 3371020"/>
              <a:gd name="csY3" fmla="*/ 569229 h 647951"/>
              <a:gd name="csX4" fmla="*/ 0 w 3371020"/>
              <a:gd name="csY4" fmla="*/ 647951 h 647951"/>
              <a:gd name="csX0" fmla="*/ 0 w 3038091"/>
              <a:gd name="csY0" fmla="*/ 647951 h 660064"/>
              <a:gd name="csX1" fmla="*/ 1444479 w 3038091"/>
              <a:gd name="csY1" fmla="*/ 0 h 660064"/>
              <a:gd name="csX2" fmla="*/ 1776878 w 3038091"/>
              <a:gd name="csY2" fmla="*/ 0 h 660064"/>
              <a:gd name="csX3" fmla="*/ 3038091 w 3038091"/>
              <a:gd name="csY3" fmla="*/ 660064 h 660064"/>
              <a:gd name="csX4" fmla="*/ 0 w 3038091"/>
              <a:gd name="csY4" fmla="*/ 647951 h 6600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38091" h="660064">
                <a:moveTo>
                  <a:pt x="0" y="647951"/>
                </a:moveTo>
                <a:lnTo>
                  <a:pt x="1444479" y="0"/>
                </a:lnTo>
                <a:lnTo>
                  <a:pt x="1776878" y="0"/>
                </a:lnTo>
                <a:lnTo>
                  <a:pt x="3038091" y="660064"/>
                </a:lnTo>
                <a:lnTo>
                  <a:pt x="0" y="647951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5000"/>
                  <a:lumOff val="55000"/>
                </a:schemeClr>
              </a:gs>
              <a:gs pos="79000">
                <a:srgbClr val="FF8C8C"/>
              </a:gs>
              <a:gs pos="36000">
                <a:schemeClr val="accent1">
                  <a:lumMod val="30000"/>
                  <a:lumOff val="70000"/>
                  <a:alpha val="4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4F534209-EB69-00E4-2A9A-3F85278E2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895743"/>
              </p:ext>
            </p:extLst>
          </p:nvPr>
        </p:nvGraphicFramePr>
        <p:xfrm>
          <a:off x="7815595" y="3913936"/>
          <a:ext cx="3703342" cy="198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71">
                  <a:extLst>
                    <a:ext uri="{9D8B030D-6E8A-4147-A177-3AD203B41FA5}">
                      <a16:colId xmlns:a16="http://schemas.microsoft.com/office/drawing/2014/main" val="2742920201"/>
                    </a:ext>
                  </a:extLst>
                </a:gridCol>
                <a:gridCol w="1851671">
                  <a:extLst>
                    <a:ext uri="{9D8B030D-6E8A-4147-A177-3AD203B41FA5}">
                      <a16:colId xmlns:a16="http://schemas.microsoft.com/office/drawing/2014/main" val="826534193"/>
                    </a:ext>
                  </a:extLst>
                </a:gridCol>
              </a:tblGrid>
              <a:tr h="3309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Brands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 panose="02000503000000020004" pitchFamily="2" charset="0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176750"/>
                  </a:ext>
                </a:extLst>
              </a:tr>
              <a:tr h="3309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[Brand A]</a:t>
                      </a:r>
                      <a:endParaRPr lang="en-US" sz="1200" b="0" i="0">
                        <a:latin typeface="Helvetica Neue Medium" panose="02000503000000020004" pitchFamily="2" charset="0"/>
                        <a:ea typeface="Helvetica Neue Medium" panose="02000503000000020004" pitchFamily="2" charset="0"/>
                        <a:cs typeface="Helvetica Neue Medium" panose="0200050300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073753"/>
                  </a:ext>
                </a:extLst>
              </a:tr>
              <a:tr h="3309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[Brand B]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784951"/>
                  </a:ext>
                </a:extLst>
              </a:tr>
              <a:tr h="3309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>
                          <a:latin typeface="Helvetica Neue Medium"/>
                        </a:rPr>
                        <a:t>[Brand C]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446663"/>
                  </a:ext>
                </a:extLst>
              </a:tr>
              <a:tr h="3309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[Brand D]</a:t>
                      </a:r>
                      <a:endParaRPr lang="en-US" sz="1200" b="0" i="0" err="1">
                        <a:latin typeface="Helvetica Neue Medium"/>
                        <a:ea typeface="Helvetica Neue Medium" panose="02000503000000020004" pitchFamily="2" charset="0"/>
                        <a:cs typeface="Helvetica Neue Medium" panose="0200050300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  <a:endParaRPr lang="en-US" sz="1200" b="0" i="0">
                        <a:latin typeface="Helvetica Neue Medium" panose="02000503000000020004" pitchFamily="2" charset="0"/>
                        <a:ea typeface="Helvetica Neue Medium" panose="02000503000000020004" pitchFamily="2" charset="0"/>
                        <a:cs typeface="Helvetica Neue Medium" panose="020005030000000200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767883"/>
                  </a:ext>
                </a:extLst>
              </a:tr>
              <a:tr h="3309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[Brand 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latin typeface="Helvetica Neue Medium"/>
                          <a:ea typeface="Helvetica Neue Medium" panose="02000503000000020004" pitchFamily="2" charset="0"/>
                          <a:cs typeface="Helvetica Neue Medium" panose="02000503000000020004" pitchFamily="2" charset="0"/>
                        </a:rPr>
                        <a:t>[Redacted]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699616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0EF200DA-E2D3-BE27-680E-B22328923098}"/>
              </a:ext>
            </a:extLst>
          </p:cNvPr>
          <p:cNvSpPr/>
          <p:nvPr/>
        </p:nvSpPr>
        <p:spPr>
          <a:xfrm>
            <a:off x="7815596" y="3320768"/>
            <a:ext cx="3703341" cy="548640"/>
          </a:xfrm>
          <a:prstGeom prst="rect">
            <a:avLst/>
          </a:prstGeom>
          <a:solidFill>
            <a:srgbClr val="AA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/>
            <a:r>
              <a:rPr lang="en-US" sz="1600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Top Brands in Item Type Disposable Diapers</a:t>
            </a:r>
            <a:endParaRPr kumimoji="0" lang="en-US" sz="16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5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7273-8531-A554-61CE-B914EF7C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5FD519A-AADA-076F-AA2D-864B28811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3419" y="1604213"/>
            <a:ext cx="3914750" cy="38679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8867BD-19F5-3681-A3E6-F4C0C43F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7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983517-6022-577A-8871-A1B1EBB3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8723476" cy="636739"/>
          </a:xfrm>
        </p:spPr>
        <p:txBody>
          <a:bodyPr>
            <a:normAutofit fontScale="90000"/>
          </a:bodyPr>
          <a:lstStyle/>
          <a:p>
            <a:r>
              <a:rPr lang="en-US"/>
              <a:t>Breakdown/Analytical Framework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0A66B8-C05C-676F-958A-6544EBC86DA4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031E328C-403E-F9A0-760B-BE82664BE869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C1130462-89FE-CEDA-AC72-B9782A20E8BC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B559C5ED-EDEE-A174-C33F-567EDEAC4CB0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8ACBE14A-63C3-7DB0-F73A-9AD420912070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7E05483B-A2F0-9659-742E-42DA5DEB98DC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F95307D6-EE73-643A-F325-D68B85C5BFC6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FBAD0A2-8204-C552-6660-8EFDCFBF3B58}"/>
              </a:ext>
            </a:extLst>
          </p:cNvPr>
          <p:cNvSpPr txBox="1"/>
          <p:nvPr/>
        </p:nvSpPr>
        <p:spPr>
          <a:xfrm>
            <a:off x="4249460" y="1873807"/>
            <a:ext cx="7823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uardsman red"/>
              </a:rPr>
              <a:t>LASSO Regression: </a:t>
            </a:r>
            <a:r>
              <a:rPr lang="en-US" sz="2000" b="1" i="1" dirty="0">
                <a:latin typeface="Guardsman red"/>
              </a:rPr>
              <a:t>Feature Selection</a:t>
            </a:r>
            <a:r>
              <a:rPr lang="en-US" sz="2000" i="1" dirty="0">
                <a:latin typeface="Guardsman red"/>
              </a:rPr>
              <a:t> for relevant attributes for Baby Care</a:t>
            </a:r>
          </a:p>
          <a:p>
            <a:endParaRPr lang="en-US" sz="2000" dirty="0">
              <a:latin typeface="Guardsman re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uardsman red"/>
              </a:rPr>
              <a:t>K Means Clustering: </a:t>
            </a:r>
            <a:r>
              <a:rPr lang="en-US" sz="2000" b="1" i="1" dirty="0">
                <a:latin typeface="Guardsman red"/>
              </a:rPr>
              <a:t>Customer Segmentation</a:t>
            </a:r>
            <a:r>
              <a:rPr lang="en-US" sz="2000" i="1" dirty="0">
                <a:latin typeface="Guardsman red"/>
              </a:rPr>
              <a:t> dividing into 6 individual clusters by relevant attributes</a:t>
            </a:r>
          </a:p>
          <a:p>
            <a:endParaRPr lang="en-US" sz="2000" b="1" dirty="0">
              <a:latin typeface="Guardsman re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uardsman red"/>
              </a:rPr>
              <a:t>Misalignment &amp; Halo/Cannibalization (</a:t>
            </a:r>
            <a:r>
              <a:rPr lang="en-US" sz="2000" dirty="0" err="1">
                <a:latin typeface="Guardsman red"/>
              </a:rPr>
              <a:t>ElasticNet</a:t>
            </a:r>
            <a:r>
              <a:rPr lang="en-US" sz="2000" dirty="0">
                <a:latin typeface="Guardsman red"/>
              </a:rPr>
              <a:t>): </a:t>
            </a:r>
            <a:r>
              <a:rPr lang="en-US" sz="2000" b="1" i="1" dirty="0">
                <a:latin typeface="Guardsman red"/>
              </a:rPr>
              <a:t>Optimal Shelf Space Metric </a:t>
            </a:r>
            <a:r>
              <a:rPr lang="en-US" sz="2000" i="1" dirty="0">
                <a:latin typeface="Guardsman red"/>
              </a:rPr>
              <a:t>used per brand x Item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Guardsman re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uardsman red"/>
              </a:rPr>
              <a:t>Optimization (</a:t>
            </a:r>
            <a:r>
              <a:rPr lang="en-US" sz="2000" dirty="0" err="1">
                <a:latin typeface="Guardsman red"/>
              </a:rPr>
              <a:t>Gurobi</a:t>
            </a:r>
            <a:r>
              <a:rPr lang="en-US" sz="2000" dirty="0">
                <a:latin typeface="Guardsman red"/>
              </a:rPr>
              <a:t>): </a:t>
            </a:r>
            <a:r>
              <a:rPr lang="en-US" sz="2000" i="1" dirty="0">
                <a:latin typeface="Guardsman red"/>
              </a:rPr>
              <a:t>Utilizing metrics to make optimize shelf space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E32C42-8703-2809-9900-C6FAB921F9BA}"/>
              </a:ext>
            </a:extLst>
          </p:cNvPr>
          <p:cNvCxnSpPr>
            <a:cxnSpLocks/>
          </p:cNvCxnSpPr>
          <p:nvPr/>
        </p:nvCxnSpPr>
        <p:spPr>
          <a:xfrm>
            <a:off x="2071117" y="1677478"/>
            <a:ext cx="10002325" cy="0"/>
          </a:xfrm>
          <a:prstGeom prst="line">
            <a:avLst/>
          </a:prstGeom>
          <a:ln>
            <a:solidFill>
              <a:srgbClr val="C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C69C778-B783-7079-2464-4DBBEA32D224}"/>
              </a:ext>
            </a:extLst>
          </p:cNvPr>
          <p:cNvSpPr txBox="1"/>
          <p:nvPr/>
        </p:nvSpPr>
        <p:spPr>
          <a:xfrm>
            <a:off x="1090422" y="4080903"/>
            <a:ext cx="1481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uardsman red"/>
              </a:rPr>
              <a:t>Health Immune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53AA8D-07F2-149B-0BA4-D0705B89C6E7}"/>
              </a:ext>
            </a:extLst>
          </p:cNvPr>
          <p:cNvSpPr txBox="1"/>
          <p:nvPr/>
        </p:nvSpPr>
        <p:spPr>
          <a:xfrm>
            <a:off x="349758" y="2360765"/>
            <a:ext cx="1481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uardsman red"/>
              </a:rPr>
              <a:t>Meal Essentials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BB94F9-6DA2-9A77-C1AC-9A1C6AA4928C}"/>
              </a:ext>
            </a:extLst>
          </p:cNvPr>
          <p:cNvSpPr txBox="1"/>
          <p:nvPr/>
        </p:nvSpPr>
        <p:spPr>
          <a:xfrm>
            <a:off x="2071117" y="2486353"/>
            <a:ext cx="1481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uardsman red"/>
              </a:rPr>
              <a:t>Baby Care</a:t>
            </a:r>
          </a:p>
        </p:txBody>
      </p:sp>
    </p:spTree>
    <p:extLst>
      <p:ext uri="{BB962C8B-B14F-4D97-AF65-F5344CB8AC3E}">
        <p14:creationId xmlns:p14="http://schemas.microsoft.com/office/powerpoint/2010/main" val="1869414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D5E462-DBBE-1871-365E-159DD10C0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1055" y="934765"/>
            <a:ext cx="10925093" cy="4351338"/>
          </a:xfrm>
        </p:spPr>
        <p:txBody>
          <a:bodyPr/>
          <a:lstStyle/>
          <a:p>
            <a:r>
              <a:rPr lang="en-US"/>
              <a:t>How clusters were created and geographic location  </a:t>
            </a:r>
            <a:r>
              <a:rPr lang="en-US" err="1"/>
              <a:t>elbowchart</a:t>
            </a:r>
            <a:r>
              <a:rPr lang="en-US"/>
              <a:t> and us map chart</a:t>
            </a:r>
          </a:p>
          <a:p>
            <a:r>
              <a:rPr lang="en-US"/>
              <a:t>Lasso – </a:t>
            </a:r>
            <a:r>
              <a:rPr lang="en-US" b="1"/>
              <a:t>Hiram</a:t>
            </a:r>
          </a:p>
          <a:p>
            <a:r>
              <a:rPr lang="en-US"/>
              <a:t>K means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B0EF6D-F3E2-8440-8F36-266A14EF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8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11CFBA-C245-096D-5DB2-AC48EB00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9258978" cy="636739"/>
          </a:xfrm>
        </p:spPr>
        <p:txBody>
          <a:bodyPr>
            <a:normAutofit fontScale="90000"/>
          </a:bodyPr>
          <a:lstStyle/>
          <a:p>
            <a:r>
              <a:rPr lang="en-US"/>
              <a:t>Key Store Attributes Driving Demand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74559C-C3CC-AB46-C8B5-1F10ECD6EB1E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47E8E71-5835-44A1-17E2-766048EE65B9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3FF591F5-1BA8-9800-E265-9F2D4620B854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2542B8A4-EBCC-D4FE-97D5-7EBE6A0663F7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88C9C695-79C4-6A48-94D8-CB17DC091EED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19E50C12-DE01-849C-FDFD-ED6458DBBB71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E6D644AF-231A-1EA7-8F45-D02BC0035587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7AD6A7-F749-38B1-963A-073982E8E27C}"/>
              </a:ext>
            </a:extLst>
          </p:cNvPr>
          <p:cNvSpPr/>
          <p:nvPr/>
        </p:nvSpPr>
        <p:spPr>
          <a:xfrm>
            <a:off x="13220965" y="3052360"/>
            <a:ext cx="2591810" cy="139279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Do we include the logic/process behind creating this clusters here?</a:t>
            </a:r>
            <a:br>
              <a:rPr lang="en-US" sz="1200"/>
            </a:br>
            <a:r>
              <a:rPr lang="en-US" sz="1200"/>
              <a:t>If so, do we include this before or after showing what Cluster 1 is?</a:t>
            </a:r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16F19A31-DB46-68DC-D762-11B975A6A268}"/>
              </a:ext>
            </a:extLst>
          </p:cNvPr>
          <p:cNvSpPr/>
          <p:nvPr/>
        </p:nvSpPr>
        <p:spPr>
          <a:xfrm>
            <a:off x="1163799" y="4366333"/>
            <a:ext cx="914400" cy="682375"/>
          </a:xfrm>
          <a:prstGeom prst="flowChartMagneticDisk">
            <a:avLst/>
          </a:prstGeom>
          <a:solidFill>
            <a:srgbClr val="99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Magnetic Disk 26">
            <a:extLst>
              <a:ext uri="{FF2B5EF4-FFF2-40B4-BE49-F238E27FC236}">
                <a16:creationId xmlns:a16="http://schemas.microsoft.com/office/drawing/2014/main" id="{8CEB0349-B64D-07C5-E6CC-33FBA16BADC2}"/>
              </a:ext>
            </a:extLst>
          </p:cNvPr>
          <p:cNvSpPr/>
          <p:nvPr/>
        </p:nvSpPr>
        <p:spPr>
          <a:xfrm>
            <a:off x="1163799" y="3966939"/>
            <a:ext cx="914400" cy="682375"/>
          </a:xfrm>
          <a:prstGeom prst="flowChartMagneticDisk">
            <a:avLst/>
          </a:prstGeom>
          <a:solidFill>
            <a:srgbClr val="99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20053F-BA49-0D61-A3E6-E9A011DC0F42}"/>
              </a:ext>
            </a:extLst>
          </p:cNvPr>
          <p:cNvSpPr txBox="1"/>
          <p:nvPr/>
        </p:nvSpPr>
        <p:spPr>
          <a:xfrm>
            <a:off x="162340" y="1533458"/>
            <a:ext cx="2882298" cy="2062103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70 Census</a:t>
            </a:r>
          </a:p>
          <a:p>
            <a:pPr algn="ctr"/>
            <a:r>
              <a:rPr lang="en-US" sz="1600"/>
              <a:t>1 Curbside</a:t>
            </a:r>
          </a:p>
          <a:p>
            <a:pPr algn="ctr"/>
            <a:r>
              <a:rPr lang="en-US" sz="1600"/>
              <a:t>1 Facings</a:t>
            </a:r>
          </a:p>
          <a:p>
            <a:pPr algn="ctr"/>
            <a:r>
              <a:rPr lang="en-US" sz="1600"/>
              <a:t>1 Format</a:t>
            </a:r>
          </a:p>
          <a:p>
            <a:pPr algn="ctr"/>
            <a:r>
              <a:rPr lang="en-US" sz="1600"/>
              <a:t>2 Brand/Item Type</a:t>
            </a:r>
          </a:p>
          <a:p>
            <a:pPr algn="ctr"/>
            <a:r>
              <a:rPr lang="en-US" sz="1600"/>
              <a:t>1 Climate</a:t>
            </a:r>
          </a:p>
          <a:p>
            <a:pPr algn="ctr"/>
            <a:r>
              <a:rPr lang="en-US" sz="1600"/>
              <a:t>8 Competitor Distance</a:t>
            </a:r>
          </a:p>
          <a:p>
            <a:pPr algn="ctr"/>
            <a:r>
              <a:rPr lang="en-US" sz="1600"/>
              <a:t>3 Amex/Snap/Curbside 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726AE7-5E2F-4857-EF4A-FA54A0199A36}"/>
              </a:ext>
            </a:extLst>
          </p:cNvPr>
          <p:cNvSpPr txBox="1"/>
          <p:nvPr/>
        </p:nvSpPr>
        <p:spPr>
          <a:xfrm>
            <a:off x="9971676" y="5866955"/>
            <a:ext cx="1219357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K-Means Clustering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286463-2D9A-9358-BDCB-8703E122995A}"/>
              </a:ext>
            </a:extLst>
          </p:cNvPr>
          <p:cNvSpPr/>
          <p:nvPr/>
        </p:nvSpPr>
        <p:spPr>
          <a:xfrm>
            <a:off x="162340" y="1141734"/>
            <a:ext cx="2882298" cy="298706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Original Features</a:t>
            </a:r>
            <a:endParaRPr kumimoji="0" lang="en-US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9BEFD6C-A8D1-8FC1-AA22-FB8870A3635F}"/>
              </a:ext>
            </a:extLst>
          </p:cNvPr>
          <p:cNvSpPr/>
          <p:nvPr/>
        </p:nvSpPr>
        <p:spPr>
          <a:xfrm>
            <a:off x="3304722" y="1141734"/>
            <a:ext cx="2882298" cy="298706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Feature Expansion</a:t>
            </a:r>
            <a:endParaRPr kumimoji="0" lang="en-US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FE9D2F-07AA-90E8-4970-50098F6B4F86}"/>
              </a:ext>
            </a:extLst>
          </p:cNvPr>
          <p:cNvSpPr/>
          <p:nvPr/>
        </p:nvSpPr>
        <p:spPr>
          <a:xfrm>
            <a:off x="8300094" y="1138947"/>
            <a:ext cx="2882298" cy="298706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LASSO Regression</a:t>
            </a:r>
            <a:endParaRPr kumimoji="0" lang="en-US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85238CF-819E-371B-4931-F3649C35D15C}"/>
                  </a:ext>
                </a:extLst>
              </p:cNvPr>
              <p:cNvSpPr txBox="1"/>
              <p:nvPr/>
            </p:nvSpPr>
            <p:spPr>
              <a:xfrm>
                <a:off x="7307313" y="1488332"/>
                <a:ext cx="4840598" cy="561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min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nary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85238CF-819E-371B-4931-F3649C35D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313" y="1488332"/>
                <a:ext cx="4840598" cy="561564"/>
              </a:xfrm>
              <a:prstGeom prst="rect">
                <a:avLst/>
              </a:prstGeom>
              <a:blipFill>
                <a:blip r:embed="rId2"/>
                <a:stretch>
                  <a:fillRect l="-1134" b="-5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TextBox 145">
            <a:extLst>
              <a:ext uri="{FF2B5EF4-FFF2-40B4-BE49-F238E27FC236}">
                <a16:creationId xmlns:a16="http://schemas.microsoft.com/office/drawing/2014/main" id="{15667FAC-7477-B397-0BF4-244AC06BC683}"/>
              </a:ext>
            </a:extLst>
          </p:cNvPr>
          <p:cNvSpPr txBox="1"/>
          <p:nvPr/>
        </p:nvSpPr>
        <p:spPr>
          <a:xfrm>
            <a:off x="8198222" y="3713119"/>
            <a:ext cx="1552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95 Brands</a:t>
            </a:r>
          </a:p>
          <a:p>
            <a:pPr algn="ctr"/>
            <a:r>
              <a:rPr lang="en-US"/>
              <a:t>41 Item Types</a:t>
            </a:r>
          </a:p>
          <a:p>
            <a:pPr algn="ctr"/>
            <a:r>
              <a:rPr lang="en-US"/>
              <a:t>1 Facings</a:t>
            </a:r>
          </a:p>
        </p:txBody>
      </p:sp>
      <p:sp>
        <p:nvSpPr>
          <p:cNvPr id="155" name="Right Brace 154">
            <a:extLst>
              <a:ext uri="{FF2B5EF4-FFF2-40B4-BE49-F238E27FC236}">
                <a16:creationId xmlns:a16="http://schemas.microsoft.com/office/drawing/2014/main" id="{5DD25AC7-F9C6-2635-AE77-0B1B494B787B}"/>
              </a:ext>
            </a:extLst>
          </p:cNvPr>
          <p:cNvSpPr/>
          <p:nvPr/>
        </p:nvSpPr>
        <p:spPr>
          <a:xfrm rot="5400000">
            <a:off x="9526300" y="-280593"/>
            <a:ext cx="369331" cy="4781837"/>
          </a:xfrm>
          <a:prstGeom prst="rightBrace">
            <a:avLst>
              <a:gd name="adj1" fmla="val 9632"/>
              <a:gd name="adj2" fmla="val 502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EEF0844-2931-05A8-12C0-DBDE79833FC4}"/>
              </a:ext>
            </a:extLst>
          </p:cNvPr>
          <p:cNvSpPr txBox="1"/>
          <p:nvPr/>
        </p:nvSpPr>
        <p:spPr>
          <a:xfrm>
            <a:off x="3693407" y="1542360"/>
            <a:ext cx="219684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70 Census</a:t>
            </a:r>
          </a:p>
        </p:txBody>
      </p:sp>
      <p:sp>
        <p:nvSpPr>
          <p:cNvPr id="178" name="Arrow: Right 177">
            <a:extLst>
              <a:ext uri="{FF2B5EF4-FFF2-40B4-BE49-F238E27FC236}">
                <a16:creationId xmlns:a16="http://schemas.microsoft.com/office/drawing/2014/main" id="{FC5AA863-719C-87C5-9842-876057FA2153}"/>
              </a:ext>
            </a:extLst>
          </p:cNvPr>
          <p:cNvSpPr/>
          <p:nvPr/>
        </p:nvSpPr>
        <p:spPr>
          <a:xfrm rot="5400000">
            <a:off x="10146169" y="5057740"/>
            <a:ext cx="87946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4DA3DAD-7ED3-A465-AB47-8D2927063306}"/>
              </a:ext>
            </a:extLst>
          </p:cNvPr>
          <p:cNvSpPr txBox="1"/>
          <p:nvPr/>
        </p:nvSpPr>
        <p:spPr>
          <a:xfrm>
            <a:off x="8574004" y="2662255"/>
            <a:ext cx="235437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</a:t>
            </a:r>
            <a:r>
              <a:rPr lang="en-US" baseline="30000"/>
              <a:t>2</a:t>
            </a:r>
            <a:r>
              <a:rPr lang="en-US"/>
              <a:t> = 0.861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AB68716-0178-2834-1EAC-B53CDC05D3E2}"/>
              </a:ext>
            </a:extLst>
          </p:cNvPr>
          <p:cNvSpPr txBox="1"/>
          <p:nvPr/>
        </p:nvSpPr>
        <p:spPr>
          <a:xfrm>
            <a:off x="9889863" y="3720203"/>
            <a:ext cx="1203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3 Census</a:t>
            </a:r>
          </a:p>
          <a:p>
            <a:pPr algn="ctr"/>
            <a:endParaRPr lang="en-US"/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8CB1F2A5-6028-123F-E131-E73322B9736C}"/>
              </a:ext>
            </a:extLst>
          </p:cNvPr>
          <p:cNvCxnSpPr>
            <a:cxnSpLocks/>
          </p:cNvCxnSpPr>
          <p:nvPr/>
        </p:nvCxnSpPr>
        <p:spPr>
          <a:xfrm>
            <a:off x="9751192" y="3532822"/>
            <a:ext cx="0" cy="1110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49FC346F-CF8F-52A7-94D8-8A96AA1AC9C9}"/>
              </a:ext>
            </a:extLst>
          </p:cNvPr>
          <p:cNvSpPr txBox="1"/>
          <p:nvPr/>
        </p:nvSpPr>
        <p:spPr>
          <a:xfrm>
            <a:off x="8588084" y="3163490"/>
            <a:ext cx="235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Surviving Features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1044BE0-EFC2-167F-9198-7D8079E6E4B4}"/>
              </a:ext>
            </a:extLst>
          </p:cNvPr>
          <p:cNvSpPr txBox="1"/>
          <p:nvPr/>
        </p:nvSpPr>
        <p:spPr>
          <a:xfrm>
            <a:off x="8201272" y="5866955"/>
            <a:ext cx="1402248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Elastic Net</a:t>
            </a:r>
          </a:p>
        </p:txBody>
      </p:sp>
      <p:sp>
        <p:nvSpPr>
          <p:cNvPr id="204" name="Arrow: Right 203">
            <a:extLst>
              <a:ext uri="{FF2B5EF4-FFF2-40B4-BE49-F238E27FC236}">
                <a16:creationId xmlns:a16="http://schemas.microsoft.com/office/drawing/2014/main" id="{DF02633F-DA66-F80C-1501-5FE306C0F921}"/>
              </a:ext>
            </a:extLst>
          </p:cNvPr>
          <p:cNvSpPr/>
          <p:nvPr/>
        </p:nvSpPr>
        <p:spPr>
          <a:xfrm rot="5400000">
            <a:off x="8470759" y="5057740"/>
            <a:ext cx="87946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2DD6602-7FAD-D7C0-7A19-1A0626EDB4D7}"/>
              </a:ext>
            </a:extLst>
          </p:cNvPr>
          <p:cNvSpPr txBox="1"/>
          <p:nvPr/>
        </p:nvSpPr>
        <p:spPr>
          <a:xfrm>
            <a:off x="162340" y="5279357"/>
            <a:ext cx="2887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Is demand driven by products or store attributes?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E368651-4AA3-452A-53BC-983391DE5243}"/>
              </a:ext>
            </a:extLst>
          </p:cNvPr>
          <p:cNvSpPr/>
          <p:nvPr/>
        </p:nvSpPr>
        <p:spPr>
          <a:xfrm>
            <a:off x="8154756" y="3126344"/>
            <a:ext cx="3133581" cy="1630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Plus Sign 209">
            <a:extLst>
              <a:ext uri="{FF2B5EF4-FFF2-40B4-BE49-F238E27FC236}">
                <a16:creationId xmlns:a16="http://schemas.microsoft.com/office/drawing/2014/main" id="{DC96C1D7-8616-55D1-8726-4CC60EFA1E6B}"/>
              </a:ext>
            </a:extLst>
          </p:cNvPr>
          <p:cNvSpPr/>
          <p:nvPr/>
        </p:nvSpPr>
        <p:spPr>
          <a:xfrm>
            <a:off x="4639458" y="1850137"/>
            <a:ext cx="304742" cy="30061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B0284CC-C432-1D81-6B0A-E1960C608925}"/>
              </a:ext>
            </a:extLst>
          </p:cNvPr>
          <p:cNvSpPr txBox="1"/>
          <p:nvPr/>
        </p:nvSpPr>
        <p:spPr>
          <a:xfrm>
            <a:off x="3693407" y="2142931"/>
            <a:ext cx="219684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1 Curbside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5A2142E-4CA1-AF7C-A3C0-2D85059F0F62}"/>
              </a:ext>
            </a:extLst>
          </p:cNvPr>
          <p:cNvSpPr txBox="1"/>
          <p:nvPr/>
        </p:nvSpPr>
        <p:spPr>
          <a:xfrm>
            <a:off x="3693407" y="2738722"/>
            <a:ext cx="2196844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1 Facings</a:t>
            </a:r>
          </a:p>
        </p:txBody>
      </p:sp>
      <p:sp>
        <p:nvSpPr>
          <p:cNvPr id="215" name="Plus Sign 214">
            <a:extLst>
              <a:ext uri="{FF2B5EF4-FFF2-40B4-BE49-F238E27FC236}">
                <a16:creationId xmlns:a16="http://schemas.microsoft.com/office/drawing/2014/main" id="{D183FFD5-CE6A-2ECF-2F30-77DB0109D016}"/>
              </a:ext>
            </a:extLst>
          </p:cNvPr>
          <p:cNvSpPr/>
          <p:nvPr/>
        </p:nvSpPr>
        <p:spPr>
          <a:xfrm>
            <a:off x="4639458" y="2447893"/>
            <a:ext cx="304742" cy="30061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6" name="Plus Sign 215">
            <a:extLst>
              <a:ext uri="{FF2B5EF4-FFF2-40B4-BE49-F238E27FC236}">
                <a16:creationId xmlns:a16="http://schemas.microsoft.com/office/drawing/2014/main" id="{BF8E0454-3756-FBFA-CF0F-A363C03571B5}"/>
              </a:ext>
            </a:extLst>
          </p:cNvPr>
          <p:cNvSpPr/>
          <p:nvPr/>
        </p:nvSpPr>
        <p:spPr>
          <a:xfrm>
            <a:off x="4639458" y="3040858"/>
            <a:ext cx="304742" cy="30061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72ACE8B4-DFCD-4D69-AE3B-F256C0A8E1CB}"/>
              </a:ext>
            </a:extLst>
          </p:cNvPr>
          <p:cNvSpPr txBox="1"/>
          <p:nvPr/>
        </p:nvSpPr>
        <p:spPr>
          <a:xfrm>
            <a:off x="3693406" y="3328366"/>
            <a:ext cx="2196844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5 Format</a:t>
            </a:r>
          </a:p>
        </p:txBody>
      </p:sp>
      <p:sp>
        <p:nvSpPr>
          <p:cNvPr id="218" name="Plus Sign 217">
            <a:extLst>
              <a:ext uri="{FF2B5EF4-FFF2-40B4-BE49-F238E27FC236}">
                <a16:creationId xmlns:a16="http://schemas.microsoft.com/office/drawing/2014/main" id="{2EDF6A15-61E7-3B9C-7E9B-3B2FD574FE8A}"/>
              </a:ext>
            </a:extLst>
          </p:cNvPr>
          <p:cNvSpPr/>
          <p:nvPr/>
        </p:nvSpPr>
        <p:spPr>
          <a:xfrm>
            <a:off x="4639458" y="3635768"/>
            <a:ext cx="304742" cy="30061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7C1B2C4-87A3-0323-A714-E91A478BA87A}"/>
              </a:ext>
            </a:extLst>
          </p:cNvPr>
          <p:cNvSpPr txBox="1"/>
          <p:nvPr/>
        </p:nvSpPr>
        <p:spPr>
          <a:xfrm>
            <a:off x="3693406" y="3931185"/>
            <a:ext cx="2196844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304 Brands/Item Types</a:t>
            </a:r>
          </a:p>
        </p:txBody>
      </p:sp>
      <p:sp>
        <p:nvSpPr>
          <p:cNvPr id="220" name="Plus Sign 219">
            <a:extLst>
              <a:ext uri="{FF2B5EF4-FFF2-40B4-BE49-F238E27FC236}">
                <a16:creationId xmlns:a16="http://schemas.microsoft.com/office/drawing/2014/main" id="{FE97B767-8D4D-A15B-F573-6D21FD1132FA}"/>
              </a:ext>
            </a:extLst>
          </p:cNvPr>
          <p:cNvSpPr/>
          <p:nvPr/>
        </p:nvSpPr>
        <p:spPr>
          <a:xfrm>
            <a:off x="4639458" y="4237504"/>
            <a:ext cx="304742" cy="30061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AFF9124-68A4-4F14-1FD0-8477931F49F8}"/>
              </a:ext>
            </a:extLst>
          </p:cNvPr>
          <p:cNvSpPr txBox="1"/>
          <p:nvPr/>
        </p:nvSpPr>
        <p:spPr>
          <a:xfrm>
            <a:off x="3693406" y="4527961"/>
            <a:ext cx="2196845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1 Climate</a:t>
            </a:r>
          </a:p>
        </p:txBody>
      </p:sp>
      <p:sp>
        <p:nvSpPr>
          <p:cNvPr id="222" name="Plus Sign 221">
            <a:extLst>
              <a:ext uri="{FF2B5EF4-FFF2-40B4-BE49-F238E27FC236}">
                <a16:creationId xmlns:a16="http://schemas.microsoft.com/office/drawing/2014/main" id="{B384A509-A68C-C16E-F0EE-559A2298673A}"/>
              </a:ext>
            </a:extLst>
          </p:cNvPr>
          <p:cNvSpPr/>
          <p:nvPr/>
        </p:nvSpPr>
        <p:spPr>
          <a:xfrm>
            <a:off x="4639458" y="4836110"/>
            <a:ext cx="304742" cy="30061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EF9FABD-A888-C7BA-6963-856D62E78F99}"/>
              </a:ext>
            </a:extLst>
          </p:cNvPr>
          <p:cNvSpPr txBox="1"/>
          <p:nvPr/>
        </p:nvSpPr>
        <p:spPr>
          <a:xfrm>
            <a:off x="3693406" y="5124713"/>
            <a:ext cx="219849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8 Competitor Distance</a:t>
            </a:r>
          </a:p>
        </p:txBody>
      </p:sp>
      <p:sp>
        <p:nvSpPr>
          <p:cNvPr id="224" name="Plus Sign 223">
            <a:extLst>
              <a:ext uri="{FF2B5EF4-FFF2-40B4-BE49-F238E27FC236}">
                <a16:creationId xmlns:a16="http://schemas.microsoft.com/office/drawing/2014/main" id="{274215CD-3E57-AA8C-79C8-1D5B66D5D6DE}"/>
              </a:ext>
            </a:extLst>
          </p:cNvPr>
          <p:cNvSpPr/>
          <p:nvPr/>
        </p:nvSpPr>
        <p:spPr>
          <a:xfrm>
            <a:off x="4639458" y="5439177"/>
            <a:ext cx="304742" cy="30061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C001A32-5750-410B-36B6-DD5ABA72E087}"/>
              </a:ext>
            </a:extLst>
          </p:cNvPr>
          <p:cNvSpPr txBox="1"/>
          <p:nvPr/>
        </p:nvSpPr>
        <p:spPr>
          <a:xfrm>
            <a:off x="3693406" y="5746478"/>
            <a:ext cx="219849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3 Amex/Snap/Curbside %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CD4C861-EFC6-3304-E705-F4F36841914C}"/>
              </a:ext>
            </a:extLst>
          </p:cNvPr>
          <p:cNvCxnSpPr/>
          <p:nvPr/>
        </p:nvCxnSpPr>
        <p:spPr>
          <a:xfrm>
            <a:off x="3581400" y="6190121"/>
            <a:ext cx="2333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C22FB196-9C67-2E49-8A48-99896461DD63}"/>
              </a:ext>
            </a:extLst>
          </p:cNvPr>
          <p:cNvSpPr txBox="1"/>
          <p:nvPr/>
        </p:nvSpPr>
        <p:spPr>
          <a:xfrm>
            <a:off x="3693406" y="6333265"/>
            <a:ext cx="2196844" cy="307777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393 Total Features</a:t>
            </a:r>
          </a:p>
        </p:txBody>
      </p:sp>
      <p:sp>
        <p:nvSpPr>
          <p:cNvPr id="230" name="Left Brace 229">
            <a:extLst>
              <a:ext uri="{FF2B5EF4-FFF2-40B4-BE49-F238E27FC236}">
                <a16:creationId xmlns:a16="http://schemas.microsoft.com/office/drawing/2014/main" id="{A2FBE7ED-9FB7-83A4-DCA7-B5CB2260A32A}"/>
              </a:ext>
            </a:extLst>
          </p:cNvPr>
          <p:cNvSpPr/>
          <p:nvPr/>
        </p:nvSpPr>
        <p:spPr>
          <a:xfrm>
            <a:off x="3088104" y="1533458"/>
            <a:ext cx="541449" cy="4527483"/>
          </a:xfrm>
          <a:prstGeom prst="leftBrace">
            <a:avLst>
              <a:gd name="adj1" fmla="val 8333"/>
              <a:gd name="adj2" fmla="val 5164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2" name="Connector: Elbow 231">
            <a:extLst>
              <a:ext uri="{FF2B5EF4-FFF2-40B4-BE49-F238E27FC236}">
                <a16:creationId xmlns:a16="http://schemas.microsoft.com/office/drawing/2014/main" id="{C262A008-8401-35D0-2698-E1122CE87360}"/>
              </a:ext>
            </a:extLst>
          </p:cNvPr>
          <p:cNvCxnSpPr>
            <a:cxnSpLocks/>
            <a:stCxn id="27" idx="4"/>
            <a:endCxn id="230" idx="1"/>
          </p:cNvCxnSpPr>
          <p:nvPr/>
        </p:nvCxnSpPr>
        <p:spPr>
          <a:xfrm flipV="1">
            <a:off x="2078199" y="3871812"/>
            <a:ext cx="1009905" cy="4363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3AAA8B19-4FF5-221B-087B-E94277698F83}"/>
              </a:ext>
            </a:extLst>
          </p:cNvPr>
          <p:cNvCxnSpPr>
            <a:cxnSpLocks/>
            <a:stCxn id="228" idx="3"/>
            <a:endCxn id="101" idx="1"/>
          </p:cNvCxnSpPr>
          <p:nvPr/>
        </p:nvCxnSpPr>
        <p:spPr>
          <a:xfrm flipV="1">
            <a:off x="5890250" y="1769114"/>
            <a:ext cx="1417063" cy="47180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 18">
            <a:extLst>
              <a:ext uri="{FF2B5EF4-FFF2-40B4-BE49-F238E27FC236}">
                <a16:creationId xmlns:a16="http://schemas.microsoft.com/office/drawing/2014/main" id="{376CA01D-B4BA-D90D-E24A-6535478C996D}"/>
              </a:ext>
            </a:extLst>
          </p:cNvPr>
          <p:cNvSpPr/>
          <p:nvPr/>
        </p:nvSpPr>
        <p:spPr>
          <a:xfrm>
            <a:off x="7465824" y="2294991"/>
            <a:ext cx="44881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% of Store Sales =  β</a:t>
            </a:r>
            <a:r>
              <a:rPr lang="en-US" sz="1100" b="1" baseline="-25000"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 + β</a:t>
            </a:r>
            <a:r>
              <a:rPr lang="en-US" sz="1100" b="1" baseline="-25000"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1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× Feature</a:t>
            </a:r>
            <a:r>
              <a:rPr lang="en-US" sz="1100" b="1" baseline="-25000"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 + … + β</a:t>
            </a:r>
            <a:r>
              <a:rPr lang="en-US" sz="1100" b="1" baseline="-25000"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r>
              <a:rPr lang="en-US" sz="11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× </a:t>
            </a:r>
            <a:r>
              <a:rPr lang="en-US" sz="1100" b="1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r>
              <a:rPr lang="en-US" sz="1100" b="1" baseline="-2500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6635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6" grpId="0" animBg="1"/>
      <p:bldP spid="47" grpId="0" animBg="1"/>
      <p:bldP spid="101" grpId="0"/>
      <p:bldP spid="146" grpId="0"/>
      <p:bldP spid="155" grpId="0" animBg="1"/>
      <p:bldP spid="173" grpId="0" animBg="1"/>
      <p:bldP spid="178" grpId="0" animBg="1"/>
      <p:bldP spid="181" grpId="0" animBg="1"/>
      <p:bldP spid="193" grpId="0"/>
      <p:bldP spid="201" grpId="0"/>
      <p:bldP spid="203" grpId="0" animBg="1"/>
      <p:bldP spid="204" grpId="0" animBg="1"/>
      <p:bldP spid="206" grpId="0" animBg="1"/>
      <p:bldP spid="210" grpId="0" animBg="1"/>
      <p:bldP spid="211" grpId="0" animBg="1"/>
      <p:bldP spid="213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8" grpId="0" animBg="1"/>
      <p:bldP spid="230" grpId="0" animBg="1"/>
      <p:bldP spid="2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62A7-B86C-67A5-2C23-8919BC79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D8A18C-3BD2-416B-707B-B7DE29E0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821" y="6425608"/>
            <a:ext cx="2743200" cy="365125"/>
          </a:xfrm>
        </p:spPr>
        <p:txBody>
          <a:bodyPr/>
          <a:lstStyle/>
          <a:p>
            <a:fld id="{B3FA7D70-52BF-4D9F-A014-1293FC3607F0}" type="slidenum">
              <a:rPr lang="en-US" smtClean="0"/>
              <a:pPr/>
              <a:t>9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C94DBC-2E04-0AEC-9780-14E3D4AB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9258978" cy="636739"/>
          </a:xfrm>
        </p:spPr>
        <p:txBody>
          <a:bodyPr>
            <a:normAutofit fontScale="90000"/>
          </a:bodyPr>
          <a:lstStyle/>
          <a:p>
            <a:r>
              <a:rPr lang="en-US"/>
              <a:t>Key Store Attributes Driving Demand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52D96E-6E28-57C9-1B06-FF4FC4CDBC3F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9AA0CED6-E6E0-88EB-46D7-4066FE76033E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08A1FCFE-8945-EA4C-327A-B91C3745AA21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8EB78D7B-FFB2-1D7E-293A-7A75A9EC2E12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FDA650E2-8F8A-6B96-BE39-C4BA6EF40E5D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3D5C963A-2CCF-5A30-DC6C-22652F482D41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428BFEFA-1CC2-8144-CEA2-14415F60EEB6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23755D1-0566-5312-D2CC-C1263941E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848991"/>
              </p:ext>
            </p:extLst>
          </p:nvPr>
        </p:nvGraphicFramePr>
        <p:xfrm>
          <a:off x="3335298" y="4708026"/>
          <a:ext cx="5554704" cy="1238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0896">
                  <a:extLst>
                    <a:ext uri="{9D8B030D-6E8A-4147-A177-3AD203B41FA5}">
                      <a16:colId xmlns:a16="http://schemas.microsoft.com/office/drawing/2014/main" val="2377407764"/>
                    </a:ext>
                  </a:extLst>
                </a:gridCol>
                <a:gridCol w="593968">
                  <a:extLst>
                    <a:ext uri="{9D8B030D-6E8A-4147-A177-3AD203B41FA5}">
                      <a16:colId xmlns:a16="http://schemas.microsoft.com/office/drawing/2014/main" val="4010173651"/>
                    </a:ext>
                  </a:extLst>
                </a:gridCol>
                <a:gridCol w="593968">
                  <a:extLst>
                    <a:ext uri="{9D8B030D-6E8A-4147-A177-3AD203B41FA5}">
                      <a16:colId xmlns:a16="http://schemas.microsoft.com/office/drawing/2014/main" val="932058977"/>
                    </a:ext>
                  </a:extLst>
                </a:gridCol>
                <a:gridCol w="593968">
                  <a:extLst>
                    <a:ext uri="{9D8B030D-6E8A-4147-A177-3AD203B41FA5}">
                      <a16:colId xmlns:a16="http://schemas.microsoft.com/office/drawing/2014/main" val="589807181"/>
                    </a:ext>
                  </a:extLst>
                </a:gridCol>
                <a:gridCol w="593968">
                  <a:extLst>
                    <a:ext uri="{9D8B030D-6E8A-4147-A177-3AD203B41FA5}">
                      <a16:colId xmlns:a16="http://schemas.microsoft.com/office/drawing/2014/main" val="319865741"/>
                    </a:ext>
                  </a:extLst>
                </a:gridCol>
                <a:gridCol w="593968">
                  <a:extLst>
                    <a:ext uri="{9D8B030D-6E8A-4147-A177-3AD203B41FA5}">
                      <a16:colId xmlns:a16="http://schemas.microsoft.com/office/drawing/2014/main" val="1196430274"/>
                    </a:ext>
                  </a:extLst>
                </a:gridCol>
                <a:gridCol w="593968">
                  <a:extLst>
                    <a:ext uri="{9D8B030D-6E8A-4147-A177-3AD203B41FA5}">
                      <a16:colId xmlns:a16="http://schemas.microsoft.com/office/drawing/2014/main" val="1123543529"/>
                    </a:ext>
                  </a:extLst>
                </a:gridCol>
              </a:tblGrid>
              <a:tr h="247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err="1">
                          <a:effectLst/>
                        </a:rPr>
                        <a:t>Cluster_ID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370074"/>
                  </a:ext>
                </a:extLst>
              </a:tr>
              <a:tr h="247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Store_Count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263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392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70285"/>
                  </a:ext>
                </a:extLst>
              </a:tr>
              <a:tr h="247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err="1">
                          <a:effectLst/>
                        </a:rPr>
                        <a:t>news_informed_tv_i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103.31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99.98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89.85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97.23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87.67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80046"/>
                  </a:ext>
                </a:extLst>
              </a:tr>
              <a:tr h="247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x_multi_20_plus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4763" marR="4763" marT="4763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9%</a:t>
                      </a: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76%</a:t>
                      </a: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7%</a:t>
                      </a: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36%</a:t>
                      </a: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447508"/>
                  </a:ext>
                </a:extLst>
              </a:tr>
              <a:tr h="247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err="1">
                          <a:effectLst/>
                        </a:rPr>
                        <a:t>somewhat_liberal_index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88.74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132.32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114.74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161.87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99.26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164.68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1707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2A2AD1-EE3D-D2A2-6068-F8EFBD98EFC3}"/>
                  </a:ext>
                </a:extLst>
              </p:cNvPr>
              <p:cNvSpPr txBox="1"/>
              <p:nvPr/>
            </p:nvSpPr>
            <p:spPr>
              <a:xfrm>
                <a:off x="-881308" y="2941655"/>
                <a:ext cx="4798299" cy="974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𝑊𝐶𝑆𝑆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2A2AD1-EE3D-D2A2-6068-F8EFBD98E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1308" y="2941655"/>
                <a:ext cx="4798299" cy="9746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122C5C32-8568-ABB4-44D8-AFB3B5B66A36}"/>
              </a:ext>
            </a:extLst>
          </p:cNvPr>
          <p:cNvSpPr/>
          <p:nvPr/>
        </p:nvSpPr>
        <p:spPr>
          <a:xfrm rot="10800000">
            <a:off x="2982849" y="1440440"/>
            <a:ext cx="369331" cy="2475904"/>
          </a:xfrm>
          <a:prstGeom prst="rightBrace">
            <a:avLst>
              <a:gd name="adj1" fmla="val 9632"/>
              <a:gd name="adj2" fmla="val 2109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9C7CD48-FE5A-3449-7DBE-D00C5B03F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183" y="1399692"/>
            <a:ext cx="4284820" cy="2556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A43EBDD-D68C-088E-CFBB-DF992AEA3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694" y="1399692"/>
            <a:ext cx="4314930" cy="258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CEF0C84-F113-A554-658E-30835E38041F}"/>
              </a:ext>
            </a:extLst>
          </p:cNvPr>
          <p:cNvSpPr txBox="1"/>
          <p:nvPr/>
        </p:nvSpPr>
        <p:spPr>
          <a:xfrm>
            <a:off x="184880" y="2261743"/>
            <a:ext cx="2605665" cy="369332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Deduplication + Scaling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3E5132-6854-A4B9-8FD6-8203B279A8DE}"/>
              </a:ext>
            </a:extLst>
          </p:cNvPr>
          <p:cNvSpPr txBox="1"/>
          <p:nvPr/>
        </p:nvSpPr>
        <p:spPr>
          <a:xfrm>
            <a:off x="735348" y="1543836"/>
            <a:ext cx="1552970" cy="369332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3 Census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AB54B0-0D85-7E87-AB8B-741246F5FF17}"/>
              </a:ext>
            </a:extLst>
          </p:cNvPr>
          <p:cNvCxnSpPr>
            <a:cxnSpLocks/>
          </p:cNvCxnSpPr>
          <p:nvPr/>
        </p:nvCxnSpPr>
        <p:spPr>
          <a:xfrm>
            <a:off x="1507349" y="1953873"/>
            <a:ext cx="0" cy="269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FAFF53-1F31-97EB-9788-E32E559AE498}"/>
              </a:ext>
            </a:extLst>
          </p:cNvPr>
          <p:cNvCxnSpPr>
            <a:cxnSpLocks/>
          </p:cNvCxnSpPr>
          <p:nvPr/>
        </p:nvCxnSpPr>
        <p:spPr>
          <a:xfrm>
            <a:off x="1507349" y="2677773"/>
            <a:ext cx="0" cy="263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77E2B3F-8DB2-5819-446A-19584452E83D}"/>
              </a:ext>
            </a:extLst>
          </p:cNvPr>
          <p:cNvSpPr txBox="1"/>
          <p:nvPr/>
        </p:nvSpPr>
        <p:spPr>
          <a:xfrm>
            <a:off x="9178612" y="4703281"/>
            <a:ext cx="2887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Cluster 1 Profile</a:t>
            </a:r>
          </a:p>
          <a:p>
            <a:endParaRPr lang="en-US" sz="1200" b="1"/>
          </a:p>
          <a:p>
            <a:pPr marL="342900" indent="-342900">
              <a:buAutoNum type="arabicPeriod"/>
            </a:pPr>
            <a:r>
              <a:rPr lang="en-US" sz="1200" b="1"/>
              <a:t>Consumes information on average through traditional media</a:t>
            </a:r>
          </a:p>
          <a:p>
            <a:pPr marL="342900" indent="-342900">
              <a:buAutoNum type="arabicPeriod"/>
            </a:pPr>
            <a:r>
              <a:rPr lang="en-US" sz="1200" b="1"/>
              <a:t>Gen X or older Millennial </a:t>
            </a:r>
          </a:p>
          <a:p>
            <a:pPr marL="342900" indent="-342900">
              <a:buAutoNum type="arabicPeriod"/>
            </a:pPr>
            <a:r>
              <a:rPr lang="en-US" sz="1200" b="1"/>
              <a:t>High Homeownership</a:t>
            </a:r>
          </a:p>
          <a:p>
            <a:pPr marL="342900" indent="-342900">
              <a:buAutoNum type="arabicPeriod"/>
            </a:pPr>
            <a:r>
              <a:rPr lang="en-US" sz="1200" b="1"/>
              <a:t>Leans slightly or moderately conservative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0969B9-BFA8-AA88-CDD4-D60AB2E8436D}"/>
              </a:ext>
            </a:extLst>
          </p:cNvPr>
          <p:cNvSpPr/>
          <p:nvPr/>
        </p:nvSpPr>
        <p:spPr>
          <a:xfrm>
            <a:off x="3271582" y="4703281"/>
            <a:ext cx="8730842" cy="156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524C0E-9A24-8C4E-531A-AA9CF5D0E3FB}"/>
              </a:ext>
            </a:extLst>
          </p:cNvPr>
          <p:cNvSpPr/>
          <p:nvPr/>
        </p:nvSpPr>
        <p:spPr>
          <a:xfrm>
            <a:off x="162340" y="1141734"/>
            <a:ext cx="2882298" cy="298706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K-Means Clustering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CB64B0-3978-D819-AA22-8823701D1864}"/>
              </a:ext>
            </a:extLst>
          </p:cNvPr>
          <p:cNvCxnSpPr>
            <a:cxnSpLocks/>
          </p:cNvCxnSpPr>
          <p:nvPr/>
        </p:nvCxnSpPr>
        <p:spPr>
          <a:xfrm>
            <a:off x="9048509" y="4835825"/>
            <a:ext cx="0" cy="1110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F53E37-228A-9993-085B-4B0870CD53A9}"/>
              </a:ext>
            </a:extLst>
          </p:cNvPr>
          <p:cNvCxnSpPr>
            <a:cxnSpLocks/>
          </p:cNvCxnSpPr>
          <p:nvPr/>
        </p:nvCxnSpPr>
        <p:spPr>
          <a:xfrm>
            <a:off x="1507349" y="3916345"/>
            <a:ext cx="10492" cy="1126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BC9ACDB-EFB9-BB9F-260C-890A88E5367E}"/>
              </a:ext>
            </a:extLst>
          </p:cNvPr>
          <p:cNvSpPr txBox="1"/>
          <p:nvPr/>
        </p:nvSpPr>
        <p:spPr>
          <a:xfrm>
            <a:off x="184879" y="5164945"/>
            <a:ext cx="2605665" cy="646331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Customer </a:t>
            </a:r>
          </a:p>
          <a:p>
            <a:pPr algn="ctr"/>
            <a:r>
              <a:rPr lang="en-US"/>
              <a:t>Segmentation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CEF7C2-372A-F106-61D4-980F772997B0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2790544" y="5488110"/>
            <a:ext cx="48103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17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9" grpId="0"/>
      <p:bldP spid="41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EB16-FA0C-D71F-F427-9CB6ED00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289560-3164-F066-85A2-D481BA4E0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821" y="6425608"/>
            <a:ext cx="2743200" cy="365125"/>
          </a:xfrm>
        </p:spPr>
        <p:txBody>
          <a:bodyPr/>
          <a:lstStyle/>
          <a:p>
            <a:fld id="{B3FA7D70-52BF-4D9F-A014-1293FC3607F0}" type="slidenum">
              <a:rPr lang="en-US" smtClean="0"/>
              <a:pPr/>
              <a:t>10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C1DD88-D3A0-8C73-882F-D41C04602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9258978" cy="636739"/>
          </a:xfrm>
        </p:spPr>
        <p:txBody>
          <a:bodyPr>
            <a:normAutofit fontScale="90000"/>
          </a:bodyPr>
          <a:lstStyle/>
          <a:p>
            <a:r>
              <a:rPr lang="en-US"/>
              <a:t>Key Store Attributes Driving Demand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7726F7-83FF-8895-3D1A-FA7F2CA6D3B2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3BE1E800-FB68-609E-1EA8-FBE76389500C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58290BE0-34AB-5CF2-D848-8DF344F9458E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DBB91389-FFEC-DF88-6B79-E83FADF97853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3353A4E8-409C-13E9-282E-B89A43C26633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A35AD0C0-7402-9F46-3C08-ECD8F2D61000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6B619BBB-4989-41BB-2640-D0FAC12C7B59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64BDFD4B-AC7A-BB02-81A7-A2138768F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39" y="1285286"/>
            <a:ext cx="11920681" cy="461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8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5DA117A-B556-EBA1-8E78-D164D82CF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5"/>
          <a:stretch>
            <a:fillRect/>
          </a:stretch>
        </p:blipFill>
        <p:spPr>
          <a:xfrm>
            <a:off x="0" y="1471625"/>
            <a:ext cx="4172532" cy="39147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930454-67C2-103A-0C7C-FB377B3F3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8723476" cy="636739"/>
          </a:xfrm>
        </p:spPr>
        <p:txBody>
          <a:bodyPr>
            <a:normAutofit fontScale="90000"/>
          </a:bodyPr>
          <a:lstStyle/>
          <a:p>
            <a:r>
              <a:rPr lang="en-US"/>
              <a:t>Breakdown/Analytical Framework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D6121F-80D6-33F1-9CD3-E972D58B1401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05EBF525-AB2D-49FB-AA64-24D4413A7717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F05BD653-F520-FA8C-D215-29D089603C26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60708F12-E4AF-A295-F421-1B46E4E03D02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3F379799-326B-22A0-F5F7-7BEA0389363D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D2C6E6FC-A622-DDAE-5072-FC357B1B9381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E179EC72-7A78-134E-98FD-52BA463CFD5D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3090F9-78B5-5B65-E5D3-2679B8EFCF3B}"/>
              </a:ext>
            </a:extLst>
          </p:cNvPr>
          <p:cNvCxnSpPr>
            <a:cxnSpLocks/>
          </p:cNvCxnSpPr>
          <p:nvPr/>
        </p:nvCxnSpPr>
        <p:spPr>
          <a:xfrm>
            <a:off x="2571750" y="1677478"/>
            <a:ext cx="9501692" cy="0"/>
          </a:xfrm>
          <a:prstGeom prst="line">
            <a:avLst/>
          </a:prstGeom>
          <a:ln>
            <a:solidFill>
              <a:srgbClr val="C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A3FB55-ADB0-9428-6F02-D0248C599B20}"/>
              </a:ext>
            </a:extLst>
          </p:cNvPr>
          <p:cNvSpPr txBox="1"/>
          <p:nvPr/>
        </p:nvSpPr>
        <p:spPr>
          <a:xfrm>
            <a:off x="4019233" y="1144733"/>
            <a:ext cx="3303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Guardsman red"/>
              </a:rPr>
              <a:t>Baby Care - Cluster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BFEE6-B2A0-F5EA-3520-3DC8A82F87A6}"/>
              </a:ext>
            </a:extLst>
          </p:cNvPr>
          <p:cNvSpPr txBox="1"/>
          <p:nvPr/>
        </p:nvSpPr>
        <p:spPr>
          <a:xfrm>
            <a:off x="4169414" y="1763615"/>
            <a:ext cx="2075553" cy="584775"/>
          </a:xfrm>
          <a:prstGeom prst="rect">
            <a:avLst/>
          </a:prstGeom>
          <a:noFill/>
          <a:ln>
            <a:solidFill>
              <a:srgbClr val="C6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uardsman red"/>
              </a:rPr>
              <a:t>Median HH Income:</a:t>
            </a:r>
          </a:p>
          <a:p>
            <a:r>
              <a:rPr lang="en-US" sz="1600" dirty="0">
                <a:latin typeface="Guardsman red"/>
              </a:rPr>
              <a:t>[Redacted]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4E1C17-444A-51E7-10DA-7A3BFCC78612}"/>
              </a:ext>
            </a:extLst>
          </p:cNvPr>
          <p:cNvSpPr txBox="1"/>
          <p:nvPr/>
        </p:nvSpPr>
        <p:spPr>
          <a:xfrm>
            <a:off x="6336157" y="1763614"/>
            <a:ext cx="2273239" cy="584775"/>
          </a:xfrm>
          <a:prstGeom prst="rect">
            <a:avLst/>
          </a:prstGeom>
          <a:noFill/>
          <a:ln>
            <a:solidFill>
              <a:srgbClr val="C6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uardsman red"/>
              </a:rPr>
              <a:t>Pop. Density (</a:t>
            </a:r>
            <a:r>
              <a:rPr lang="en-US" sz="1600" b="1" i="1" dirty="0" err="1">
                <a:latin typeface="Guardsman red"/>
              </a:rPr>
              <a:t>Sqr</a:t>
            </a:r>
            <a:r>
              <a:rPr lang="en-US" sz="1600" b="1" i="1" dirty="0">
                <a:latin typeface="Guardsman red"/>
              </a:rPr>
              <a:t>. mi):</a:t>
            </a:r>
          </a:p>
          <a:p>
            <a:r>
              <a:rPr lang="en-US" sz="1600" dirty="0">
                <a:latin typeface="Guardsman red"/>
              </a:rPr>
              <a:t>[Redacted]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A06BB4-8806-A984-6F44-4CBDF47D7058}"/>
              </a:ext>
            </a:extLst>
          </p:cNvPr>
          <p:cNvSpPr txBox="1"/>
          <p:nvPr/>
        </p:nvSpPr>
        <p:spPr>
          <a:xfrm>
            <a:off x="8700586" y="1763613"/>
            <a:ext cx="1747759" cy="584775"/>
          </a:xfrm>
          <a:prstGeom prst="rect">
            <a:avLst/>
          </a:prstGeom>
          <a:noFill/>
          <a:ln>
            <a:solidFill>
              <a:srgbClr val="C6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uardsman red"/>
              </a:rPr>
              <a:t>Share Age (</a:t>
            </a:r>
            <a:r>
              <a:rPr lang="en-US" sz="1600" b="1" i="1" dirty="0">
                <a:latin typeface="Guardsman red"/>
              </a:rPr>
              <a:t>55+</a:t>
            </a:r>
            <a:r>
              <a:rPr lang="en-US" sz="1600" b="1" dirty="0">
                <a:latin typeface="Guardsman red"/>
              </a:rPr>
              <a:t>):</a:t>
            </a:r>
            <a:endParaRPr lang="en-US" sz="1600" b="1" i="1" dirty="0">
              <a:latin typeface="Guardsman red"/>
            </a:endParaRPr>
          </a:p>
          <a:p>
            <a:r>
              <a:rPr lang="en-US" sz="1600" dirty="0">
                <a:latin typeface="Guardsman red"/>
              </a:rPr>
              <a:t>[Redacted]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84091D-E175-7442-3273-8A40275E59A5}"/>
              </a:ext>
            </a:extLst>
          </p:cNvPr>
          <p:cNvSpPr txBox="1"/>
          <p:nvPr/>
        </p:nvSpPr>
        <p:spPr>
          <a:xfrm>
            <a:off x="10539535" y="1763612"/>
            <a:ext cx="1533907" cy="584775"/>
          </a:xfrm>
          <a:prstGeom prst="rect">
            <a:avLst/>
          </a:prstGeom>
          <a:noFill/>
          <a:ln>
            <a:solidFill>
              <a:srgbClr val="C6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uardsman red"/>
              </a:rPr>
              <a:t>HH with Kids:</a:t>
            </a:r>
            <a:endParaRPr lang="en-US" sz="1600" b="1" i="1" dirty="0">
              <a:latin typeface="Guardsman red"/>
            </a:endParaRPr>
          </a:p>
          <a:p>
            <a:r>
              <a:rPr lang="en-US" sz="1600" dirty="0">
                <a:latin typeface="Guardsman red"/>
              </a:rPr>
              <a:t>[Redacted]</a:t>
            </a:r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7311C009-2465-D2C8-A616-783A11B7BB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3116615"/>
              </p:ext>
            </p:extLst>
          </p:nvPr>
        </p:nvGraphicFramePr>
        <p:xfrm>
          <a:off x="4173423" y="2448457"/>
          <a:ext cx="3294178" cy="191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03360B4B-2282-AF48-FBAD-404C4572ED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0261835"/>
              </p:ext>
            </p:extLst>
          </p:nvPr>
        </p:nvGraphicFramePr>
        <p:xfrm>
          <a:off x="7553326" y="2448456"/>
          <a:ext cx="4520118" cy="191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CEC762C-9A9D-DE97-1F87-7EC9BE77B3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040647"/>
              </p:ext>
            </p:extLst>
          </p:nvPr>
        </p:nvGraphicFramePr>
        <p:xfrm>
          <a:off x="4188380" y="4459371"/>
          <a:ext cx="7900020" cy="233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7777E3EE-90FE-35EA-7D12-3B38504F9B9F}"/>
              </a:ext>
            </a:extLst>
          </p:cNvPr>
          <p:cNvSpPr txBox="1">
            <a:spLocks/>
          </p:cNvSpPr>
          <p:nvPr/>
        </p:nvSpPr>
        <p:spPr>
          <a:xfrm>
            <a:off x="9345200" y="64256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FA7D70-52BF-4D9F-A014-1293FC3607F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45969C-93D5-FEAA-6253-27DB63CD56B8}"/>
              </a:ext>
            </a:extLst>
          </p:cNvPr>
          <p:cNvSpPr txBox="1"/>
          <p:nvPr/>
        </p:nvSpPr>
        <p:spPr>
          <a:xfrm>
            <a:off x="6905938" y="4534155"/>
            <a:ext cx="440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/>
              <a:t>100 = National Average</a:t>
            </a:r>
          </a:p>
        </p:txBody>
      </p:sp>
      <p:sp>
        <p:nvSpPr>
          <p:cNvPr id="2" name="Terminator 1">
            <a:extLst>
              <a:ext uri="{FF2B5EF4-FFF2-40B4-BE49-F238E27FC236}">
                <a16:creationId xmlns:a16="http://schemas.microsoft.com/office/drawing/2014/main" id="{52B46223-8A63-D8A6-E01E-91C42803039E}"/>
              </a:ext>
            </a:extLst>
          </p:cNvPr>
          <p:cNvSpPr/>
          <p:nvPr/>
        </p:nvSpPr>
        <p:spPr>
          <a:xfrm>
            <a:off x="509636" y="1156106"/>
            <a:ext cx="947009" cy="255483"/>
          </a:xfrm>
          <a:prstGeom prst="flowChartTermina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</a:rPr>
              <a:t>Example</a:t>
            </a:r>
            <a:endParaRPr lang="en-US" sz="1600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182418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1C427-563C-F80E-7CCF-470C22C4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3E9028-EB0E-5D1E-88B2-FC86579A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821" y="6336400"/>
            <a:ext cx="2743200" cy="365125"/>
          </a:xfrm>
        </p:spPr>
        <p:txBody>
          <a:bodyPr/>
          <a:lstStyle/>
          <a:p>
            <a:fld id="{B3FA7D70-52BF-4D9F-A014-1293FC3607F0}" type="slidenum">
              <a:rPr lang="en-US" smtClean="0"/>
              <a:pPr/>
              <a:t>12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C664F6-E5D3-86AB-D58A-C9EB4A08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9258978" cy="636739"/>
          </a:xfrm>
        </p:spPr>
        <p:txBody>
          <a:bodyPr>
            <a:normAutofit fontScale="90000"/>
          </a:bodyPr>
          <a:lstStyle/>
          <a:p>
            <a:r>
              <a:rPr lang="en-US"/>
              <a:t>Key Store Attributes Driving Demand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2C25B3-A5E7-3D3D-61F4-20C7C8605084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4C5B9BCD-B033-5BDC-C7D1-ED9BD448B4D8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08B32EAD-B7E5-75EE-A6B6-0696DC076448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432A43FE-BFA5-AFDF-A2C6-E5DF975B1EE1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FFDA6B0E-0E8B-E967-104E-0B71FDBBAA30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87774C62-D02A-0BDB-AA3E-25829F6EB0A2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4D1AAF9E-0C52-1E53-8653-C3CADC5EF7FE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9E9C57B-DEA4-A999-53C6-044ED6D724D1}"/>
              </a:ext>
            </a:extLst>
          </p:cNvPr>
          <p:cNvSpPr/>
          <p:nvPr/>
        </p:nvSpPr>
        <p:spPr>
          <a:xfrm>
            <a:off x="4438859" y="1125836"/>
            <a:ext cx="3100039" cy="249489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Elastic Net (L1 + L2) Engine</a:t>
            </a:r>
            <a:endParaRPr kumimoji="0" lang="en-US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E34E813-99FA-98E5-C442-B95C12BB182D}"/>
              </a:ext>
            </a:extLst>
          </p:cNvPr>
          <p:cNvSpPr/>
          <p:nvPr/>
        </p:nvSpPr>
        <p:spPr>
          <a:xfrm rot="5400000">
            <a:off x="5953942" y="645153"/>
            <a:ext cx="369331" cy="4781837"/>
          </a:xfrm>
          <a:prstGeom prst="rightBrace">
            <a:avLst>
              <a:gd name="adj1" fmla="val 9632"/>
              <a:gd name="adj2" fmla="val 502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E527BD5-2371-23DF-D85C-6E33D7C867B4}"/>
                  </a:ext>
                </a:extLst>
              </p:cNvPr>
              <p:cNvSpPr txBox="1"/>
              <p:nvPr/>
            </p:nvSpPr>
            <p:spPr>
              <a:xfrm>
                <a:off x="1248086" y="2345737"/>
                <a:ext cx="9757136" cy="837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/>
                        <m:t>min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l-GR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|+ (1−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²]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E527BD5-2371-23DF-D85C-6E33D7C86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086" y="2345737"/>
                <a:ext cx="9757136" cy="8376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9" name="Content Placeholder 1">
            <a:extLst>
              <a:ext uri="{FF2B5EF4-FFF2-40B4-BE49-F238E27FC236}">
                <a16:creationId xmlns:a16="http://schemas.microsoft.com/office/drawing/2014/main" id="{45FB0709-E78F-4345-7C57-47DED5557B59}"/>
              </a:ext>
            </a:extLst>
          </p:cNvPr>
          <p:cNvSpPr txBox="1">
            <a:spLocks/>
          </p:cNvSpPr>
          <p:nvPr/>
        </p:nvSpPr>
        <p:spPr>
          <a:xfrm>
            <a:off x="1663940" y="2013158"/>
            <a:ext cx="8548083" cy="2987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/>
              <a:t>Sparsity Filter (</a:t>
            </a:r>
            <a:r>
              <a:rPr lang="en-US" sz="12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 of stores) + </a:t>
            </a:r>
            <a:r>
              <a:rPr lang="en-US" sz="1200"/>
              <a:t>Sales Threshold </a:t>
            </a:r>
            <a:r>
              <a:rPr lang="en-US" sz="12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(&lt; 0.1% sales)</a:t>
            </a:r>
          </a:p>
        </p:txBody>
      </p: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17CCB52B-3BB5-9B46-CE0B-85864E2281E6}"/>
              </a:ext>
            </a:extLst>
          </p:cNvPr>
          <p:cNvCxnSpPr>
            <a:cxnSpLocks/>
          </p:cNvCxnSpPr>
          <p:nvPr/>
        </p:nvCxnSpPr>
        <p:spPr>
          <a:xfrm>
            <a:off x="6121110" y="2359368"/>
            <a:ext cx="0" cy="1824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1" name="Content Placeholder 1">
            <a:extLst>
              <a:ext uri="{FF2B5EF4-FFF2-40B4-BE49-F238E27FC236}">
                <a16:creationId xmlns:a16="http://schemas.microsoft.com/office/drawing/2014/main" id="{52D20636-A466-8840-CCC2-B23EFD20DA66}"/>
              </a:ext>
            </a:extLst>
          </p:cNvPr>
          <p:cNvSpPr txBox="1">
            <a:spLocks/>
          </p:cNvSpPr>
          <p:nvPr/>
        </p:nvSpPr>
        <p:spPr>
          <a:xfrm>
            <a:off x="1809813" y="1429884"/>
            <a:ext cx="8358132" cy="2987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95 Brands + 41 Item Types + Facings</a:t>
            </a:r>
          </a:p>
        </p:txBody>
      </p: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21F8AAB1-336E-ECED-E6FA-DB4EBFA138AF}"/>
              </a:ext>
            </a:extLst>
          </p:cNvPr>
          <p:cNvCxnSpPr>
            <a:cxnSpLocks/>
          </p:cNvCxnSpPr>
          <p:nvPr/>
        </p:nvCxnSpPr>
        <p:spPr>
          <a:xfrm>
            <a:off x="6121110" y="1788508"/>
            <a:ext cx="0" cy="189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Text 18">
            <a:extLst>
              <a:ext uri="{FF2B5EF4-FFF2-40B4-BE49-F238E27FC236}">
                <a16:creationId xmlns:a16="http://schemas.microsoft.com/office/drawing/2014/main" id="{A7EF4E51-144E-DA85-68A5-BB7C2B8FB092}"/>
              </a:ext>
            </a:extLst>
          </p:cNvPr>
          <p:cNvSpPr/>
          <p:nvPr/>
        </p:nvSpPr>
        <p:spPr>
          <a:xfrm>
            <a:off x="813184" y="4786174"/>
            <a:ext cx="10058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New Sales%(Target Brand) = Current Sales%(Target Brand) + </a:t>
            </a:r>
            <a:r>
              <a:rPr lang="el-GR" sz="12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β(</a:t>
            </a:r>
            <a:r>
              <a:rPr lang="en-US" sz="1200" b="1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Lever→Target</a:t>
            </a:r>
            <a:r>
              <a:rPr lang="en-US" sz="12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) × </a:t>
            </a:r>
            <a:r>
              <a:rPr lang="el-GR" sz="12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Δ</a:t>
            </a:r>
            <a:r>
              <a:rPr lang="en-US" sz="12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Facing%(Lever Brand)</a:t>
            </a:r>
            <a:endParaRPr lang="en-US" sz="12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41CB60-5F95-E626-7113-5513F9F572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045"/>
          <a:stretch>
            <a:fillRect/>
          </a:stretch>
        </p:blipFill>
        <p:spPr>
          <a:xfrm>
            <a:off x="2182619" y="5162300"/>
            <a:ext cx="7338657" cy="1162485"/>
          </a:xfrm>
          <a:prstGeom prst="rect">
            <a:avLst/>
          </a:prstGeom>
        </p:spPr>
      </p:pic>
      <p:sp>
        <p:nvSpPr>
          <p:cNvPr id="15" name="Shape 11">
            <a:extLst>
              <a:ext uri="{FF2B5EF4-FFF2-40B4-BE49-F238E27FC236}">
                <a16:creationId xmlns:a16="http://schemas.microsoft.com/office/drawing/2014/main" id="{9304B6D5-C00A-0A5D-CC61-5A0BEDAD0B92}"/>
              </a:ext>
            </a:extLst>
          </p:cNvPr>
          <p:cNvSpPr/>
          <p:nvPr/>
        </p:nvSpPr>
        <p:spPr>
          <a:xfrm>
            <a:off x="1554268" y="3261352"/>
            <a:ext cx="2834640" cy="64295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1F354C3-0605-94F6-8946-117D200449A1}"/>
              </a:ext>
            </a:extLst>
          </p:cNvPr>
          <p:cNvSpPr/>
          <p:nvPr/>
        </p:nvSpPr>
        <p:spPr>
          <a:xfrm>
            <a:off x="1554268" y="3261352"/>
            <a:ext cx="283464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CF24301-E40D-85FF-B37C-8044B8F2587B}"/>
              </a:ext>
            </a:extLst>
          </p:cNvPr>
          <p:cNvSpPr/>
          <p:nvPr/>
        </p:nvSpPr>
        <p:spPr>
          <a:xfrm>
            <a:off x="1554268" y="33162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6FEB"/>
                </a:solidFill>
              </a:rPr>
              <a:t>DIRECT EFFECT</a:t>
            </a:r>
            <a:endParaRPr lang="en-US" sz="120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BB6D752C-1386-1F8F-BF33-D2D1E41290B6}"/>
              </a:ext>
            </a:extLst>
          </p:cNvPr>
          <p:cNvSpPr/>
          <p:nvPr/>
        </p:nvSpPr>
        <p:spPr>
          <a:xfrm>
            <a:off x="1554268" y="351738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Brand's own facing share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change → its own sales</a:t>
            </a:r>
            <a:endParaRPr lang="en-US" sz="110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AE0D4AF9-7619-2E58-18D7-935C5A735AA8}"/>
              </a:ext>
            </a:extLst>
          </p:cNvPr>
          <p:cNvSpPr/>
          <p:nvPr/>
        </p:nvSpPr>
        <p:spPr>
          <a:xfrm>
            <a:off x="4526068" y="3261352"/>
            <a:ext cx="2834640" cy="642958"/>
          </a:xfrm>
          <a:prstGeom prst="rect">
            <a:avLst/>
          </a:prstGeom>
          <a:solidFill>
            <a:srgbClr val="F0FDFB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504FFDF3-BBFB-66C9-7FA6-51A322D3B676}"/>
              </a:ext>
            </a:extLst>
          </p:cNvPr>
          <p:cNvSpPr/>
          <p:nvPr/>
        </p:nvSpPr>
        <p:spPr>
          <a:xfrm>
            <a:off x="4526068" y="3261352"/>
            <a:ext cx="2834640" cy="494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15028EB3-E1FD-85A1-BBD6-13AFC0DBDB3E}"/>
              </a:ext>
            </a:extLst>
          </p:cNvPr>
          <p:cNvSpPr/>
          <p:nvPr/>
        </p:nvSpPr>
        <p:spPr>
          <a:xfrm>
            <a:off x="4526068" y="33162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D9488"/>
                </a:solidFill>
              </a:rPr>
              <a:t>HALO EFFECT</a:t>
            </a:r>
            <a:endParaRPr lang="en-US" sz="12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DCFAB7F0-FD41-376F-9A31-A622B4A30D94}"/>
              </a:ext>
            </a:extLst>
          </p:cNvPr>
          <p:cNvSpPr/>
          <p:nvPr/>
        </p:nvSpPr>
        <p:spPr>
          <a:xfrm>
            <a:off x="4526068" y="351738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Growing brand A's space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→ lifts brand B's sales</a:t>
            </a:r>
            <a:endParaRPr lang="en-US" sz="1100"/>
          </a:p>
        </p:txBody>
      </p:sp>
      <p:sp>
        <p:nvSpPr>
          <p:cNvPr id="1093" name="Shape 19">
            <a:extLst>
              <a:ext uri="{FF2B5EF4-FFF2-40B4-BE49-F238E27FC236}">
                <a16:creationId xmlns:a16="http://schemas.microsoft.com/office/drawing/2014/main" id="{556E7E3B-9901-BAD6-DAE5-5AFD5943BE97}"/>
              </a:ext>
            </a:extLst>
          </p:cNvPr>
          <p:cNvSpPr/>
          <p:nvPr/>
        </p:nvSpPr>
        <p:spPr>
          <a:xfrm>
            <a:off x="7497868" y="3261352"/>
            <a:ext cx="2834640" cy="642958"/>
          </a:xfrm>
          <a:prstGeom prst="rect">
            <a:avLst/>
          </a:prstGeom>
          <a:solidFill>
            <a:srgbClr val="FFF5F4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Shape 20">
            <a:extLst>
              <a:ext uri="{FF2B5EF4-FFF2-40B4-BE49-F238E27FC236}">
                <a16:creationId xmlns:a16="http://schemas.microsoft.com/office/drawing/2014/main" id="{2C88691A-28A2-D997-3232-5143FCE939FE}"/>
              </a:ext>
            </a:extLst>
          </p:cNvPr>
          <p:cNvSpPr/>
          <p:nvPr/>
        </p:nvSpPr>
        <p:spPr>
          <a:xfrm>
            <a:off x="7497868" y="3261352"/>
            <a:ext cx="2834640" cy="5486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2" name="Text 21">
            <a:extLst>
              <a:ext uri="{FF2B5EF4-FFF2-40B4-BE49-F238E27FC236}">
                <a16:creationId xmlns:a16="http://schemas.microsoft.com/office/drawing/2014/main" id="{10282E1F-A2D6-6031-AB9A-0CBB6783FB2A}"/>
              </a:ext>
            </a:extLst>
          </p:cNvPr>
          <p:cNvSpPr/>
          <p:nvPr/>
        </p:nvSpPr>
        <p:spPr>
          <a:xfrm>
            <a:off x="7497868" y="33162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05B4B"/>
                </a:solidFill>
              </a:rPr>
              <a:t>CANNIBALIZATION</a:t>
            </a:r>
            <a:endParaRPr lang="en-US" sz="1200"/>
          </a:p>
        </p:txBody>
      </p:sp>
      <p:sp>
        <p:nvSpPr>
          <p:cNvPr id="1103" name="Text 22">
            <a:extLst>
              <a:ext uri="{FF2B5EF4-FFF2-40B4-BE49-F238E27FC236}">
                <a16:creationId xmlns:a16="http://schemas.microsoft.com/office/drawing/2014/main" id="{6A217EDC-0A02-7388-18BE-44F89305BB02}"/>
              </a:ext>
            </a:extLst>
          </p:cNvPr>
          <p:cNvSpPr/>
          <p:nvPr/>
        </p:nvSpPr>
        <p:spPr>
          <a:xfrm>
            <a:off x="7497868" y="351738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Growing brand A's space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→ steals sales from B</a:t>
            </a:r>
            <a:endParaRPr lang="en-US" sz="1100"/>
          </a:p>
        </p:txBody>
      </p:sp>
      <p:sp>
        <p:nvSpPr>
          <p:cNvPr id="1104" name="Shape 23">
            <a:extLst>
              <a:ext uri="{FF2B5EF4-FFF2-40B4-BE49-F238E27FC236}">
                <a16:creationId xmlns:a16="http://schemas.microsoft.com/office/drawing/2014/main" id="{49DAC519-C3E5-5DA6-6D07-A38E6FB9B13B}"/>
              </a:ext>
            </a:extLst>
          </p:cNvPr>
          <p:cNvSpPr/>
          <p:nvPr/>
        </p:nvSpPr>
        <p:spPr>
          <a:xfrm>
            <a:off x="1554268" y="4102600"/>
            <a:ext cx="8595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5" name="Text 25">
            <a:extLst>
              <a:ext uri="{FF2B5EF4-FFF2-40B4-BE49-F238E27FC236}">
                <a16:creationId xmlns:a16="http://schemas.microsoft.com/office/drawing/2014/main" id="{EB68F8EF-3A78-6F46-2459-47EEA5455397}"/>
              </a:ext>
            </a:extLst>
          </p:cNvPr>
          <p:cNvSpPr/>
          <p:nvPr/>
        </p:nvSpPr>
        <p:spPr>
          <a:xfrm>
            <a:off x="4955116" y="4022146"/>
            <a:ext cx="2194560" cy="16459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280"/>
                </a:solidFill>
              </a:rPr>
              <a:t>Reliability Check ↓</a:t>
            </a:r>
            <a:endParaRPr lang="en-US" sz="850"/>
          </a:p>
        </p:txBody>
      </p:sp>
      <p:sp>
        <p:nvSpPr>
          <p:cNvPr id="1106" name="Shape 26">
            <a:extLst>
              <a:ext uri="{FF2B5EF4-FFF2-40B4-BE49-F238E27FC236}">
                <a16:creationId xmlns:a16="http://schemas.microsoft.com/office/drawing/2014/main" id="{B0EDB847-13C3-D229-3F5F-3990AA1A2762}"/>
              </a:ext>
            </a:extLst>
          </p:cNvPr>
          <p:cNvSpPr/>
          <p:nvPr/>
        </p:nvSpPr>
        <p:spPr>
          <a:xfrm>
            <a:off x="1809813" y="4240365"/>
            <a:ext cx="1723528" cy="509195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7" name="Shape 27">
            <a:extLst>
              <a:ext uri="{FF2B5EF4-FFF2-40B4-BE49-F238E27FC236}">
                <a16:creationId xmlns:a16="http://schemas.microsoft.com/office/drawing/2014/main" id="{ECA22D8B-8854-8378-877A-AB485597EFBD}"/>
              </a:ext>
            </a:extLst>
          </p:cNvPr>
          <p:cNvSpPr/>
          <p:nvPr/>
        </p:nvSpPr>
        <p:spPr>
          <a:xfrm>
            <a:off x="2564073" y="4240367"/>
            <a:ext cx="256032" cy="256032"/>
          </a:xfrm>
          <a:prstGeom prst="ellipse">
            <a:avLst/>
          </a:prstGeom>
          <a:solidFill>
            <a:srgbClr val="0F172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8" name="Text 28">
            <a:extLst>
              <a:ext uri="{FF2B5EF4-FFF2-40B4-BE49-F238E27FC236}">
                <a16:creationId xmlns:a16="http://schemas.microsoft.com/office/drawing/2014/main" id="{4C8CF94F-0886-A86C-ADAC-6629ECA492A5}"/>
              </a:ext>
            </a:extLst>
          </p:cNvPr>
          <p:cNvSpPr/>
          <p:nvPr/>
        </p:nvSpPr>
        <p:spPr>
          <a:xfrm>
            <a:off x="2564073" y="4240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1109" name="Text 29">
            <a:extLst>
              <a:ext uri="{FF2B5EF4-FFF2-40B4-BE49-F238E27FC236}">
                <a16:creationId xmlns:a16="http://schemas.microsoft.com/office/drawing/2014/main" id="{3E2D3B51-34F8-F001-37C1-D0D2A42739E1}"/>
              </a:ext>
            </a:extLst>
          </p:cNvPr>
          <p:cNvSpPr/>
          <p:nvPr/>
        </p:nvSpPr>
        <p:spPr>
          <a:xfrm>
            <a:off x="1901253" y="4514687"/>
            <a:ext cx="1632088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Separate EN</a:t>
            </a:r>
            <a:r>
              <a:rPr lang="en-US" sz="1100"/>
              <a:t> </a:t>
            </a:r>
            <a:r>
              <a:rPr lang="en-US" sz="1100">
                <a:solidFill>
                  <a:srgbClr val="1A1A2E"/>
                </a:solidFill>
              </a:rPr>
              <a:t>per item type</a:t>
            </a:r>
            <a:endParaRPr lang="en-US" sz="1100"/>
          </a:p>
        </p:txBody>
      </p:sp>
      <p:sp>
        <p:nvSpPr>
          <p:cNvPr id="1110" name="Shape 30">
            <a:extLst>
              <a:ext uri="{FF2B5EF4-FFF2-40B4-BE49-F238E27FC236}">
                <a16:creationId xmlns:a16="http://schemas.microsoft.com/office/drawing/2014/main" id="{31D89BFF-5C14-AAF0-DA10-8E0C184F3DBF}"/>
              </a:ext>
            </a:extLst>
          </p:cNvPr>
          <p:cNvSpPr/>
          <p:nvPr/>
        </p:nvSpPr>
        <p:spPr>
          <a:xfrm>
            <a:off x="3542485" y="4514687"/>
            <a:ext cx="164592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1" name="Shape 31">
            <a:extLst>
              <a:ext uri="{FF2B5EF4-FFF2-40B4-BE49-F238E27FC236}">
                <a16:creationId xmlns:a16="http://schemas.microsoft.com/office/drawing/2014/main" id="{72B2D42B-80CB-E37C-A4C1-607E50398777}"/>
              </a:ext>
            </a:extLst>
          </p:cNvPr>
          <p:cNvSpPr/>
          <p:nvPr/>
        </p:nvSpPr>
        <p:spPr>
          <a:xfrm>
            <a:off x="3624781" y="4240365"/>
            <a:ext cx="1723528" cy="509195"/>
          </a:xfrm>
          <a:prstGeom prst="rect">
            <a:avLst/>
          </a:prstGeom>
          <a:solidFill>
            <a:schemeClr val="accent6">
              <a:lumMod val="90000"/>
            </a:schemeClr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>
              <a:highlight>
                <a:srgbClr val="00FF00"/>
              </a:highlight>
            </a:endParaRPr>
          </a:p>
        </p:txBody>
      </p:sp>
      <p:sp>
        <p:nvSpPr>
          <p:cNvPr id="1112" name="Shape 32">
            <a:extLst>
              <a:ext uri="{FF2B5EF4-FFF2-40B4-BE49-F238E27FC236}">
                <a16:creationId xmlns:a16="http://schemas.microsoft.com/office/drawing/2014/main" id="{6141BB84-71AC-AA42-AC73-F0DB7506E4EC}"/>
              </a:ext>
            </a:extLst>
          </p:cNvPr>
          <p:cNvSpPr/>
          <p:nvPr/>
        </p:nvSpPr>
        <p:spPr>
          <a:xfrm>
            <a:off x="4407684" y="4240367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highlight>
                <a:srgbClr val="00FF00"/>
              </a:highlight>
            </a:endParaRPr>
          </a:p>
        </p:txBody>
      </p:sp>
      <p:sp>
        <p:nvSpPr>
          <p:cNvPr id="1113" name="Text 33">
            <a:extLst>
              <a:ext uri="{FF2B5EF4-FFF2-40B4-BE49-F238E27FC236}">
                <a16:creationId xmlns:a16="http://schemas.microsoft.com/office/drawing/2014/main" id="{5E1D4B23-C3BF-46C2-2296-C441A9E4CFE3}"/>
              </a:ext>
            </a:extLst>
          </p:cNvPr>
          <p:cNvSpPr/>
          <p:nvPr/>
        </p:nvSpPr>
        <p:spPr>
          <a:xfrm>
            <a:off x="4407684" y="4240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114" name="Text 34">
            <a:extLst>
              <a:ext uri="{FF2B5EF4-FFF2-40B4-BE49-F238E27FC236}">
                <a16:creationId xmlns:a16="http://schemas.microsoft.com/office/drawing/2014/main" id="{B5AC15CC-C8BD-31CB-545B-A258D523B1DC}"/>
              </a:ext>
            </a:extLst>
          </p:cNvPr>
          <p:cNvSpPr/>
          <p:nvPr/>
        </p:nvSpPr>
        <p:spPr>
          <a:xfrm>
            <a:off x="3707076" y="4525643"/>
            <a:ext cx="1604386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Coefficient</a:t>
            </a:r>
            <a:r>
              <a:rPr lang="en-US" sz="1100"/>
              <a:t> </a:t>
            </a:r>
            <a:r>
              <a:rPr lang="en-US" sz="1100">
                <a:solidFill>
                  <a:srgbClr val="1A1A2E"/>
                </a:solidFill>
              </a:rPr>
              <a:t>of Variance</a:t>
            </a:r>
            <a:endParaRPr lang="en-US" sz="1100"/>
          </a:p>
        </p:txBody>
      </p:sp>
      <p:sp>
        <p:nvSpPr>
          <p:cNvPr id="1115" name="Shape 35">
            <a:extLst>
              <a:ext uri="{FF2B5EF4-FFF2-40B4-BE49-F238E27FC236}">
                <a16:creationId xmlns:a16="http://schemas.microsoft.com/office/drawing/2014/main" id="{A88F0031-BCB7-D521-F216-3AA459D541F7}"/>
              </a:ext>
            </a:extLst>
          </p:cNvPr>
          <p:cNvSpPr/>
          <p:nvPr/>
        </p:nvSpPr>
        <p:spPr>
          <a:xfrm>
            <a:off x="5353437" y="4514687"/>
            <a:ext cx="164592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6" name="Shape 36">
            <a:extLst>
              <a:ext uri="{FF2B5EF4-FFF2-40B4-BE49-F238E27FC236}">
                <a16:creationId xmlns:a16="http://schemas.microsoft.com/office/drawing/2014/main" id="{9B4FA285-52FA-3C4C-1C1B-26068F36F8B2}"/>
              </a:ext>
            </a:extLst>
          </p:cNvPr>
          <p:cNvSpPr/>
          <p:nvPr/>
        </p:nvSpPr>
        <p:spPr>
          <a:xfrm>
            <a:off x="5522044" y="4240365"/>
            <a:ext cx="1316736" cy="509195"/>
          </a:xfrm>
          <a:prstGeom prst="rect">
            <a:avLst/>
          </a:prstGeom>
          <a:solidFill>
            <a:srgbClr val="F0FDFB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117" name="Shape 37">
            <a:extLst>
              <a:ext uri="{FF2B5EF4-FFF2-40B4-BE49-F238E27FC236}">
                <a16:creationId xmlns:a16="http://schemas.microsoft.com/office/drawing/2014/main" id="{4CDF8F0F-460C-9E70-D164-4B8B0742D81C}"/>
              </a:ext>
            </a:extLst>
          </p:cNvPr>
          <p:cNvSpPr/>
          <p:nvPr/>
        </p:nvSpPr>
        <p:spPr>
          <a:xfrm>
            <a:off x="6052396" y="4240367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8" name="Text 38">
            <a:extLst>
              <a:ext uri="{FF2B5EF4-FFF2-40B4-BE49-F238E27FC236}">
                <a16:creationId xmlns:a16="http://schemas.microsoft.com/office/drawing/2014/main" id="{E5B090D4-15D7-0DA7-3005-4D703FBCB05C}"/>
              </a:ext>
            </a:extLst>
          </p:cNvPr>
          <p:cNvSpPr/>
          <p:nvPr/>
        </p:nvSpPr>
        <p:spPr>
          <a:xfrm>
            <a:off x="6052396" y="4240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119" name="Text 39">
            <a:extLst>
              <a:ext uri="{FF2B5EF4-FFF2-40B4-BE49-F238E27FC236}">
                <a16:creationId xmlns:a16="http://schemas.microsoft.com/office/drawing/2014/main" id="{C44086C2-BDBD-886C-F19F-A7F11CA0EB3B}"/>
              </a:ext>
            </a:extLst>
          </p:cNvPr>
          <p:cNvSpPr/>
          <p:nvPr/>
        </p:nvSpPr>
        <p:spPr>
          <a:xfrm>
            <a:off x="5522044" y="4521863"/>
            <a:ext cx="1316736" cy="22425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Beta vs CV</a:t>
            </a:r>
            <a:endParaRPr lang="en-US" sz="1100"/>
          </a:p>
        </p:txBody>
      </p:sp>
      <p:sp>
        <p:nvSpPr>
          <p:cNvPr id="1120" name="Shape 40">
            <a:extLst>
              <a:ext uri="{FF2B5EF4-FFF2-40B4-BE49-F238E27FC236}">
                <a16:creationId xmlns:a16="http://schemas.microsoft.com/office/drawing/2014/main" id="{CDF81FAE-1617-6FF1-4878-45C2B14A0965}"/>
              </a:ext>
            </a:extLst>
          </p:cNvPr>
          <p:cNvSpPr/>
          <p:nvPr/>
        </p:nvSpPr>
        <p:spPr>
          <a:xfrm>
            <a:off x="6847924" y="4514687"/>
            <a:ext cx="164592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1" name="Shape 41">
            <a:extLst>
              <a:ext uri="{FF2B5EF4-FFF2-40B4-BE49-F238E27FC236}">
                <a16:creationId xmlns:a16="http://schemas.microsoft.com/office/drawing/2014/main" id="{6A53DB0D-29F2-27A7-BD94-B82FF411F1FF}"/>
              </a:ext>
            </a:extLst>
          </p:cNvPr>
          <p:cNvSpPr/>
          <p:nvPr/>
        </p:nvSpPr>
        <p:spPr>
          <a:xfrm>
            <a:off x="6930220" y="4240365"/>
            <a:ext cx="1316736" cy="509195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2" name="Shape 42">
            <a:extLst>
              <a:ext uri="{FF2B5EF4-FFF2-40B4-BE49-F238E27FC236}">
                <a16:creationId xmlns:a16="http://schemas.microsoft.com/office/drawing/2014/main" id="{4DECD6AA-393F-9DD1-C922-3DD09F6858EF}"/>
              </a:ext>
            </a:extLst>
          </p:cNvPr>
          <p:cNvSpPr/>
          <p:nvPr/>
        </p:nvSpPr>
        <p:spPr>
          <a:xfrm>
            <a:off x="7460572" y="4240367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3" name="Text 43">
            <a:extLst>
              <a:ext uri="{FF2B5EF4-FFF2-40B4-BE49-F238E27FC236}">
                <a16:creationId xmlns:a16="http://schemas.microsoft.com/office/drawing/2014/main" id="{1209D2E5-8977-AB68-7F75-1B49CCB20453}"/>
              </a:ext>
            </a:extLst>
          </p:cNvPr>
          <p:cNvSpPr/>
          <p:nvPr/>
        </p:nvSpPr>
        <p:spPr>
          <a:xfrm>
            <a:off x="7460572" y="4240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1124" name="Text 44">
            <a:extLst>
              <a:ext uri="{FF2B5EF4-FFF2-40B4-BE49-F238E27FC236}">
                <a16:creationId xmlns:a16="http://schemas.microsoft.com/office/drawing/2014/main" id="{D5D47DC2-D270-C6D4-A81C-972468072F8A}"/>
              </a:ext>
            </a:extLst>
          </p:cNvPr>
          <p:cNvSpPr/>
          <p:nvPr/>
        </p:nvSpPr>
        <p:spPr>
          <a:xfrm>
            <a:off x="6930220" y="4514687"/>
            <a:ext cx="1316736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VIF Check</a:t>
            </a:r>
            <a:endParaRPr lang="en-US" sz="1100"/>
          </a:p>
        </p:txBody>
      </p:sp>
      <p:sp>
        <p:nvSpPr>
          <p:cNvPr id="1125" name="Shape 45">
            <a:extLst>
              <a:ext uri="{FF2B5EF4-FFF2-40B4-BE49-F238E27FC236}">
                <a16:creationId xmlns:a16="http://schemas.microsoft.com/office/drawing/2014/main" id="{8AFA1C8A-8F69-9A14-5DB8-77A8474413C6}"/>
              </a:ext>
            </a:extLst>
          </p:cNvPr>
          <p:cNvSpPr/>
          <p:nvPr/>
        </p:nvSpPr>
        <p:spPr>
          <a:xfrm>
            <a:off x="8256100" y="4514687"/>
            <a:ext cx="164592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6" name="Shape 46">
            <a:extLst>
              <a:ext uri="{FF2B5EF4-FFF2-40B4-BE49-F238E27FC236}">
                <a16:creationId xmlns:a16="http://schemas.microsoft.com/office/drawing/2014/main" id="{36B08948-04E0-E7A3-50CF-54AD36B1185B}"/>
              </a:ext>
            </a:extLst>
          </p:cNvPr>
          <p:cNvSpPr/>
          <p:nvPr/>
        </p:nvSpPr>
        <p:spPr>
          <a:xfrm>
            <a:off x="8338396" y="4240365"/>
            <a:ext cx="1316736" cy="509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7" name="Shape 47">
            <a:extLst>
              <a:ext uri="{FF2B5EF4-FFF2-40B4-BE49-F238E27FC236}">
                <a16:creationId xmlns:a16="http://schemas.microsoft.com/office/drawing/2014/main" id="{0D5E09A9-565E-5A07-8F48-643BB154D6CF}"/>
              </a:ext>
            </a:extLst>
          </p:cNvPr>
          <p:cNvSpPr/>
          <p:nvPr/>
        </p:nvSpPr>
        <p:spPr>
          <a:xfrm>
            <a:off x="8868748" y="4240367"/>
            <a:ext cx="256032" cy="2560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8" name="Text 48">
            <a:extLst>
              <a:ext uri="{FF2B5EF4-FFF2-40B4-BE49-F238E27FC236}">
                <a16:creationId xmlns:a16="http://schemas.microsoft.com/office/drawing/2014/main" id="{3C5EB7C7-AEC1-92FB-7DD6-DEE32C345536}"/>
              </a:ext>
            </a:extLst>
          </p:cNvPr>
          <p:cNvSpPr/>
          <p:nvPr/>
        </p:nvSpPr>
        <p:spPr>
          <a:xfrm>
            <a:off x="8868748" y="4240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5</a:t>
            </a:r>
            <a:endParaRPr lang="en-US" sz="900"/>
          </a:p>
        </p:txBody>
      </p:sp>
      <p:sp>
        <p:nvSpPr>
          <p:cNvPr id="1129" name="Text 49">
            <a:extLst>
              <a:ext uri="{FF2B5EF4-FFF2-40B4-BE49-F238E27FC236}">
                <a16:creationId xmlns:a16="http://schemas.microsoft.com/office/drawing/2014/main" id="{987BB0B9-1AD6-300C-A2F4-F752AB72E38D}"/>
              </a:ext>
            </a:extLst>
          </p:cNvPr>
          <p:cNvSpPr/>
          <p:nvPr/>
        </p:nvSpPr>
        <p:spPr>
          <a:xfrm>
            <a:off x="8338396" y="4514687"/>
            <a:ext cx="1316736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</a:rPr>
              <a:t>Trust Score</a:t>
            </a:r>
            <a:endParaRPr lang="en-US" sz="11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A6D2FE-2575-1857-75AE-0B45CE97CD71}"/>
              </a:ext>
            </a:extLst>
          </p:cNvPr>
          <p:cNvSpPr/>
          <p:nvPr/>
        </p:nvSpPr>
        <p:spPr>
          <a:xfrm rot="16200000">
            <a:off x="5340047" y="5253396"/>
            <a:ext cx="686457" cy="14563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just"/>
            <a:r>
              <a:rPr lang="en-US" dirty="0"/>
              <a:t>[Redacted]</a:t>
            </a:r>
          </a:p>
        </p:txBody>
      </p:sp>
    </p:spTree>
    <p:extLst>
      <p:ext uri="{BB962C8B-B14F-4D97-AF65-F5344CB8AC3E}">
        <p14:creationId xmlns:p14="http://schemas.microsoft.com/office/powerpoint/2010/main" val="900066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0F64-CD40-AB3D-77EB-F2B51189B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172E2-90C7-1564-A447-C97C22F5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9821" y="6336400"/>
            <a:ext cx="2743200" cy="365125"/>
          </a:xfrm>
        </p:spPr>
        <p:txBody>
          <a:bodyPr/>
          <a:lstStyle/>
          <a:p>
            <a:fld id="{B3FA7D70-52BF-4D9F-A014-1293FC3607F0}" type="slidenum">
              <a:rPr lang="en-US" smtClean="0"/>
              <a:pPr/>
              <a:t>13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FA5720-A41A-7FB3-D1AD-54B682D8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9258978" cy="636739"/>
          </a:xfrm>
        </p:spPr>
        <p:txBody>
          <a:bodyPr>
            <a:normAutofit fontScale="90000"/>
          </a:bodyPr>
          <a:lstStyle/>
          <a:p>
            <a:r>
              <a:rPr lang="en-US"/>
              <a:t>Key Store Attributes Driving Demand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E66CBF-1665-50C2-391E-A9B82781D641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D17074AE-CC5A-54EE-2D05-9F041A5A024E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27DDF653-5F38-7859-B1E2-5F41E16AB75F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50A3B141-5D46-4DB2-5507-3A464F9F0B90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D0C9954E-6B65-A27E-3E5D-A8F12249B4A5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6E256002-6DFF-FF1C-2CE3-3B0E72EE5409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811A8C32-C885-9865-8F71-2806BEE49569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F1D4867C-7A52-B59E-AD04-561703BA06B5}"/>
              </a:ext>
            </a:extLst>
          </p:cNvPr>
          <p:cNvSpPr txBox="1">
            <a:spLocks/>
          </p:cNvSpPr>
          <p:nvPr/>
        </p:nvSpPr>
        <p:spPr>
          <a:xfrm>
            <a:off x="509636" y="1568741"/>
            <a:ext cx="4683149" cy="40587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/>
              <a:t>Shampoos and Conditioners: </a:t>
            </a:r>
          </a:p>
          <a:p>
            <a:pPr lvl="1"/>
            <a:r>
              <a:rPr lang="en-US" sz="1600"/>
              <a:t>A 1% facing-share increase is associated with about a xx% sales increase</a:t>
            </a:r>
          </a:p>
          <a:p>
            <a:pPr lvl="1"/>
            <a:r>
              <a:rPr lang="en-US" sz="1600"/>
              <a:t>Self effect or cross-product effect</a:t>
            </a:r>
          </a:p>
          <a:p>
            <a:pPr marL="457200" lvl="1" indent="0">
              <a:buNone/>
            </a:pPr>
            <a:endParaRPr lang="en-US" sz="1600" i="1"/>
          </a:p>
        </p:txBody>
      </p:sp>
      <p:sp>
        <p:nvSpPr>
          <p:cNvPr id="1095" name="Terminator 1094">
            <a:extLst>
              <a:ext uri="{FF2B5EF4-FFF2-40B4-BE49-F238E27FC236}">
                <a16:creationId xmlns:a16="http://schemas.microsoft.com/office/drawing/2014/main" id="{8945AEC9-7D73-3735-B57B-8BDD36DD75A1}"/>
              </a:ext>
            </a:extLst>
          </p:cNvPr>
          <p:cNvSpPr/>
          <p:nvPr/>
        </p:nvSpPr>
        <p:spPr>
          <a:xfrm>
            <a:off x="509636" y="1156106"/>
            <a:ext cx="947009" cy="255483"/>
          </a:xfrm>
          <a:prstGeom prst="flowChartTermina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</a:rPr>
              <a:t>Example</a:t>
            </a:r>
            <a:endParaRPr lang="en-US" sz="1600" dirty="0">
              <a:ln w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F60294-C2EC-9DF6-2A61-3DDB48251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00123"/>
              </p:ext>
            </p:extLst>
          </p:nvPr>
        </p:nvGraphicFramePr>
        <p:xfrm>
          <a:off x="1076067" y="3017416"/>
          <a:ext cx="3550286" cy="188101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74273">
                  <a:extLst>
                    <a:ext uri="{9D8B030D-6E8A-4147-A177-3AD203B41FA5}">
                      <a16:colId xmlns:a16="http://schemas.microsoft.com/office/drawing/2014/main" val="4083954302"/>
                    </a:ext>
                  </a:extLst>
                </a:gridCol>
                <a:gridCol w="674273">
                  <a:extLst>
                    <a:ext uri="{9D8B030D-6E8A-4147-A177-3AD203B41FA5}">
                      <a16:colId xmlns:a16="http://schemas.microsoft.com/office/drawing/2014/main" val="1994234861"/>
                    </a:ext>
                  </a:extLst>
                </a:gridCol>
                <a:gridCol w="765154">
                  <a:extLst>
                    <a:ext uri="{9D8B030D-6E8A-4147-A177-3AD203B41FA5}">
                      <a16:colId xmlns:a16="http://schemas.microsoft.com/office/drawing/2014/main" val="289505445"/>
                    </a:ext>
                  </a:extLst>
                </a:gridCol>
                <a:gridCol w="1436586">
                  <a:extLst>
                    <a:ext uri="{9D8B030D-6E8A-4147-A177-3AD203B41FA5}">
                      <a16:colId xmlns:a16="http://schemas.microsoft.com/office/drawing/2014/main" val="3280964074"/>
                    </a:ext>
                  </a:extLst>
                </a:gridCol>
              </a:tblGrid>
              <a:tr h="363968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Lever 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Target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Beta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Interpretation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001138476"/>
                  </a:ext>
                </a:extLst>
              </a:tr>
              <a:tr h="505682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C]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F]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[Redacted]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[Brand C] space steals from [Brand F] (Cannibalization)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346129153"/>
                  </a:ext>
                </a:extLst>
              </a:tr>
              <a:tr h="505682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G]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E]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[Redacted]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G] space lifts [Brand E] sales (Halo)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44194486"/>
                  </a:ext>
                </a:extLst>
              </a:tr>
              <a:tr h="505682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F]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F]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[Redacted]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Own space → own sales (Direct) 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461456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F83FB6C-64A2-83B7-477B-666EBDF5E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964" y="1693645"/>
            <a:ext cx="6121400" cy="375081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E2F7D4-E78A-483E-50E9-BDFD5063E3E3}"/>
              </a:ext>
            </a:extLst>
          </p:cNvPr>
          <p:cNvCxnSpPr/>
          <p:nvPr/>
        </p:nvCxnSpPr>
        <p:spPr>
          <a:xfrm flipV="1">
            <a:off x="4739780" y="2407640"/>
            <a:ext cx="889233" cy="1208015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40E3ED-A8A7-E20C-E15D-CB0F37C85904}"/>
              </a:ext>
            </a:extLst>
          </p:cNvPr>
          <p:cNvCxnSpPr>
            <a:cxnSpLocks/>
          </p:cNvCxnSpPr>
          <p:nvPr/>
        </p:nvCxnSpPr>
        <p:spPr>
          <a:xfrm flipV="1">
            <a:off x="4723256" y="3694545"/>
            <a:ext cx="837708" cy="525117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7BF759-D55D-E33E-14C0-747F95284008}"/>
              </a:ext>
            </a:extLst>
          </p:cNvPr>
          <p:cNvCxnSpPr>
            <a:cxnSpLocks/>
          </p:cNvCxnSpPr>
          <p:nvPr/>
        </p:nvCxnSpPr>
        <p:spPr>
          <a:xfrm flipV="1">
            <a:off x="4765542" y="4376814"/>
            <a:ext cx="795422" cy="367965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150C087-D1DE-8F73-ABBD-3EBF96829038}"/>
              </a:ext>
            </a:extLst>
          </p:cNvPr>
          <p:cNvSpPr/>
          <p:nvPr/>
        </p:nvSpPr>
        <p:spPr>
          <a:xfrm>
            <a:off x="8239104" y="1896771"/>
            <a:ext cx="765120" cy="15364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just"/>
            <a:r>
              <a:rPr lang="en-US" dirty="0"/>
              <a:t>[Redacted]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3F5FB45-4C95-564A-6A95-38CACF719A3E}"/>
              </a:ext>
            </a:extLst>
          </p:cNvPr>
          <p:cNvSpPr/>
          <p:nvPr/>
        </p:nvSpPr>
        <p:spPr>
          <a:xfrm>
            <a:off x="9859157" y="3569050"/>
            <a:ext cx="1256776" cy="15364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just"/>
            <a:r>
              <a:rPr lang="en-US" dirty="0"/>
              <a:t>[Redacted]</a:t>
            </a:r>
          </a:p>
        </p:txBody>
      </p:sp>
    </p:spTree>
    <p:extLst>
      <p:ext uri="{BB962C8B-B14F-4D97-AF65-F5344CB8AC3E}">
        <p14:creationId xmlns:p14="http://schemas.microsoft.com/office/powerpoint/2010/main" val="357835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7108-D0AF-E28B-B2ED-AA049318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E295C60-D3C8-6D50-E9D7-EC4C7A4B7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1" y="2043989"/>
            <a:ext cx="3542125" cy="225963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EEAA21-78B1-226A-6983-5DD0F914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41" y="1952205"/>
            <a:ext cx="3818832" cy="343477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i="1"/>
          </a:p>
          <a:p>
            <a:pPr marL="0" indent="0">
              <a:buNone/>
            </a:pPr>
            <a:endParaRPr lang="en-US" sz="1600" i="1"/>
          </a:p>
          <a:p>
            <a:pPr marL="0" indent="0">
              <a:buNone/>
            </a:pPr>
            <a:endParaRPr lang="en-US" sz="1600" i="1"/>
          </a:p>
          <a:p>
            <a:pPr marL="0" indent="0">
              <a:buNone/>
            </a:pPr>
            <a:endParaRPr lang="en-US" sz="1600" i="1"/>
          </a:p>
          <a:p>
            <a:pPr marL="0" indent="0">
              <a:buNone/>
            </a:pPr>
            <a:endParaRPr lang="en-US" sz="1600" i="1"/>
          </a:p>
          <a:p>
            <a:pPr marL="0" indent="0">
              <a:buNone/>
            </a:pPr>
            <a:endParaRPr lang="en-US" sz="1600" i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0217F-52FD-EC74-AD26-D22736B0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14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5E652E-88A7-F9E7-14D1-2F3CF2E9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9258978" cy="636739"/>
          </a:xfrm>
        </p:spPr>
        <p:txBody>
          <a:bodyPr>
            <a:normAutofit fontScale="90000"/>
          </a:bodyPr>
          <a:lstStyle/>
          <a:p>
            <a:r>
              <a:rPr lang="en-US"/>
              <a:t>Shelf Space Misalignment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75D9C9-0ED7-9C04-856E-B3A22F786B0F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430827C7-45C5-4BE2-A79C-90980E3A3FB7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071A4A51-1CFB-1C3F-4243-E8FF0F2D47D7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885F8B84-B748-A926-6F64-DD1E3E9FBB2E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2E503FE0-017C-528F-EC89-2C60C5C6914E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00C1C5EB-B976-FCDF-7013-961E7F2B0E61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6223FB75-E6E2-3973-C1AE-4F5D835C3733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Content Placeholder 1">
            <a:extLst>
              <a:ext uri="{FF2B5EF4-FFF2-40B4-BE49-F238E27FC236}">
                <a16:creationId xmlns:a16="http://schemas.microsoft.com/office/drawing/2014/main" id="{6C742468-1E10-F7BE-C566-0B885BBC3E23}"/>
              </a:ext>
            </a:extLst>
          </p:cNvPr>
          <p:cNvSpPr txBox="1">
            <a:spLocks/>
          </p:cNvSpPr>
          <p:nvPr/>
        </p:nvSpPr>
        <p:spPr>
          <a:xfrm>
            <a:off x="4100936" y="1716909"/>
            <a:ext cx="7987464" cy="2409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/>
              <a:t>Misalignment = Sales Share – Facing Share</a:t>
            </a:r>
            <a:endParaRPr lang="en-US" sz="1200" i="1"/>
          </a:p>
          <a:p>
            <a:pPr marL="0" indent="0">
              <a:buNone/>
            </a:pPr>
            <a:r>
              <a:rPr lang="en-US" sz="1200"/>
              <a:t>Thresholds = Median ± (k × MAD) </a:t>
            </a:r>
          </a:p>
          <a:p>
            <a:pPr marL="0" indent="0">
              <a:buNone/>
            </a:pPr>
            <a:r>
              <a:rPr lang="en-US" sz="1050" i="1"/>
              <a:t>MAD (Median Absolute Deviation) is used instead of standard deviation because it is robust to outliers and better reflects typical variation within each category.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olidFill>
                  <a:schemeClr val="accent5">
                    <a:lumMod val="75000"/>
                  </a:schemeClr>
                </a:solidFill>
              </a:rPr>
              <a:t>Positive = under spaced (needs more space)</a:t>
            </a:r>
          </a:p>
          <a:p>
            <a:pPr marL="0" indent="0">
              <a:buNone/>
            </a:pPr>
            <a:r>
              <a:rPr lang="en-US" sz="1200">
                <a:solidFill>
                  <a:srgbClr val="C00000"/>
                </a:solidFill>
              </a:rPr>
              <a:t>Negative = over spaced (too much space)</a:t>
            </a:r>
            <a:endParaRPr lang="en-US" sz="1200"/>
          </a:p>
          <a:p>
            <a:pPr marL="0" indent="0">
              <a:buFont typeface="Arial" panose="020B0604020202020204" pitchFamily="34" charset="0"/>
              <a:buNone/>
            </a:pPr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E30816-8B2B-F3E9-F733-C7F7257F0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211" y="2908864"/>
            <a:ext cx="4101576" cy="3456261"/>
          </a:xfrm>
          <a:prstGeom prst="rect">
            <a:avLst/>
          </a:prstGeom>
        </p:spPr>
      </p:pic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EE235CD6-5F11-CE66-179C-0A4F20C11041}"/>
              </a:ext>
            </a:extLst>
          </p:cNvPr>
          <p:cNvSpPr txBox="1">
            <a:spLocks/>
          </p:cNvSpPr>
          <p:nvPr/>
        </p:nvSpPr>
        <p:spPr>
          <a:xfrm>
            <a:off x="162340" y="4393631"/>
            <a:ext cx="3818832" cy="97846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/>
              <a:t>A facing is one visible unit of a product on the shelf</a:t>
            </a:r>
          </a:p>
          <a:p>
            <a:pPr marL="0" indent="0">
              <a:buNone/>
            </a:pPr>
            <a:r>
              <a:rPr lang="en-US" sz="1200" i="1"/>
              <a:t>More facings increase visibility, reduce stockouts, and improve conversion directly impacting sales.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785A998-958A-11E5-2A26-7F22370E2EC9}"/>
              </a:ext>
            </a:extLst>
          </p:cNvPr>
          <p:cNvSpPr/>
          <p:nvPr/>
        </p:nvSpPr>
        <p:spPr>
          <a:xfrm>
            <a:off x="7432158" y="3242745"/>
            <a:ext cx="976310" cy="255199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[Redacted]</a:t>
            </a:r>
          </a:p>
        </p:txBody>
      </p:sp>
    </p:spTree>
    <p:extLst>
      <p:ext uri="{BB962C8B-B14F-4D97-AF65-F5344CB8AC3E}">
        <p14:creationId xmlns:p14="http://schemas.microsoft.com/office/powerpoint/2010/main" val="276172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5946-85EE-93C7-C71B-B68ACCEB8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E9D36E-A883-BA0A-9E4B-A226FA22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15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96D8C1-1666-BDEF-CDDB-A37A6B57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9258978" cy="636739"/>
          </a:xfrm>
        </p:spPr>
        <p:txBody>
          <a:bodyPr>
            <a:normAutofit fontScale="90000"/>
          </a:bodyPr>
          <a:lstStyle/>
          <a:p>
            <a:r>
              <a:rPr lang="en-US"/>
              <a:t>Shelf Space Optimization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6808CB-01E6-F058-E86A-554DE9B6DBFA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43ADF587-0CE1-0ED2-35EA-862C715E5D5B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62C04BB2-4EF3-0BE0-34DD-DF92FEAF5A03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83C1B155-FBD5-7F94-CC62-FFFD3E2F2A60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AF3DEC9F-5288-A995-D608-00D14888EE3F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D095C9C-2F00-8645-4D95-F087ED70C677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3E652973-A122-1338-42F2-7519CC1D4488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9928E6C-C39C-D2C5-2901-E411C1002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389395"/>
              </p:ext>
            </p:extLst>
          </p:nvPr>
        </p:nvGraphicFramePr>
        <p:xfrm>
          <a:off x="474884" y="1646418"/>
          <a:ext cx="2474950" cy="96441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44168">
                  <a:extLst>
                    <a:ext uri="{9D8B030D-6E8A-4147-A177-3AD203B41FA5}">
                      <a16:colId xmlns:a16="http://schemas.microsoft.com/office/drawing/2014/main" val="4083954302"/>
                    </a:ext>
                  </a:extLst>
                </a:gridCol>
                <a:gridCol w="844168">
                  <a:extLst>
                    <a:ext uri="{9D8B030D-6E8A-4147-A177-3AD203B41FA5}">
                      <a16:colId xmlns:a16="http://schemas.microsoft.com/office/drawing/2014/main" val="1994234861"/>
                    </a:ext>
                  </a:extLst>
                </a:gridCol>
                <a:gridCol w="786614">
                  <a:extLst>
                    <a:ext uri="{9D8B030D-6E8A-4147-A177-3AD203B41FA5}">
                      <a16:colId xmlns:a16="http://schemas.microsoft.com/office/drawing/2014/main" val="289505445"/>
                    </a:ext>
                  </a:extLst>
                </a:gridCol>
              </a:tblGrid>
              <a:tr h="164515">
                <a:tc>
                  <a:txBody>
                    <a:bodyPr/>
                    <a:lstStyle/>
                    <a:p>
                      <a:pPr algn="ctr"/>
                      <a:r>
                        <a:rPr lang="en-US" sz="800" b="1"/>
                        <a:t>Lever 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/>
                        <a:t>Target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/>
                        <a:t>Beta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001138476"/>
                  </a:ext>
                </a:extLst>
              </a:tr>
              <a:tr h="228570"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[Brand F]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[Brand F]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+1.06%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4614566"/>
                  </a:ext>
                </a:extLst>
              </a:tr>
              <a:tr h="265122"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[Brand G]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[Brand E]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+0.36%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13424368"/>
                  </a:ext>
                </a:extLst>
              </a:tr>
              <a:tr h="265122"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[Brand C]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[Brand F]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−0.64%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54980753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CB8E2C0A-D3F9-A866-308F-8B6CBB1DEC31}"/>
              </a:ext>
            </a:extLst>
          </p:cNvPr>
          <p:cNvSpPr/>
          <p:nvPr/>
        </p:nvSpPr>
        <p:spPr>
          <a:xfrm>
            <a:off x="2158123" y="1646418"/>
            <a:ext cx="781051" cy="96441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2143384-2D91-A2CD-FB1E-B504950E40BD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rot="5400000">
            <a:off x="1899368" y="2423824"/>
            <a:ext cx="462272" cy="8362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FAEC25B-E9A2-4FA0-35A4-B9690E10CD61}"/>
              </a:ext>
            </a:extLst>
          </p:cNvPr>
          <p:cNvSpPr txBox="1"/>
          <p:nvPr/>
        </p:nvSpPr>
        <p:spPr>
          <a:xfrm>
            <a:off x="283816" y="3073105"/>
            <a:ext cx="2857085" cy="307777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Convert into cross-elasticity matrix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53894F-B8B9-DCC8-6A66-513EE28E77E8}"/>
              </a:ext>
            </a:extLst>
          </p:cNvPr>
          <p:cNvSpPr/>
          <p:nvPr/>
        </p:nvSpPr>
        <p:spPr>
          <a:xfrm>
            <a:off x="162340" y="1228792"/>
            <a:ext cx="3100039" cy="298706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Elastic Net Betas</a:t>
            </a:r>
            <a:endParaRPr kumimoji="0" lang="en-US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EC5A772-469E-F041-2A71-144A412A884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81220" y="3611746"/>
            <a:ext cx="462274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3BB66539-9D7B-118C-5491-4E230D5672BB}"/>
              </a:ext>
            </a:extLst>
          </p:cNvPr>
          <p:cNvSpPr/>
          <p:nvPr/>
        </p:nvSpPr>
        <p:spPr>
          <a:xfrm>
            <a:off x="4495729" y="1216629"/>
            <a:ext cx="3100039" cy="298706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err="1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Gurobi</a:t>
            </a:r>
            <a:endParaRPr kumimoji="0" lang="en-US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1E58CF9B-DA18-50D2-B7BB-B41E007E0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20" y="3869514"/>
            <a:ext cx="2857081" cy="214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CBFC19F-3F0D-1AF1-35AD-791728ECF36C}"/>
              </a:ext>
            </a:extLst>
          </p:cNvPr>
          <p:cNvSpPr txBox="1"/>
          <p:nvPr/>
        </p:nvSpPr>
        <p:spPr>
          <a:xfrm>
            <a:off x="4495729" y="1624969"/>
            <a:ext cx="3100039" cy="307777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Objective Function – Maximize Sales</a:t>
            </a:r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76477880-A241-A33E-F960-7B69E4FFE52C}"/>
              </a:ext>
            </a:extLst>
          </p:cNvPr>
          <p:cNvSpPr/>
          <p:nvPr/>
        </p:nvSpPr>
        <p:spPr>
          <a:xfrm>
            <a:off x="4200223" y="2963082"/>
            <a:ext cx="3691046" cy="37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u="sng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Sales %</a:t>
            </a:r>
            <a:r>
              <a:rPr lang="en-US" sz="8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 = Current Sales % + β × (</a:t>
            </a:r>
            <a:r>
              <a:rPr lang="en-US" sz="800" b="1" u="sng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Facing%</a:t>
            </a:r>
            <a:r>
              <a:rPr lang="en-US" sz="800" b="1">
                <a:latin typeface="Consolas" pitchFamily="34" charset="0"/>
                <a:ea typeface="Consolas" pitchFamily="34" charset="-122"/>
                <a:cs typeface="Consolas" pitchFamily="34" charset="-120"/>
              </a:rPr>
              <a:t> − Old Facing%)</a:t>
            </a:r>
            <a:endParaRPr lang="en-US" sz="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A00A72A-AFF8-8491-58EC-CC035ABFE25D}"/>
                  </a:ext>
                </a:extLst>
              </p:cNvPr>
              <p:cNvSpPr txBox="1"/>
              <p:nvPr/>
            </p:nvSpPr>
            <p:spPr>
              <a:xfrm>
                <a:off x="4638013" y="2042380"/>
                <a:ext cx="2994532" cy="777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A00A72A-AFF8-8491-58EC-CC035ABFE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013" y="2042380"/>
                <a:ext cx="2994532" cy="777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ight Brace 55">
            <a:extLst>
              <a:ext uri="{FF2B5EF4-FFF2-40B4-BE49-F238E27FC236}">
                <a16:creationId xmlns:a16="http://schemas.microsoft.com/office/drawing/2014/main" id="{33834972-ABF6-4C9E-AE8F-A317D134B508}"/>
              </a:ext>
            </a:extLst>
          </p:cNvPr>
          <p:cNvSpPr/>
          <p:nvPr/>
        </p:nvSpPr>
        <p:spPr>
          <a:xfrm rot="5400000">
            <a:off x="5915517" y="1274688"/>
            <a:ext cx="369331" cy="2991167"/>
          </a:xfrm>
          <a:prstGeom prst="rightBrace">
            <a:avLst>
              <a:gd name="adj1" fmla="val 9632"/>
              <a:gd name="adj2" fmla="val 502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09FCD0-3F40-2F88-B9A2-7207A6C264A6}"/>
              </a:ext>
            </a:extLst>
          </p:cNvPr>
          <p:cNvSpPr txBox="1"/>
          <p:nvPr/>
        </p:nvSpPr>
        <p:spPr>
          <a:xfrm>
            <a:off x="4495726" y="3380493"/>
            <a:ext cx="3100039" cy="1600438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rgbClr val="00B050"/>
                </a:solidFill>
              </a:rPr>
              <a:t>Optimized Sales % [Brand F]</a:t>
            </a:r>
          </a:p>
          <a:p>
            <a:r>
              <a:rPr lang="en-US" sz="1400" dirty="0"/>
              <a:t>= Current Sales % [Brand F]</a:t>
            </a:r>
          </a:p>
          <a:p>
            <a:r>
              <a:rPr lang="en-US" sz="1400" dirty="0"/>
              <a:t>-  [Redacted] x </a:t>
            </a:r>
            <a:r>
              <a:rPr lang="en-US" sz="1400" b="1" dirty="0">
                <a:solidFill>
                  <a:srgbClr val="0070C0"/>
                </a:solidFill>
                <a:latin typeface="Symbol" panose="05050102010706020507" pitchFamily="18" charset="2"/>
              </a:rPr>
              <a:t>D </a:t>
            </a:r>
            <a:r>
              <a:rPr lang="en-US" sz="1400" b="1" dirty="0">
                <a:solidFill>
                  <a:srgbClr val="0070C0"/>
                </a:solidFill>
              </a:rPr>
              <a:t>Cetaphil Facing %</a:t>
            </a:r>
          </a:p>
          <a:p>
            <a:r>
              <a:rPr lang="en-US" sz="1400" dirty="0"/>
              <a:t>+ [Redacted]  x </a:t>
            </a:r>
            <a:r>
              <a:rPr lang="en-US" sz="1400" b="1" dirty="0">
                <a:solidFill>
                  <a:srgbClr val="0070C0"/>
                </a:solidFill>
                <a:latin typeface="Symbol" panose="05050102010706020507" pitchFamily="18" charset="2"/>
              </a:rPr>
              <a:t>D </a:t>
            </a:r>
            <a:r>
              <a:rPr lang="en-US" sz="1400" b="1" dirty="0">
                <a:solidFill>
                  <a:srgbClr val="0070C0"/>
                </a:solidFill>
              </a:rPr>
              <a:t>[Brand F] Facing %</a:t>
            </a:r>
          </a:p>
          <a:p>
            <a:r>
              <a:rPr lang="en-US" sz="1400" dirty="0"/>
              <a:t>-  [Redacted] x </a:t>
            </a:r>
            <a:r>
              <a:rPr lang="en-US" sz="1400" b="1" dirty="0">
                <a:solidFill>
                  <a:srgbClr val="0070C0"/>
                </a:solidFill>
                <a:latin typeface="Symbol" panose="05050102010706020507" pitchFamily="18" charset="2"/>
              </a:rPr>
              <a:t>D </a:t>
            </a:r>
            <a:r>
              <a:rPr lang="en-US" sz="1400" b="1" dirty="0">
                <a:solidFill>
                  <a:srgbClr val="0070C0"/>
                </a:solidFill>
              </a:rPr>
              <a:t>[Brand G] Facing %</a:t>
            </a:r>
          </a:p>
          <a:p>
            <a:r>
              <a:rPr lang="en-US" sz="1400" dirty="0"/>
              <a:t>+ …</a:t>
            </a:r>
          </a:p>
          <a:p>
            <a:r>
              <a:rPr lang="en-US" sz="1400" dirty="0"/>
              <a:t>+ </a:t>
            </a:r>
            <a:r>
              <a:rPr lang="en-US" sz="1400" dirty="0">
                <a:latin typeface="Symbol" panose="05050102010706020507" pitchFamily="18" charset="2"/>
              </a:rPr>
              <a:t>b</a:t>
            </a:r>
            <a:r>
              <a:rPr lang="en-US" sz="1400" baseline="-25000" dirty="0"/>
              <a:t>n</a:t>
            </a:r>
            <a:r>
              <a:rPr lang="en-US" sz="1400" dirty="0"/>
              <a:t> x </a:t>
            </a:r>
            <a:r>
              <a:rPr lang="en-US" sz="1400" b="1" dirty="0">
                <a:solidFill>
                  <a:srgbClr val="0070C0"/>
                </a:solidFill>
                <a:latin typeface="Symbol" panose="05050102010706020507" pitchFamily="18" charset="2"/>
              </a:rPr>
              <a:t>D </a:t>
            </a:r>
            <a:r>
              <a:rPr lang="en-US" sz="1400" b="1" dirty="0">
                <a:solidFill>
                  <a:srgbClr val="0070C0"/>
                </a:solidFill>
              </a:rPr>
              <a:t>Brand</a:t>
            </a:r>
            <a:r>
              <a:rPr lang="en-US" sz="1400" b="1" baseline="-25000" dirty="0">
                <a:solidFill>
                  <a:srgbClr val="0070C0"/>
                </a:solidFill>
              </a:rPr>
              <a:t>n</a:t>
            </a:r>
            <a:r>
              <a:rPr lang="en-US" sz="1400" b="1" dirty="0">
                <a:solidFill>
                  <a:srgbClr val="0070C0"/>
                </a:solidFill>
              </a:rPr>
              <a:t> Facing 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9C5FF2-ECB0-E3DF-2F53-3E60C442A605}"/>
              </a:ext>
            </a:extLst>
          </p:cNvPr>
          <p:cNvSpPr txBox="1"/>
          <p:nvPr/>
        </p:nvSpPr>
        <p:spPr>
          <a:xfrm>
            <a:off x="4495726" y="5143728"/>
            <a:ext cx="3100039" cy="307777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Constraints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C8A2EE-56B2-F778-207C-56B0AD50DFD0}"/>
              </a:ext>
            </a:extLst>
          </p:cNvPr>
          <p:cNvSpPr txBox="1"/>
          <p:nvPr/>
        </p:nvSpPr>
        <p:spPr>
          <a:xfrm>
            <a:off x="4495726" y="5611322"/>
            <a:ext cx="3100039" cy="1169551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/>
              <a:t>Item Type capacity must remain the same</a:t>
            </a:r>
          </a:p>
          <a:p>
            <a:pPr marL="342900" indent="-342900">
              <a:buAutoNum type="arabicPeriod"/>
            </a:pPr>
            <a:r>
              <a:rPr lang="en-US" sz="1400"/>
              <a:t>No brand can exceed +/- 3% change in capacity</a:t>
            </a:r>
          </a:p>
          <a:p>
            <a:pPr marL="342900" indent="-342900">
              <a:buAutoNum type="arabicPeriod"/>
            </a:pPr>
            <a:r>
              <a:rPr lang="en-US" sz="1400"/>
              <a:t>Facing % cannot drop below 0%</a:t>
            </a:r>
          </a:p>
        </p:txBody>
      </p:sp>
      <p:cxnSp>
        <p:nvCxnSpPr>
          <p:cNvPr id="4096" name="Connector: Elbow 4095">
            <a:extLst>
              <a:ext uri="{FF2B5EF4-FFF2-40B4-BE49-F238E27FC236}">
                <a16:creationId xmlns:a16="http://schemas.microsoft.com/office/drawing/2014/main" id="{0FE790A4-2EA4-027E-4DAA-B1A82F280452}"/>
              </a:ext>
            </a:extLst>
          </p:cNvPr>
          <p:cNvCxnSpPr>
            <a:cxnSpLocks/>
            <a:stCxn id="4104" idx="3"/>
            <a:endCxn id="58" idx="1"/>
          </p:cNvCxnSpPr>
          <p:nvPr/>
        </p:nvCxnSpPr>
        <p:spPr>
          <a:xfrm flipV="1">
            <a:off x="3140901" y="4180712"/>
            <a:ext cx="1354825" cy="762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D0B72ED-07DC-5B8E-0193-70163E9289E4}"/>
              </a:ext>
            </a:extLst>
          </p:cNvPr>
          <p:cNvCxnSpPr>
            <a:cxnSpLocks/>
            <a:stCxn id="55" idx="3"/>
            <a:endCxn id="39" idx="0"/>
          </p:cNvCxnSpPr>
          <p:nvPr/>
        </p:nvCxnSpPr>
        <p:spPr>
          <a:xfrm>
            <a:off x="7632545" y="2430916"/>
            <a:ext cx="3041069" cy="10572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328C2D9-C340-454A-2FA0-5D7514B07737}"/>
              </a:ext>
            </a:extLst>
          </p:cNvPr>
          <p:cNvSpPr txBox="1"/>
          <p:nvPr/>
        </p:nvSpPr>
        <p:spPr>
          <a:xfrm>
            <a:off x="9393131" y="3488214"/>
            <a:ext cx="2560966" cy="138499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00B050"/>
                </a:solidFill>
              </a:rPr>
              <a:t>Optimized Sales %</a:t>
            </a:r>
          </a:p>
          <a:p>
            <a:r>
              <a:rPr lang="en-US" sz="1400"/>
              <a:t>= Optimized Sales % [Brand F]</a:t>
            </a:r>
          </a:p>
          <a:p>
            <a:r>
              <a:rPr lang="en-US" sz="1400"/>
              <a:t>+ Optimized Sales % [Brand G]</a:t>
            </a:r>
          </a:p>
          <a:p>
            <a:r>
              <a:rPr lang="en-US" sz="1400"/>
              <a:t>+ Optimized Sales % Cetaphil</a:t>
            </a:r>
          </a:p>
          <a:p>
            <a:r>
              <a:rPr lang="en-US" sz="1400"/>
              <a:t>+ …</a:t>
            </a:r>
          </a:p>
          <a:p>
            <a:r>
              <a:rPr lang="en-US" sz="1400"/>
              <a:t>+ Optimized Sales % Brand</a:t>
            </a:r>
            <a:r>
              <a:rPr lang="en-US" sz="1400" baseline="-25000"/>
              <a:t>n</a:t>
            </a:r>
            <a:endParaRPr lang="en-US" sz="140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A6CDAA5-8A21-9DAF-2B9F-5EAE8BF500B9}"/>
              </a:ext>
            </a:extLst>
          </p:cNvPr>
          <p:cNvCxnSpPr>
            <a:cxnSpLocks/>
            <a:stCxn id="58" idx="3"/>
            <a:endCxn id="39" idx="2"/>
          </p:cNvCxnSpPr>
          <p:nvPr/>
        </p:nvCxnSpPr>
        <p:spPr>
          <a:xfrm>
            <a:off x="7595765" y="4180712"/>
            <a:ext cx="3077849" cy="692497"/>
          </a:xfrm>
          <a:prstGeom prst="bentConnector4">
            <a:avLst>
              <a:gd name="adj1" fmla="val 29198"/>
              <a:gd name="adj2" fmla="val 1330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1C89192-BBD8-2B56-5BD2-F151CB0D64BD}"/>
              </a:ext>
            </a:extLst>
          </p:cNvPr>
          <p:cNvSpPr/>
          <p:nvPr/>
        </p:nvSpPr>
        <p:spPr>
          <a:xfrm>
            <a:off x="1381125" y="4067175"/>
            <a:ext cx="625475" cy="1660525"/>
          </a:xfrm>
          <a:prstGeom prst="rect">
            <a:avLst/>
          </a:prstGeom>
          <a:noFill/>
          <a:ln w="38100"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6B4BF7-32EE-1477-9327-23AECF9FFA35}"/>
              </a:ext>
            </a:extLst>
          </p:cNvPr>
          <p:cNvSpPr/>
          <p:nvPr/>
        </p:nvSpPr>
        <p:spPr>
          <a:xfrm>
            <a:off x="2190044" y="1844088"/>
            <a:ext cx="765120" cy="7770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just"/>
            <a:r>
              <a:rPr lang="en-US" sz="1000" dirty="0"/>
              <a:t>[Redacted]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B505F22-468E-12A4-67EE-89983F706D18}"/>
              </a:ext>
            </a:extLst>
          </p:cNvPr>
          <p:cNvSpPr/>
          <p:nvPr/>
        </p:nvSpPr>
        <p:spPr>
          <a:xfrm rot="16200000">
            <a:off x="1080702" y="4174602"/>
            <a:ext cx="1337034" cy="15364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[Redacted]</a:t>
            </a:r>
          </a:p>
        </p:txBody>
      </p:sp>
    </p:spTree>
    <p:extLst>
      <p:ext uri="{BB962C8B-B14F-4D97-AF65-F5344CB8AC3E}">
        <p14:creationId xmlns:p14="http://schemas.microsoft.com/office/powerpoint/2010/main" val="156010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1" grpId="0" animBg="1"/>
      <p:bldP spid="50" grpId="0" animBg="1"/>
      <p:bldP spid="52" grpId="0" animBg="1"/>
      <p:bldP spid="53" grpId="0" animBg="1"/>
      <p:bldP spid="55" grpId="0"/>
      <p:bldP spid="56" grpId="0" animBg="1"/>
      <p:bldP spid="58" grpId="0" animBg="1"/>
      <p:bldP spid="61" grpId="0" animBg="1"/>
      <p:bldP spid="62" grpId="0" animBg="1"/>
      <p:bldP spid="39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EEF4-B257-9535-A505-2BCFB6FF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ight Brace 41">
            <a:extLst>
              <a:ext uri="{FF2B5EF4-FFF2-40B4-BE49-F238E27FC236}">
                <a16:creationId xmlns:a16="http://schemas.microsoft.com/office/drawing/2014/main" id="{5EE4DB31-3E0E-8EE0-0C94-D2F318D01013}"/>
              </a:ext>
            </a:extLst>
          </p:cNvPr>
          <p:cNvSpPr/>
          <p:nvPr/>
        </p:nvSpPr>
        <p:spPr>
          <a:xfrm rot="16200000" flipV="1">
            <a:off x="6117665" y="2108136"/>
            <a:ext cx="369331" cy="6292718"/>
          </a:xfrm>
          <a:prstGeom prst="rightBrace">
            <a:avLst>
              <a:gd name="adj1" fmla="val 9632"/>
              <a:gd name="adj2" fmla="val 502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C3597-61A8-6AB6-88F7-61D3A44C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16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6D6E29-D213-3FED-7B96-4D51F985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Competitive Signal Analysis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9759D0-D6A2-DA8F-EF60-58C6626801AF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CCAE96B9-4EDB-4BB9-2C6D-A4213C9D76CF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2D8D7055-E772-F6C0-0001-26987207E3AD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CE6F6FC-9BA8-EF01-B153-FB814F2C0162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EDB3FD80-97C5-C3C6-748D-A7B046A78931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F70CC789-AA23-68D8-5B2A-CDE6580E5182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44FF0FC8-C400-6228-FA17-F1782C802D29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512BBE2-0C28-293C-72C4-012B88193ED0}"/>
              </a:ext>
            </a:extLst>
          </p:cNvPr>
          <p:cNvSpPr/>
          <p:nvPr/>
        </p:nvSpPr>
        <p:spPr>
          <a:xfrm>
            <a:off x="4545980" y="1120863"/>
            <a:ext cx="3100039" cy="298706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Competitor Distance Data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28CFB2-EB40-EA20-8AC3-7F501D9F60E9}"/>
              </a:ext>
            </a:extLst>
          </p:cNvPr>
          <p:cNvGrpSpPr/>
          <p:nvPr/>
        </p:nvGrpSpPr>
        <p:grpSpPr>
          <a:xfrm>
            <a:off x="2345013" y="1824574"/>
            <a:ext cx="3750986" cy="1559600"/>
            <a:chOff x="162340" y="2016907"/>
            <a:chExt cx="3174870" cy="914400"/>
          </a:xfrm>
        </p:grpSpPr>
        <p:sp>
          <p:nvSpPr>
            <p:cNvPr id="21" name="Shape 9">
              <a:extLst>
                <a:ext uri="{FF2B5EF4-FFF2-40B4-BE49-F238E27FC236}">
                  <a16:creationId xmlns:a16="http://schemas.microsoft.com/office/drawing/2014/main" id="{F43870B6-8E06-0E98-6F11-B118BFC91EA9}"/>
                </a:ext>
              </a:extLst>
            </p:cNvPr>
            <p:cNvSpPr/>
            <p:nvPr/>
          </p:nvSpPr>
          <p:spPr>
            <a:xfrm>
              <a:off x="162340" y="2016907"/>
              <a:ext cx="3100039" cy="914400"/>
            </a:xfrm>
            <a:prstGeom prst="rect">
              <a:avLst/>
            </a:prstGeom>
            <a:solidFill>
              <a:srgbClr val="F7F7F7"/>
            </a:solidFill>
            <a:ln w="12700">
              <a:solidFill>
                <a:srgbClr val="CCCCF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2A790B32-F8E8-3732-C28B-B3AC8ABAEA65}"/>
                </a:ext>
              </a:extLst>
            </p:cNvPr>
            <p:cNvSpPr/>
            <p:nvPr/>
          </p:nvSpPr>
          <p:spPr>
            <a:xfrm>
              <a:off x="235492" y="2053483"/>
              <a:ext cx="2977669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B2D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Cluster Competition Profile</a:t>
              </a:r>
              <a:endParaRPr lang="en-US" sz="1400" dirty="0"/>
            </a:p>
            <a:p>
              <a:r>
                <a:rPr lang="en-US" sz="1400" dirty="0">
                  <a:solidFill>
                    <a:srgbClr val="7B2D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(710 stores, nearest competitor across all 8)</a:t>
              </a:r>
              <a:endParaRPr lang="en-US" sz="1400" dirty="0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7E6D9B80-A508-7BCE-3AA6-9C7866D0369B}"/>
                </a:ext>
              </a:extLst>
            </p:cNvPr>
            <p:cNvSpPr/>
            <p:nvPr/>
          </p:nvSpPr>
          <p:spPr>
            <a:xfrm>
              <a:off x="235492" y="2428387"/>
              <a:ext cx="15500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🔴 HIGH  (≤3mi)</a:t>
              </a:r>
              <a:endParaRPr lang="en-US" sz="100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8C166715-EC9F-FEA9-B752-683A212F387A}"/>
                </a:ext>
              </a:extLst>
            </p:cNvPr>
            <p:cNvSpPr/>
            <p:nvPr/>
          </p:nvSpPr>
          <p:spPr>
            <a:xfrm>
              <a:off x="1991140" y="2428387"/>
              <a:ext cx="134607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CC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691 stores  (97%)</a:t>
              </a:r>
              <a:endParaRPr lang="en-US" sz="1000"/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EA2F37CC-34CD-F4E1-40DC-1C176231A016}"/>
                </a:ext>
              </a:extLst>
            </p:cNvPr>
            <p:cNvSpPr/>
            <p:nvPr/>
          </p:nvSpPr>
          <p:spPr>
            <a:xfrm>
              <a:off x="235492" y="2583835"/>
              <a:ext cx="15500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🟡 MEDIUM (3–10mi)</a:t>
              </a:r>
              <a:endParaRPr lang="en-US" sz="1000"/>
            </a:p>
          </p:txBody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20ADA49A-4098-E68F-1A56-DA6BB60CDD44}"/>
                </a:ext>
              </a:extLst>
            </p:cNvPr>
            <p:cNvSpPr/>
            <p:nvPr/>
          </p:nvSpPr>
          <p:spPr>
            <a:xfrm>
              <a:off x="1991140" y="2583835"/>
              <a:ext cx="134607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 stores  (2%)</a:t>
              </a:r>
              <a:endParaRPr lang="en-US" sz="1000"/>
            </a:p>
          </p:txBody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0A9475BA-C825-06A5-30CC-D384560B469B}"/>
                </a:ext>
              </a:extLst>
            </p:cNvPr>
            <p:cNvSpPr/>
            <p:nvPr/>
          </p:nvSpPr>
          <p:spPr>
            <a:xfrm>
              <a:off x="235492" y="2739283"/>
              <a:ext cx="15500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🟢 LOW   (&gt;10mi)</a:t>
              </a:r>
              <a:endParaRPr lang="en-US" sz="1000"/>
            </a:p>
          </p:txBody>
        </p:sp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A8E5DDFD-1588-ECBE-3ABF-993F1DB0D66E}"/>
                </a:ext>
              </a:extLst>
            </p:cNvPr>
            <p:cNvSpPr/>
            <p:nvPr/>
          </p:nvSpPr>
          <p:spPr>
            <a:xfrm>
              <a:off x="1991140" y="2739283"/>
              <a:ext cx="134607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A7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stores  (1%)</a:t>
              </a:r>
              <a:endParaRPr lang="en-US" sz="1000"/>
            </a:p>
          </p:txBody>
        </p:sp>
      </p:grpSp>
      <p:sp>
        <p:nvSpPr>
          <p:cNvPr id="98" name="Content Placeholder 1">
            <a:extLst>
              <a:ext uri="{FF2B5EF4-FFF2-40B4-BE49-F238E27FC236}">
                <a16:creationId xmlns:a16="http://schemas.microsoft.com/office/drawing/2014/main" id="{9930CBB1-977D-7E20-98CD-E74D2E10D98C}"/>
              </a:ext>
            </a:extLst>
          </p:cNvPr>
          <p:cNvSpPr txBox="1">
            <a:spLocks/>
          </p:cNvSpPr>
          <p:nvPr/>
        </p:nvSpPr>
        <p:spPr>
          <a:xfrm>
            <a:off x="3155972" y="1472718"/>
            <a:ext cx="5715946" cy="2987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Apply 8 competitor distance columns to Cleared Item Types only after optimization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6BF2B405-8187-9C5B-6E10-D408C5129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961" y="1824574"/>
            <a:ext cx="3236005" cy="1559600"/>
          </a:xfrm>
          <a:prstGeom prst="rect">
            <a:avLst/>
          </a:prstGeom>
          <a:ln>
            <a:solidFill>
              <a:srgbClr val="9966FF"/>
            </a:solidFill>
          </a:ln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237DF2AA-67B9-175E-D939-52045C700066}"/>
              </a:ext>
            </a:extLst>
          </p:cNvPr>
          <p:cNvSpPr/>
          <p:nvPr/>
        </p:nvSpPr>
        <p:spPr>
          <a:xfrm rot="5400000">
            <a:off x="6104991" y="1079951"/>
            <a:ext cx="369331" cy="6292718"/>
          </a:xfrm>
          <a:prstGeom prst="rightBrace">
            <a:avLst>
              <a:gd name="adj1" fmla="val 9632"/>
              <a:gd name="adj2" fmla="val 502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AC5B77-C26F-FDB7-992C-83704BD2C945}"/>
              </a:ext>
            </a:extLst>
          </p:cNvPr>
          <p:cNvCxnSpPr>
            <a:cxnSpLocks/>
          </p:cNvCxnSpPr>
          <p:nvPr/>
        </p:nvCxnSpPr>
        <p:spPr>
          <a:xfrm>
            <a:off x="6255580" y="3630705"/>
            <a:ext cx="0" cy="189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C9FE8C-3F52-027B-B1A6-BEC1B525957A}"/>
                  </a:ext>
                </a:extLst>
              </p:cNvPr>
              <p:cNvSpPr txBox="1"/>
              <p:nvPr/>
            </p:nvSpPr>
            <p:spPr>
              <a:xfrm>
                <a:off x="1411089" y="3777907"/>
                <a:ext cx="9757136" cy="409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smtClean="0"/>
                        <m:t>r</m:t>
                      </m:r>
                      <m:r>
                        <m:rPr>
                          <m:nor/>
                        </m:rPr>
                        <a:rPr lang="en-US" sz="2000" smtClean="0"/>
                        <m:t> = </m:t>
                      </m:r>
                      <m:r>
                        <m:rPr>
                          <m:nor/>
                        </m:rPr>
                        <a:rPr lang="el-GR" sz="2000"/>
                        <m:t>Σ</m:t>
                      </m:r>
                      <m:r>
                        <m:rPr>
                          <m:nor/>
                        </m:rPr>
                        <a:rPr lang="el-GR" sz="2000"/>
                        <m:t>[(</m:t>
                      </m:r>
                      <m:r>
                        <m:rPr>
                          <m:nor/>
                        </m:rPr>
                        <a:rPr lang="en-US" sz="2000"/>
                        <m:t>Xi</m:t>
                      </m:r>
                      <m:r>
                        <m:rPr>
                          <m:nor/>
                        </m:rPr>
                        <a:rPr lang="en-US" sz="2000"/>
                        <m:t> − </m:t>
                      </m:r>
                      <m:r>
                        <m:rPr>
                          <m:nor/>
                        </m:rPr>
                        <a:rPr lang="en-US" sz="2000"/>
                        <m:t>X</m:t>
                      </m:r>
                      <m:r>
                        <m:rPr>
                          <m:nor/>
                        </m:rPr>
                        <a:rPr lang="en-US" sz="2000"/>
                        <m:t>̄)(</m:t>
                      </m:r>
                      <m:r>
                        <m:rPr>
                          <m:nor/>
                        </m:rPr>
                        <a:rPr lang="en-US" sz="2000"/>
                        <m:t>Yi</m:t>
                      </m:r>
                      <m:r>
                        <m:rPr>
                          <m:nor/>
                        </m:rPr>
                        <a:rPr lang="en-US" sz="2000"/>
                        <m:t> − Ȳ)] / √[</m:t>
                      </m:r>
                      <m:r>
                        <m:rPr>
                          <m:nor/>
                        </m:rPr>
                        <a:rPr lang="el-GR" sz="2000"/>
                        <m:t>Σ</m:t>
                      </m:r>
                      <m:r>
                        <m:rPr>
                          <m:nor/>
                        </m:rPr>
                        <a:rPr lang="el-GR" sz="2000"/>
                        <m:t>(</m:t>
                      </m:r>
                      <m:r>
                        <m:rPr>
                          <m:nor/>
                        </m:rPr>
                        <a:rPr lang="en-US" sz="2000"/>
                        <m:t>Xi</m:t>
                      </m:r>
                      <m:r>
                        <m:rPr>
                          <m:nor/>
                        </m:rPr>
                        <a:rPr lang="en-US" sz="2000"/>
                        <m:t> − </m:t>
                      </m:r>
                      <m:r>
                        <m:rPr>
                          <m:nor/>
                        </m:rPr>
                        <a:rPr lang="en-US" sz="2000"/>
                        <m:t>X</m:t>
                      </m:r>
                      <m:r>
                        <m:rPr>
                          <m:nor/>
                        </m:rPr>
                        <a:rPr lang="en-US" sz="2000"/>
                        <m:t>̄)² × </m:t>
                      </m:r>
                      <m:r>
                        <m:rPr>
                          <m:nor/>
                        </m:rPr>
                        <a:rPr lang="el-GR" sz="2000"/>
                        <m:t>Σ</m:t>
                      </m:r>
                      <m:r>
                        <m:rPr>
                          <m:nor/>
                        </m:rPr>
                        <a:rPr lang="el-GR" sz="2000"/>
                        <m:t>(</m:t>
                      </m:r>
                      <m:r>
                        <m:rPr>
                          <m:nor/>
                        </m:rPr>
                        <a:rPr lang="en-US" sz="2000"/>
                        <m:t>Yi</m:t>
                      </m:r>
                      <m:r>
                        <m:rPr>
                          <m:nor/>
                        </m:rPr>
                        <a:rPr lang="en-US" sz="2000"/>
                        <m:t> − Ȳ)²]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C9FE8C-3F52-027B-B1A6-BEC1B5259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089" y="3777907"/>
                <a:ext cx="9757136" cy="409215"/>
              </a:xfrm>
              <a:prstGeom prst="rect">
                <a:avLst/>
              </a:prstGeom>
              <a:blipFill>
                <a:blip r:embed="rId3"/>
                <a:stretch>
                  <a:fillRect t="-303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80">
            <a:extLst>
              <a:ext uri="{FF2B5EF4-FFF2-40B4-BE49-F238E27FC236}">
                <a16:creationId xmlns:a16="http://schemas.microsoft.com/office/drawing/2014/main" id="{1E93C4E3-6DE4-72ED-1241-26880F767349}"/>
              </a:ext>
            </a:extLst>
          </p:cNvPr>
          <p:cNvSpPr/>
          <p:nvPr/>
        </p:nvSpPr>
        <p:spPr>
          <a:xfrm>
            <a:off x="4654202" y="4448813"/>
            <a:ext cx="3259222" cy="622041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FF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9" name="Text 81">
            <a:extLst>
              <a:ext uri="{FF2B5EF4-FFF2-40B4-BE49-F238E27FC236}">
                <a16:creationId xmlns:a16="http://schemas.microsoft.com/office/drawing/2014/main" id="{DC199A08-1C22-F41E-885A-39277BFF4145}"/>
              </a:ext>
            </a:extLst>
          </p:cNvPr>
          <p:cNvSpPr/>
          <p:nvPr/>
        </p:nvSpPr>
        <p:spPr>
          <a:xfrm>
            <a:off x="4753155" y="4476246"/>
            <a:ext cx="30962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competitor_f distance (miles)
</a:t>
            </a:r>
            <a:r>
              <a:rPr lang="en-US" sz="12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brand pog_sales $ per store
</a:t>
            </a: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710 stores  |  threshold: |r|&gt;0.10, p&lt;0.05</a:t>
            </a:r>
            <a:endParaRPr lang="en-US" sz="1200"/>
          </a:p>
        </p:txBody>
      </p:sp>
      <p:sp>
        <p:nvSpPr>
          <p:cNvPr id="30" name="Shape 82">
            <a:extLst>
              <a:ext uri="{FF2B5EF4-FFF2-40B4-BE49-F238E27FC236}">
                <a16:creationId xmlns:a16="http://schemas.microsoft.com/office/drawing/2014/main" id="{57EF73E7-98F9-0586-B39E-1F07146F6B31}"/>
              </a:ext>
            </a:extLst>
          </p:cNvPr>
          <p:cNvSpPr/>
          <p:nvPr/>
        </p:nvSpPr>
        <p:spPr>
          <a:xfrm>
            <a:off x="1743768" y="5419474"/>
            <a:ext cx="2743200" cy="1122959"/>
          </a:xfrm>
          <a:prstGeom prst="rect">
            <a:avLst/>
          </a:prstGeom>
          <a:solidFill>
            <a:srgbClr val="F0FDF4"/>
          </a:solidFill>
          <a:ln w="254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83">
            <a:extLst>
              <a:ext uri="{FF2B5EF4-FFF2-40B4-BE49-F238E27FC236}">
                <a16:creationId xmlns:a16="http://schemas.microsoft.com/office/drawing/2014/main" id="{4AE273D1-753C-192D-5588-94C7E837C4A5}"/>
              </a:ext>
            </a:extLst>
          </p:cNvPr>
          <p:cNvSpPr/>
          <p:nvPr/>
        </p:nvSpPr>
        <p:spPr>
          <a:xfrm>
            <a:off x="1743768" y="5419475"/>
            <a:ext cx="2743200" cy="23774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84">
            <a:extLst>
              <a:ext uri="{FF2B5EF4-FFF2-40B4-BE49-F238E27FC236}">
                <a16:creationId xmlns:a16="http://schemas.microsoft.com/office/drawing/2014/main" id="{4E729585-8C23-CECF-65A8-D91C402DD0D0}"/>
              </a:ext>
            </a:extLst>
          </p:cNvPr>
          <p:cNvSpPr/>
          <p:nvPr/>
        </p:nvSpPr>
        <p:spPr>
          <a:xfrm>
            <a:off x="1816920" y="5437763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 &lt; −0.10, p &lt; 0.05</a:t>
            </a:r>
            <a:endParaRPr lang="en-US" sz="1050"/>
          </a:p>
        </p:txBody>
      </p:sp>
      <p:sp>
        <p:nvSpPr>
          <p:cNvPr id="33" name="Text 85">
            <a:extLst>
              <a:ext uri="{FF2B5EF4-FFF2-40B4-BE49-F238E27FC236}">
                <a16:creationId xmlns:a16="http://schemas.microsoft.com/office/drawing/2014/main" id="{2CD4764D-95F6-84B2-3953-E665C9DED44B}"/>
              </a:ext>
            </a:extLst>
          </p:cNvPr>
          <p:cNvSpPr/>
          <p:nvPr/>
        </p:nvSpPr>
        <p:spPr>
          <a:xfrm>
            <a:off x="1816920" y="5693795"/>
            <a:ext cx="2615184" cy="80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↑ when rival is CLOSER</a:t>
            </a:r>
            <a:endParaRPr lang="en-US" sz="1000" dirty="0"/>
          </a:p>
          <a:p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Brand beats rival head-to-head</a:t>
            </a:r>
            <a:endParaRPr lang="en-US" sz="1000" dirty="0"/>
          </a:p>
          <a:p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 has competitive strength</a:t>
            </a:r>
            <a:endParaRPr lang="en-US" sz="1000" dirty="0"/>
          </a:p>
          <a:p>
            <a:endParaRPr lang="en-US" sz="850" dirty="0"/>
          </a:p>
        </p:txBody>
      </p:sp>
      <p:sp>
        <p:nvSpPr>
          <p:cNvPr id="34" name="Shape 86">
            <a:extLst>
              <a:ext uri="{FF2B5EF4-FFF2-40B4-BE49-F238E27FC236}">
                <a16:creationId xmlns:a16="http://schemas.microsoft.com/office/drawing/2014/main" id="{B8997A7B-3E18-FF7E-EA5A-D291DDEEBD71}"/>
              </a:ext>
            </a:extLst>
          </p:cNvPr>
          <p:cNvSpPr/>
          <p:nvPr/>
        </p:nvSpPr>
        <p:spPr>
          <a:xfrm>
            <a:off x="4924432" y="5432383"/>
            <a:ext cx="2743200" cy="1110049"/>
          </a:xfrm>
          <a:prstGeom prst="rect">
            <a:avLst/>
          </a:prstGeom>
          <a:solidFill>
            <a:srgbClr val="F7F7F7"/>
          </a:solidFill>
          <a:ln w="25400">
            <a:solidFill>
              <a:srgbClr val="8888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87">
            <a:extLst>
              <a:ext uri="{FF2B5EF4-FFF2-40B4-BE49-F238E27FC236}">
                <a16:creationId xmlns:a16="http://schemas.microsoft.com/office/drawing/2014/main" id="{A336FBC5-EFC7-A2BF-D242-01B5AAE7FE4D}"/>
              </a:ext>
            </a:extLst>
          </p:cNvPr>
          <p:cNvSpPr/>
          <p:nvPr/>
        </p:nvSpPr>
        <p:spPr>
          <a:xfrm>
            <a:off x="4924432" y="5432384"/>
            <a:ext cx="2743200" cy="23774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88">
            <a:extLst>
              <a:ext uri="{FF2B5EF4-FFF2-40B4-BE49-F238E27FC236}">
                <a16:creationId xmlns:a16="http://schemas.microsoft.com/office/drawing/2014/main" id="{C837EA68-21BB-141A-DDD6-26EAC266C494}"/>
              </a:ext>
            </a:extLst>
          </p:cNvPr>
          <p:cNvSpPr/>
          <p:nvPr/>
        </p:nvSpPr>
        <p:spPr>
          <a:xfrm>
            <a:off x="4997584" y="545067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➖  |r| ≤ 0.10 or p ≥ 0.05</a:t>
            </a:r>
            <a:endParaRPr lang="en-US" sz="1050"/>
          </a:p>
        </p:txBody>
      </p:sp>
      <p:sp>
        <p:nvSpPr>
          <p:cNvPr id="37" name="Text 89">
            <a:extLst>
              <a:ext uri="{FF2B5EF4-FFF2-40B4-BE49-F238E27FC236}">
                <a16:creationId xmlns:a16="http://schemas.microsoft.com/office/drawing/2014/main" id="{D0A3C9BF-105D-1355-18E2-29286CE2314F}"/>
              </a:ext>
            </a:extLst>
          </p:cNvPr>
          <p:cNvSpPr/>
          <p:nvPr/>
        </p:nvSpPr>
        <p:spPr>
          <a:xfrm>
            <a:off x="4997584" y="5706704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distance pattern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Competition not main driver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Demographics / price dominates</a:t>
            </a:r>
            <a:endParaRPr lang="en-US" sz="1000" dirty="0"/>
          </a:p>
        </p:txBody>
      </p:sp>
      <p:sp>
        <p:nvSpPr>
          <p:cNvPr id="38" name="Shape 90">
            <a:extLst>
              <a:ext uri="{FF2B5EF4-FFF2-40B4-BE49-F238E27FC236}">
                <a16:creationId xmlns:a16="http://schemas.microsoft.com/office/drawing/2014/main" id="{87AB9DE5-EA10-B29A-FA36-E50F3E353346}"/>
              </a:ext>
            </a:extLst>
          </p:cNvPr>
          <p:cNvSpPr/>
          <p:nvPr/>
        </p:nvSpPr>
        <p:spPr>
          <a:xfrm>
            <a:off x="8105096" y="5414096"/>
            <a:ext cx="2743200" cy="1110048"/>
          </a:xfrm>
          <a:prstGeom prst="rect">
            <a:avLst/>
          </a:prstGeom>
          <a:solidFill>
            <a:srgbClr val="FFF1F1"/>
          </a:solidFill>
          <a:ln w="25400">
            <a:solidFill>
              <a:srgbClr val="B9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91">
            <a:extLst>
              <a:ext uri="{FF2B5EF4-FFF2-40B4-BE49-F238E27FC236}">
                <a16:creationId xmlns:a16="http://schemas.microsoft.com/office/drawing/2014/main" id="{AAE30EB6-96F2-4CDA-3B79-3524F43A88E7}"/>
              </a:ext>
            </a:extLst>
          </p:cNvPr>
          <p:cNvSpPr/>
          <p:nvPr/>
        </p:nvSpPr>
        <p:spPr>
          <a:xfrm>
            <a:off x="8105096" y="5414096"/>
            <a:ext cx="2743200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92">
            <a:extLst>
              <a:ext uri="{FF2B5EF4-FFF2-40B4-BE49-F238E27FC236}">
                <a16:creationId xmlns:a16="http://schemas.microsoft.com/office/drawing/2014/main" id="{097F73D7-C591-7FF7-7845-646E0CC4276F}"/>
              </a:ext>
            </a:extLst>
          </p:cNvPr>
          <p:cNvSpPr/>
          <p:nvPr/>
        </p:nvSpPr>
        <p:spPr>
          <a:xfrm>
            <a:off x="8178248" y="543238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r &gt; +0.10, p &lt; 0.05</a:t>
            </a:r>
          </a:p>
        </p:txBody>
      </p:sp>
      <p:sp>
        <p:nvSpPr>
          <p:cNvPr id="41" name="Text 93">
            <a:extLst>
              <a:ext uri="{FF2B5EF4-FFF2-40B4-BE49-F238E27FC236}">
                <a16:creationId xmlns:a16="http://schemas.microsoft.com/office/drawing/2014/main" id="{1C8FB54C-34BC-B6AA-EAC3-3405D6B57036}"/>
              </a:ext>
            </a:extLst>
          </p:cNvPr>
          <p:cNvSpPr/>
          <p:nvPr/>
        </p:nvSpPr>
        <p:spPr>
          <a:xfrm>
            <a:off x="8178248" y="5688416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↓ when rival is CLOSER</a:t>
            </a:r>
            <a:endParaRPr lang="en-US" sz="1000"/>
          </a:p>
          <a:p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Rival takes customers when nearby</a:t>
            </a:r>
            <a:endParaRPr lang="en-US" sz="1000"/>
          </a:p>
          <a:p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Cross-shopping risk</a:t>
            </a:r>
            <a:endParaRPr lang="en-US" sz="1000"/>
          </a:p>
          <a:p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Caution on shelf expansion</a:t>
            </a:r>
            <a:endParaRPr lang="en-US" sz="1000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DCA016D1-FA49-16E8-AEB8-36177B28C1C4}"/>
              </a:ext>
            </a:extLst>
          </p:cNvPr>
          <p:cNvSpPr/>
          <p:nvPr/>
        </p:nvSpPr>
        <p:spPr>
          <a:xfrm>
            <a:off x="1896149" y="3511931"/>
            <a:ext cx="8595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7C98DF0F-B691-5AB8-7F44-65E4ED88E562}"/>
              </a:ext>
            </a:extLst>
          </p:cNvPr>
          <p:cNvSpPr/>
          <p:nvPr/>
        </p:nvSpPr>
        <p:spPr>
          <a:xfrm>
            <a:off x="5296997" y="3431477"/>
            <a:ext cx="2194560" cy="16459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280"/>
                </a:solidFill>
              </a:rPr>
              <a:t>Pearson Correlation Test</a:t>
            </a:r>
          </a:p>
        </p:txBody>
      </p:sp>
    </p:spTree>
    <p:extLst>
      <p:ext uri="{BB962C8B-B14F-4D97-AF65-F5344CB8AC3E}">
        <p14:creationId xmlns:p14="http://schemas.microsoft.com/office/powerpoint/2010/main" val="2865623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22F7F-5191-95A7-8242-E9DB3DF22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53672-3D49-4E97-FF34-D1F785AD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17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8EF6C7-9A8D-D339-0045-B0CE36D4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Competitive Signal Analysis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1288E5-1248-8B84-B3EE-951697A830B5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958332F4-AFE2-391C-84B5-194F8CC5F42C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A5698163-BC27-8639-F52C-446D0A4674A7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2C46026E-A2E9-4993-6922-7E2B6755711C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5ACCF53D-CC1F-B232-BA37-A9FBD4627B5B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4EA23819-713F-2AE3-BBF6-9A81F0AEC573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93A30242-03CB-2D54-3770-CB902E36907D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39FC2-AD8C-847C-8B73-11045D59EBB4}"/>
              </a:ext>
            </a:extLst>
          </p:cNvPr>
          <p:cNvSpPr/>
          <p:nvPr/>
        </p:nvSpPr>
        <p:spPr>
          <a:xfrm>
            <a:off x="1656408" y="1180614"/>
            <a:ext cx="8592671" cy="293730"/>
          </a:xfrm>
          <a:prstGeom prst="rect">
            <a:avLst/>
          </a:prstGeom>
          <a:solidFill>
            <a:srgbClr val="CC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Expand Pearson correlation analysis across all eight competitors</a:t>
            </a:r>
            <a:r>
              <a:rPr lang="en-US" sz="900" kern="0">
                <a:solidFill>
                  <a:srgbClr val="FFFFFF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(Brand Sales vs. Distance)</a:t>
            </a:r>
            <a:endParaRPr lang="en-US" kern="0">
              <a:solidFill>
                <a:srgbClr val="FFFFFF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122CED-545C-154B-8977-4D5C1A1AC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941" y="1548040"/>
            <a:ext cx="6627824" cy="2561381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26DAFA4C-E861-56CA-A19E-B7B8FAB1E822}"/>
              </a:ext>
            </a:extLst>
          </p:cNvPr>
          <p:cNvGrpSpPr/>
          <p:nvPr/>
        </p:nvGrpSpPr>
        <p:grpSpPr>
          <a:xfrm>
            <a:off x="350432" y="4635656"/>
            <a:ext cx="1833768" cy="1353312"/>
            <a:chOff x="8670350" y="1808913"/>
            <a:chExt cx="2743200" cy="1353312"/>
          </a:xfrm>
        </p:grpSpPr>
        <p:sp>
          <p:nvSpPr>
            <p:cNvPr id="34" name="Shape 97">
              <a:extLst>
                <a:ext uri="{FF2B5EF4-FFF2-40B4-BE49-F238E27FC236}">
                  <a16:creationId xmlns:a16="http://schemas.microsoft.com/office/drawing/2014/main" id="{EF6A8B01-BA40-DF4D-015C-9F291E62CE19}"/>
                </a:ext>
              </a:extLst>
            </p:cNvPr>
            <p:cNvSpPr/>
            <p:nvPr/>
          </p:nvSpPr>
          <p:spPr>
            <a:xfrm>
              <a:off x="8670350" y="1808913"/>
              <a:ext cx="2743200" cy="1353312"/>
            </a:xfrm>
            <a:prstGeom prst="rect">
              <a:avLst/>
            </a:prstGeom>
            <a:solidFill>
              <a:srgbClr val="F0FDF4"/>
            </a:solidFill>
            <a:ln w="25400">
              <a:solidFill>
                <a:srgbClr val="1A7A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98">
              <a:extLst>
                <a:ext uri="{FF2B5EF4-FFF2-40B4-BE49-F238E27FC236}">
                  <a16:creationId xmlns:a16="http://schemas.microsoft.com/office/drawing/2014/main" id="{0AC1CA69-8886-CD1D-D07D-9538CE4F465D}"/>
                </a:ext>
              </a:extLst>
            </p:cNvPr>
            <p:cNvSpPr/>
            <p:nvPr/>
          </p:nvSpPr>
          <p:spPr>
            <a:xfrm>
              <a:off x="8670350" y="1808913"/>
              <a:ext cx="2743200" cy="237744"/>
            </a:xfrm>
            <a:prstGeom prst="rect">
              <a:avLst/>
            </a:prstGeom>
            <a:solidFill>
              <a:srgbClr val="1A7A4A"/>
            </a:solidFill>
            <a:ln w="12700">
              <a:solidFill>
                <a:srgbClr val="1A7A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99">
              <a:extLst>
                <a:ext uri="{FF2B5EF4-FFF2-40B4-BE49-F238E27FC236}">
                  <a16:creationId xmlns:a16="http://schemas.microsoft.com/office/drawing/2014/main" id="{C133287C-0CBA-B32C-16A1-3D911B649965}"/>
                </a:ext>
              </a:extLst>
            </p:cNvPr>
            <p:cNvSpPr/>
            <p:nvPr/>
          </p:nvSpPr>
          <p:spPr>
            <a:xfrm>
              <a:off x="8734358" y="1827201"/>
              <a:ext cx="26334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GROW — Full Confidence</a:t>
              </a:r>
              <a:endParaRPr lang="en-US" sz="950"/>
            </a:p>
          </p:txBody>
        </p:sp>
        <p:sp>
          <p:nvSpPr>
            <p:cNvPr id="37" name="Text 100">
              <a:extLst>
                <a:ext uri="{FF2B5EF4-FFF2-40B4-BE49-F238E27FC236}">
                  <a16:creationId xmlns:a16="http://schemas.microsoft.com/office/drawing/2014/main" id="{A49B842C-F584-A22E-5211-DADE8E462B06}"/>
                </a:ext>
              </a:extLst>
            </p:cNvPr>
            <p:cNvSpPr/>
            <p:nvPr/>
          </p:nvSpPr>
          <p:spPr>
            <a:xfrm>
              <a:off x="8734358" y="2083233"/>
              <a:ext cx="26334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i="1">
                  <a:solidFill>
                    <a:srgbClr val="1A7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shift + ✅ signal both agree</a:t>
              </a:r>
              <a:endParaRPr lang="en-US" sz="850"/>
            </a:p>
          </p:txBody>
        </p:sp>
        <p:sp>
          <p:nvSpPr>
            <p:cNvPr id="38" name="Text 101">
              <a:extLst>
                <a:ext uri="{FF2B5EF4-FFF2-40B4-BE49-F238E27FC236}">
                  <a16:creationId xmlns:a16="http://schemas.microsoft.com/office/drawing/2014/main" id="{62A3ED22-74B8-D056-1D19-A5559F361A72}"/>
                </a:ext>
              </a:extLst>
            </p:cNvPr>
            <p:cNvSpPr/>
            <p:nvPr/>
          </p:nvSpPr>
          <p:spPr>
            <a:xfrm>
              <a:off x="8734358" y="2302689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1A7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Gurobi: increase space</a:t>
              </a:r>
              <a:endParaRPr lang="en-US" sz="850"/>
            </a:p>
          </p:txBody>
        </p:sp>
        <p:sp>
          <p:nvSpPr>
            <p:cNvPr id="39" name="Text 102">
              <a:extLst>
                <a:ext uri="{FF2B5EF4-FFF2-40B4-BE49-F238E27FC236}">
                  <a16:creationId xmlns:a16="http://schemas.microsoft.com/office/drawing/2014/main" id="{DBD54242-8338-FAD9-4861-C0F79B32BCCC}"/>
                </a:ext>
              </a:extLst>
            </p:cNvPr>
            <p:cNvSpPr/>
            <p:nvPr/>
          </p:nvSpPr>
          <p:spPr>
            <a:xfrm>
              <a:off x="8734358" y="2513001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1A7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 &lt; −0.10 → beats rival nearby</a:t>
              </a:r>
              <a:endParaRPr lang="en-US" sz="850"/>
            </a:p>
          </p:txBody>
        </p:sp>
        <p:sp>
          <p:nvSpPr>
            <p:cNvPr id="40" name="Text 103">
              <a:extLst>
                <a:ext uri="{FF2B5EF4-FFF2-40B4-BE49-F238E27FC236}">
                  <a16:creationId xmlns:a16="http://schemas.microsoft.com/office/drawing/2014/main" id="{9808E6B7-46AC-4EB0-D0DF-BA3ADC0FD415}"/>
                </a:ext>
              </a:extLst>
            </p:cNvPr>
            <p:cNvSpPr/>
            <p:nvPr/>
          </p:nvSpPr>
          <p:spPr>
            <a:xfrm>
              <a:off x="8734358" y="2723313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1A7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VIF ≤ 10 + CV ≥ 10% → beta trusted</a:t>
              </a:r>
              <a:endParaRPr lang="en-US" sz="850"/>
            </a:p>
          </p:txBody>
        </p:sp>
        <p:sp>
          <p:nvSpPr>
            <p:cNvPr id="41" name="Text 104">
              <a:extLst>
                <a:ext uri="{FF2B5EF4-FFF2-40B4-BE49-F238E27FC236}">
                  <a16:creationId xmlns:a16="http://schemas.microsoft.com/office/drawing/2014/main" id="{AD558875-3025-A0B6-7386-91D55A9E4EDA}"/>
                </a:ext>
              </a:extLst>
            </p:cNvPr>
            <p:cNvSpPr/>
            <p:nvPr/>
          </p:nvSpPr>
          <p:spPr>
            <a:xfrm>
              <a:off x="8734358" y="2933625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7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[Brand A], [Brand I] vs rival A</a:t>
              </a:r>
              <a:endParaRPr lang="en-US" sz="85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4E45EFB-3B62-2B33-C4DC-5D9FF28BB920}"/>
              </a:ext>
            </a:extLst>
          </p:cNvPr>
          <p:cNvGrpSpPr/>
          <p:nvPr/>
        </p:nvGrpSpPr>
        <p:grpSpPr>
          <a:xfrm>
            <a:off x="3947336" y="4633304"/>
            <a:ext cx="1673535" cy="1353312"/>
            <a:chOff x="8831714" y="3253665"/>
            <a:chExt cx="2743200" cy="1353312"/>
          </a:xfrm>
        </p:grpSpPr>
        <p:sp>
          <p:nvSpPr>
            <p:cNvPr id="42" name="Shape 105">
              <a:extLst>
                <a:ext uri="{FF2B5EF4-FFF2-40B4-BE49-F238E27FC236}">
                  <a16:creationId xmlns:a16="http://schemas.microsoft.com/office/drawing/2014/main" id="{4C6D1B8E-9192-776F-D68A-376A49B2F3BB}"/>
                </a:ext>
              </a:extLst>
            </p:cNvPr>
            <p:cNvSpPr/>
            <p:nvPr/>
          </p:nvSpPr>
          <p:spPr>
            <a:xfrm>
              <a:off x="8831714" y="3253665"/>
              <a:ext cx="2743200" cy="1353312"/>
            </a:xfrm>
            <a:prstGeom prst="rect">
              <a:avLst/>
            </a:prstGeom>
            <a:solidFill>
              <a:srgbClr val="FFFBEA"/>
            </a:solidFill>
            <a:ln w="25400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106">
              <a:extLst>
                <a:ext uri="{FF2B5EF4-FFF2-40B4-BE49-F238E27FC236}">
                  <a16:creationId xmlns:a16="http://schemas.microsoft.com/office/drawing/2014/main" id="{6A290214-DEA4-7DD7-A08F-24C700962DA9}"/>
                </a:ext>
              </a:extLst>
            </p:cNvPr>
            <p:cNvSpPr/>
            <p:nvPr/>
          </p:nvSpPr>
          <p:spPr>
            <a:xfrm>
              <a:off x="8831714" y="3253665"/>
              <a:ext cx="2743200" cy="23774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107">
              <a:extLst>
                <a:ext uri="{FF2B5EF4-FFF2-40B4-BE49-F238E27FC236}">
                  <a16:creationId xmlns:a16="http://schemas.microsoft.com/office/drawing/2014/main" id="{3CBA65B0-BB1F-5E92-9BF4-09F05EB05049}"/>
                </a:ext>
              </a:extLst>
            </p:cNvPr>
            <p:cNvSpPr/>
            <p:nvPr/>
          </p:nvSpPr>
          <p:spPr>
            <a:xfrm>
              <a:off x="8895722" y="3271953"/>
              <a:ext cx="26334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GROW — Standard</a:t>
              </a:r>
              <a:endParaRPr lang="en-US" sz="950"/>
            </a:p>
          </p:txBody>
        </p:sp>
        <p:sp>
          <p:nvSpPr>
            <p:cNvPr id="45" name="Text 108">
              <a:extLst>
                <a:ext uri="{FF2B5EF4-FFF2-40B4-BE49-F238E27FC236}">
                  <a16:creationId xmlns:a16="http://schemas.microsoft.com/office/drawing/2014/main" id="{68CBC0A3-6665-FEFE-F688-72CBD1347AEF}"/>
                </a:ext>
              </a:extLst>
            </p:cNvPr>
            <p:cNvSpPr/>
            <p:nvPr/>
          </p:nvSpPr>
          <p:spPr>
            <a:xfrm>
              <a:off x="8895722" y="3527985"/>
              <a:ext cx="26334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i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shift + ➖ signal (neutral)</a:t>
              </a:r>
              <a:endParaRPr lang="en-US" sz="85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6" name="Text 109">
              <a:extLst>
                <a:ext uri="{FF2B5EF4-FFF2-40B4-BE49-F238E27FC236}">
                  <a16:creationId xmlns:a16="http://schemas.microsoft.com/office/drawing/2014/main" id="{66097B30-5FB7-5B14-C815-5381E3E2705A}"/>
                </a:ext>
              </a:extLst>
            </p:cNvPr>
            <p:cNvSpPr/>
            <p:nvPr/>
          </p:nvSpPr>
          <p:spPr>
            <a:xfrm>
              <a:off x="8895722" y="3747441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Gurobi: increase space</a:t>
              </a:r>
              <a:endParaRPr lang="en-US" sz="850"/>
            </a:p>
          </p:txBody>
        </p:sp>
        <p:sp>
          <p:nvSpPr>
            <p:cNvPr id="47" name="Text 110">
              <a:extLst>
                <a:ext uri="{FF2B5EF4-FFF2-40B4-BE49-F238E27FC236}">
                  <a16:creationId xmlns:a16="http://schemas.microsoft.com/office/drawing/2014/main" id="{407834F7-AD6E-D3E2-7411-EE36CDC7112E}"/>
                </a:ext>
              </a:extLst>
            </p:cNvPr>
            <p:cNvSpPr/>
            <p:nvPr/>
          </p:nvSpPr>
          <p:spPr>
            <a:xfrm>
              <a:off x="8895722" y="3957753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significant competitive signal</a:t>
              </a:r>
              <a:endParaRPr lang="en-US" sz="850"/>
            </a:p>
          </p:txBody>
        </p:sp>
        <p:sp>
          <p:nvSpPr>
            <p:cNvPr id="48" name="Text 111">
              <a:extLst>
                <a:ext uri="{FF2B5EF4-FFF2-40B4-BE49-F238E27FC236}">
                  <a16:creationId xmlns:a16="http://schemas.microsoft.com/office/drawing/2014/main" id="{DC7879CD-6BF4-59C4-563C-DA8489F3AB6E}"/>
                </a:ext>
              </a:extLst>
            </p:cNvPr>
            <p:cNvSpPr/>
            <p:nvPr/>
          </p:nvSpPr>
          <p:spPr>
            <a:xfrm>
              <a:off x="8895722" y="4168065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Apply shift — monitor proximity</a:t>
              </a:r>
              <a:endParaRPr lang="en-US" sz="850"/>
            </a:p>
          </p:txBody>
        </p:sp>
        <p:sp>
          <p:nvSpPr>
            <p:cNvPr id="49" name="Text 112">
              <a:extLst>
                <a:ext uri="{FF2B5EF4-FFF2-40B4-BE49-F238E27FC236}">
                  <a16:creationId xmlns:a16="http://schemas.microsoft.com/office/drawing/2014/main" id="{059BFD03-BDB4-1F4F-4B77-1CA2B8F92CDD}"/>
                </a:ext>
              </a:extLst>
            </p:cNvPr>
            <p:cNvSpPr/>
            <p:nvPr/>
          </p:nvSpPr>
          <p:spPr>
            <a:xfrm>
              <a:off x="8895722" y="4378377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[Brand G], [Brand C]</a:t>
              </a:r>
              <a:endParaRPr lang="en-US" sz="850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C44569B-700C-1CCF-94AD-A6F6741674B3}"/>
              </a:ext>
            </a:extLst>
          </p:cNvPr>
          <p:cNvGrpSpPr/>
          <p:nvPr/>
        </p:nvGrpSpPr>
        <p:grpSpPr>
          <a:xfrm>
            <a:off x="2203429" y="4631491"/>
            <a:ext cx="1723113" cy="1353312"/>
            <a:chOff x="7239000" y="4702729"/>
            <a:chExt cx="2743200" cy="1353312"/>
          </a:xfrm>
        </p:grpSpPr>
        <p:sp>
          <p:nvSpPr>
            <p:cNvPr id="50" name="Shape 113">
              <a:extLst>
                <a:ext uri="{FF2B5EF4-FFF2-40B4-BE49-F238E27FC236}">
                  <a16:creationId xmlns:a16="http://schemas.microsoft.com/office/drawing/2014/main" id="{63180B0F-E1A5-9440-0A81-C79DBC2E2814}"/>
                </a:ext>
              </a:extLst>
            </p:cNvPr>
            <p:cNvSpPr/>
            <p:nvPr/>
          </p:nvSpPr>
          <p:spPr>
            <a:xfrm>
              <a:off x="7239000" y="4702729"/>
              <a:ext cx="2743200" cy="13533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accent3">
                  <a:lumMod val="50000"/>
                </a:schemeClr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14">
              <a:extLst>
                <a:ext uri="{FF2B5EF4-FFF2-40B4-BE49-F238E27FC236}">
                  <a16:creationId xmlns:a16="http://schemas.microsoft.com/office/drawing/2014/main" id="{ED635E43-E353-C843-B0A0-92F454D925E9}"/>
                </a:ext>
              </a:extLst>
            </p:cNvPr>
            <p:cNvSpPr/>
            <p:nvPr/>
          </p:nvSpPr>
          <p:spPr>
            <a:xfrm>
              <a:off x="7239000" y="4702729"/>
              <a:ext cx="2743200" cy="237744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2700">
              <a:solidFill>
                <a:schemeClr val="accent3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15">
              <a:extLst>
                <a:ext uri="{FF2B5EF4-FFF2-40B4-BE49-F238E27FC236}">
                  <a16:creationId xmlns:a16="http://schemas.microsoft.com/office/drawing/2014/main" id="{0C8B0EC3-8AD7-D159-3CAB-95D8921001A0}"/>
                </a:ext>
              </a:extLst>
            </p:cNvPr>
            <p:cNvSpPr/>
            <p:nvPr/>
          </p:nvSpPr>
          <p:spPr>
            <a:xfrm>
              <a:off x="7303008" y="4721017"/>
              <a:ext cx="26334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5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GROW — Rival Risk</a:t>
              </a:r>
              <a:endParaRPr lang="en-US" sz="950"/>
            </a:p>
          </p:txBody>
        </p:sp>
        <p:sp>
          <p:nvSpPr>
            <p:cNvPr id="53" name="Text 116">
              <a:extLst>
                <a:ext uri="{FF2B5EF4-FFF2-40B4-BE49-F238E27FC236}">
                  <a16:creationId xmlns:a16="http://schemas.microsoft.com/office/drawing/2014/main" id="{7D02E731-5793-0B1E-6EEE-DB06E83C45D4}"/>
                </a:ext>
              </a:extLst>
            </p:cNvPr>
            <p:cNvSpPr/>
            <p:nvPr/>
          </p:nvSpPr>
          <p:spPr>
            <a:xfrm>
              <a:off x="7303008" y="4977049"/>
              <a:ext cx="26334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i="1" err="1">
                  <a:solidFill>
                    <a:schemeClr val="accent3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</a:t>
              </a:r>
              <a:r>
                <a:rPr lang="en-US" sz="850" b="1" i="1">
                  <a:solidFill>
                    <a:schemeClr val="accent3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shift + but ⚠️ signal disagrees</a:t>
              </a:r>
              <a:endParaRPr lang="en-US" sz="85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54" name="Text 117">
              <a:extLst>
                <a:ext uri="{FF2B5EF4-FFF2-40B4-BE49-F238E27FC236}">
                  <a16:creationId xmlns:a16="http://schemas.microsoft.com/office/drawing/2014/main" id="{DF678001-3C36-2475-62E6-1A7616887B8F}"/>
                </a:ext>
              </a:extLst>
            </p:cNvPr>
            <p:cNvSpPr/>
            <p:nvPr/>
          </p:nvSpPr>
          <p:spPr>
            <a:xfrm>
              <a:off x="7303008" y="5196505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Gurobi: increase space</a:t>
              </a:r>
              <a:endParaRPr lang="en-US" sz="850"/>
            </a:p>
          </p:txBody>
        </p:sp>
        <p:sp>
          <p:nvSpPr>
            <p:cNvPr id="55" name="Text 118">
              <a:extLst>
                <a:ext uri="{FF2B5EF4-FFF2-40B4-BE49-F238E27FC236}">
                  <a16:creationId xmlns:a16="http://schemas.microsoft.com/office/drawing/2014/main" id="{D1A2700F-3666-1EEE-748D-8033AD7DB8CD}"/>
                </a:ext>
              </a:extLst>
            </p:cNvPr>
            <p:cNvSpPr/>
            <p:nvPr/>
          </p:nvSpPr>
          <p:spPr>
            <a:xfrm>
              <a:off x="7303008" y="5406817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 &gt; +0.10 → rival steals customers nearby</a:t>
              </a:r>
              <a:endParaRPr lang="en-US" sz="850"/>
            </a:p>
          </p:txBody>
        </p:sp>
      </p:grpSp>
      <p:sp>
        <p:nvSpPr>
          <p:cNvPr id="58" name="Right Brace 57">
            <a:extLst>
              <a:ext uri="{FF2B5EF4-FFF2-40B4-BE49-F238E27FC236}">
                <a16:creationId xmlns:a16="http://schemas.microsoft.com/office/drawing/2014/main" id="{203B6EA4-015E-06E4-EF09-CAEA7AA6D02B}"/>
              </a:ext>
            </a:extLst>
          </p:cNvPr>
          <p:cNvSpPr/>
          <p:nvPr/>
        </p:nvSpPr>
        <p:spPr>
          <a:xfrm rot="16200000" flipV="1">
            <a:off x="5579784" y="1207268"/>
            <a:ext cx="369331" cy="6292718"/>
          </a:xfrm>
          <a:prstGeom prst="rightBrace">
            <a:avLst>
              <a:gd name="adj1" fmla="val 9632"/>
              <a:gd name="adj2" fmla="val 502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pe 23">
            <a:extLst>
              <a:ext uri="{FF2B5EF4-FFF2-40B4-BE49-F238E27FC236}">
                <a16:creationId xmlns:a16="http://schemas.microsoft.com/office/drawing/2014/main" id="{E9664593-145D-AFC0-414A-E4AF967F136D}"/>
              </a:ext>
            </a:extLst>
          </p:cNvPr>
          <p:cNvSpPr/>
          <p:nvPr/>
        </p:nvSpPr>
        <p:spPr>
          <a:xfrm>
            <a:off x="1572585" y="4183117"/>
            <a:ext cx="8595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2E93C3A4-A7AF-785E-C0A7-0A9B42139752}"/>
              </a:ext>
            </a:extLst>
          </p:cNvPr>
          <p:cNvSpPr/>
          <p:nvPr/>
        </p:nvSpPr>
        <p:spPr>
          <a:xfrm>
            <a:off x="4564777" y="4101929"/>
            <a:ext cx="2750423" cy="15628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280"/>
                </a:solidFill>
              </a:rPr>
              <a:t>Optimization Action – Final Recommendation Per Brand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E00B9C8-4AE2-36E7-76FA-78599B7EF038}"/>
              </a:ext>
            </a:extLst>
          </p:cNvPr>
          <p:cNvGrpSpPr/>
          <p:nvPr/>
        </p:nvGrpSpPr>
        <p:grpSpPr>
          <a:xfrm>
            <a:off x="6177044" y="4631491"/>
            <a:ext cx="1847089" cy="1353312"/>
            <a:chOff x="9811857" y="2811476"/>
            <a:chExt cx="2743200" cy="1353312"/>
          </a:xfrm>
        </p:grpSpPr>
        <p:sp>
          <p:nvSpPr>
            <p:cNvPr id="90" name="Shape 146">
              <a:extLst>
                <a:ext uri="{FF2B5EF4-FFF2-40B4-BE49-F238E27FC236}">
                  <a16:creationId xmlns:a16="http://schemas.microsoft.com/office/drawing/2014/main" id="{52791446-4F69-E672-C815-CA170540F375}"/>
                </a:ext>
              </a:extLst>
            </p:cNvPr>
            <p:cNvSpPr/>
            <p:nvPr/>
          </p:nvSpPr>
          <p:spPr>
            <a:xfrm>
              <a:off x="9811857" y="2811476"/>
              <a:ext cx="2743200" cy="1353312"/>
            </a:xfrm>
            <a:prstGeom prst="rect">
              <a:avLst/>
            </a:prstGeom>
            <a:solidFill>
              <a:srgbClr val="FFFBEA"/>
            </a:solidFill>
            <a:ln w="25400">
              <a:solidFill>
                <a:srgbClr val="D9770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147">
              <a:extLst>
                <a:ext uri="{FF2B5EF4-FFF2-40B4-BE49-F238E27FC236}">
                  <a16:creationId xmlns:a16="http://schemas.microsoft.com/office/drawing/2014/main" id="{E1ED4739-5D14-92A3-F216-8D6155F0D201}"/>
                </a:ext>
              </a:extLst>
            </p:cNvPr>
            <p:cNvSpPr/>
            <p:nvPr/>
          </p:nvSpPr>
          <p:spPr>
            <a:xfrm>
              <a:off x="9811857" y="2811476"/>
              <a:ext cx="2743200" cy="237744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 148">
              <a:extLst>
                <a:ext uri="{FF2B5EF4-FFF2-40B4-BE49-F238E27FC236}">
                  <a16:creationId xmlns:a16="http://schemas.microsoft.com/office/drawing/2014/main" id="{6C2E9C41-D3B1-7038-C646-4E217751934C}"/>
                </a:ext>
              </a:extLst>
            </p:cNvPr>
            <p:cNvSpPr/>
            <p:nvPr/>
          </p:nvSpPr>
          <p:spPr>
            <a:xfrm>
              <a:off x="9875865" y="2829764"/>
              <a:ext cx="26334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🟡  GROW — Standard</a:t>
              </a:r>
              <a:endParaRPr lang="en-US" sz="950"/>
            </a:p>
          </p:txBody>
        </p:sp>
        <p:sp>
          <p:nvSpPr>
            <p:cNvPr id="93" name="Text 149">
              <a:extLst>
                <a:ext uri="{FF2B5EF4-FFF2-40B4-BE49-F238E27FC236}">
                  <a16:creationId xmlns:a16="http://schemas.microsoft.com/office/drawing/2014/main" id="{E78B03AA-CCC9-86AC-2602-71E0937E7C82}"/>
                </a:ext>
              </a:extLst>
            </p:cNvPr>
            <p:cNvSpPr/>
            <p:nvPr/>
          </p:nvSpPr>
          <p:spPr>
            <a:xfrm>
              <a:off x="9875865" y="3085796"/>
              <a:ext cx="26334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i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↑ + ➖ no signal</a:t>
              </a:r>
              <a:endParaRPr lang="en-US" sz="850"/>
            </a:p>
          </p:txBody>
        </p:sp>
        <p:sp>
          <p:nvSpPr>
            <p:cNvPr id="94" name="Text 150">
              <a:extLst>
                <a:ext uri="{FF2B5EF4-FFF2-40B4-BE49-F238E27FC236}">
                  <a16:creationId xmlns:a16="http://schemas.microsoft.com/office/drawing/2014/main" id="{49A766E5-60A2-A662-7186-06DFBB84A86F}"/>
                </a:ext>
              </a:extLst>
            </p:cNvPr>
            <p:cNvSpPr/>
            <p:nvPr/>
          </p:nvSpPr>
          <p:spPr>
            <a:xfrm>
              <a:off x="9875865" y="3305252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increases space</a:t>
              </a:r>
              <a:endParaRPr lang="en-US" sz="850"/>
            </a:p>
          </p:txBody>
        </p:sp>
        <p:sp>
          <p:nvSpPr>
            <p:cNvPr id="95" name="Text 151">
              <a:extLst>
                <a:ext uri="{FF2B5EF4-FFF2-40B4-BE49-F238E27FC236}">
                  <a16:creationId xmlns:a16="http://schemas.microsoft.com/office/drawing/2014/main" id="{4A15A498-5883-17CC-09FB-ECD148F79E88}"/>
                </a:ext>
              </a:extLst>
            </p:cNvPr>
            <p:cNvSpPr/>
            <p:nvPr/>
          </p:nvSpPr>
          <p:spPr>
            <a:xfrm>
              <a:off x="9875865" y="3515564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competitive signal</a:t>
              </a:r>
              <a:endParaRPr lang="en-US" sz="850"/>
            </a:p>
          </p:txBody>
        </p:sp>
        <p:sp>
          <p:nvSpPr>
            <p:cNvPr id="96" name="Text 152">
              <a:extLst>
                <a:ext uri="{FF2B5EF4-FFF2-40B4-BE49-F238E27FC236}">
                  <a16:creationId xmlns:a16="http://schemas.microsoft.com/office/drawing/2014/main" id="{B5A15A08-99A8-BFF4-D4D2-5F6D022F457B}"/>
                </a:ext>
              </a:extLst>
            </p:cNvPr>
            <p:cNvSpPr/>
            <p:nvPr/>
          </p:nvSpPr>
          <p:spPr>
            <a:xfrm>
              <a:off x="9875865" y="3725876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[Brand D], [Brand G]</a:t>
              </a:r>
              <a:endParaRPr lang="en-US" sz="850"/>
            </a:p>
          </p:txBody>
        </p:sp>
        <p:sp>
          <p:nvSpPr>
            <p:cNvPr id="133" name="Shape 167">
              <a:extLst>
                <a:ext uri="{FF2B5EF4-FFF2-40B4-BE49-F238E27FC236}">
                  <a16:creationId xmlns:a16="http://schemas.microsoft.com/office/drawing/2014/main" id="{9A9D52B2-5CA9-8276-433E-880FA681476F}"/>
                </a:ext>
              </a:extLst>
            </p:cNvPr>
            <p:cNvSpPr/>
            <p:nvPr/>
          </p:nvSpPr>
          <p:spPr>
            <a:xfrm>
              <a:off x="9811857" y="2811476"/>
              <a:ext cx="2743200" cy="1353312"/>
            </a:xfrm>
            <a:prstGeom prst="rect">
              <a:avLst/>
            </a:prstGeom>
            <a:solidFill>
              <a:srgbClr val="FFF1F1"/>
            </a:solidFill>
            <a:ln w="25400">
              <a:solidFill>
                <a:srgbClr val="B91C1C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168">
              <a:extLst>
                <a:ext uri="{FF2B5EF4-FFF2-40B4-BE49-F238E27FC236}">
                  <a16:creationId xmlns:a16="http://schemas.microsoft.com/office/drawing/2014/main" id="{B84AD5DF-E6D2-4A67-A816-906C9C72FD68}"/>
                </a:ext>
              </a:extLst>
            </p:cNvPr>
            <p:cNvSpPr/>
            <p:nvPr/>
          </p:nvSpPr>
          <p:spPr>
            <a:xfrm>
              <a:off x="9811857" y="2811476"/>
              <a:ext cx="2743200" cy="237744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Text 169">
              <a:extLst>
                <a:ext uri="{FF2B5EF4-FFF2-40B4-BE49-F238E27FC236}">
                  <a16:creationId xmlns:a16="http://schemas.microsoft.com/office/drawing/2014/main" id="{1A754005-6F52-8C15-3E68-7AB4617BBE23}"/>
                </a:ext>
              </a:extLst>
            </p:cNvPr>
            <p:cNvSpPr/>
            <p:nvPr/>
          </p:nvSpPr>
          <p:spPr>
            <a:xfrm>
              <a:off x="9875865" y="2829764"/>
              <a:ext cx="26334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REDUCE — Rival Risk</a:t>
              </a:r>
              <a:endParaRPr lang="en-US" sz="950"/>
            </a:p>
          </p:txBody>
        </p:sp>
        <p:sp>
          <p:nvSpPr>
            <p:cNvPr id="136" name="Text 170">
              <a:extLst>
                <a:ext uri="{FF2B5EF4-FFF2-40B4-BE49-F238E27FC236}">
                  <a16:creationId xmlns:a16="http://schemas.microsoft.com/office/drawing/2014/main" id="{4F9436B7-F09B-F42D-8823-B6D579CA5FFD}"/>
                </a:ext>
              </a:extLst>
            </p:cNvPr>
            <p:cNvSpPr/>
            <p:nvPr/>
          </p:nvSpPr>
          <p:spPr>
            <a:xfrm>
              <a:off x="9875865" y="3085796"/>
              <a:ext cx="26334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i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↓ + ⚠️ rival compounds loss</a:t>
              </a:r>
              <a:endParaRPr lang="en-US" sz="850"/>
            </a:p>
          </p:txBody>
        </p:sp>
        <p:sp>
          <p:nvSpPr>
            <p:cNvPr id="137" name="Text 171">
              <a:extLst>
                <a:ext uri="{FF2B5EF4-FFF2-40B4-BE49-F238E27FC236}">
                  <a16:creationId xmlns:a16="http://schemas.microsoft.com/office/drawing/2014/main" id="{005AB8F4-4C03-3F94-5927-F10EAE7E98DD}"/>
                </a:ext>
              </a:extLst>
            </p:cNvPr>
            <p:cNvSpPr/>
            <p:nvPr/>
          </p:nvSpPr>
          <p:spPr>
            <a:xfrm>
              <a:off x="9875865" y="3305252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reduces space</a:t>
              </a:r>
              <a:endParaRPr lang="en-US" sz="850"/>
            </a:p>
          </p:txBody>
        </p:sp>
        <p:sp>
          <p:nvSpPr>
            <p:cNvPr id="138" name="Text 172">
              <a:extLst>
                <a:ext uri="{FF2B5EF4-FFF2-40B4-BE49-F238E27FC236}">
                  <a16:creationId xmlns:a16="http://schemas.microsoft.com/office/drawing/2014/main" id="{D92C5DF2-0388-AE33-827D-C069A9A73E21}"/>
                </a:ext>
              </a:extLst>
            </p:cNvPr>
            <p:cNvSpPr/>
            <p:nvPr/>
          </p:nvSpPr>
          <p:spPr>
            <a:xfrm>
              <a:off x="9875865" y="3515564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 &gt; +0.10 → rival also hurts brand</a:t>
              </a:r>
              <a:endParaRPr lang="en-US" sz="850"/>
            </a:p>
          </p:txBody>
        </p:sp>
        <p:sp>
          <p:nvSpPr>
            <p:cNvPr id="139" name="Text 173">
              <a:extLst>
                <a:ext uri="{FF2B5EF4-FFF2-40B4-BE49-F238E27FC236}">
                  <a16:creationId xmlns:a16="http://schemas.microsoft.com/office/drawing/2014/main" id="{986865BB-454D-482D-411B-596A9972FD30}"/>
                </a:ext>
              </a:extLst>
            </p:cNvPr>
            <p:cNvSpPr/>
            <p:nvPr/>
          </p:nvSpPr>
          <p:spPr>
            <a:xfrm>
              <a:off x="9875865" y="3725876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Double pressure — cut space first</a:t>
              </a:r>
              <a:endParaRPr lang="en-US" sz="85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F3311D3-8319-001E-B568-B77A586966FF}"/>
              </a:ext>
            </a:extLst>
          </p:cNvPr>
          <p:cNvGrpSpPr/>
          <p:nvPr/>
        </p:nvGrpSpPr>
        <p:grpSpPr>
          <a:xfrm>
            <a:off x="9811388" y="4627374"/>
            <a:ext cx="1707549" cy="1353312"/>
            <a:chOff x="8460617" y="4848469"/>
            <a:chExt cx="2743200" cy="1353312"/>
          </a:xfrm>
        </p:grpSpPr>
        <p:sp>
          <p:nvSpPr>
            <p:cNvPr id="97" name="Shape 153">
              <a:extLst>
                <a:ext uri="{FF2B5EF4-FFF2-40B4-BE49-F238E27FC236}">
                  <a16:creationId xmlns:a16="http://schemas.microsoft.com/office/drawing/2014/main" id="{EC704BCB-DCC1-0AF9-414A-194948D32E84}"/>
                </a:ext>
              </a:extLst>
            </p:cNvPr>
            <p:cNvSpPr/>
            <p:nvPr/>
          </p:nvSpPr>
          <p:spPr>
            <a:xfrm>
              <a:off x="8460617" y="4848469"/>
              <a:ext cx="2743200" cy="1353312"/>
            </a:xfrm>
            <a:prstGeom prst="rect">
              <a:avLst/>
            </a:prstGeom>
            <a:solidFill>
              <a:srgbClr val="FFF1F1"/>
            </a:solidFill>
            <a:ln w="25400">
              <a:solidFill>
                <a:srgbClr val="B91C1C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Shape 154">
              <a:extLst>
                <a:ext uri="{FF2B5EF4-FFF2-40B4-BE49-F238E27FC236}">
                  <a16:creationId xmlns:a16="http://schemas.microsoft.com/office/drawing/2014/main" id="{9E5D6AC8-8F63-BDFC-4A63-EFA4048F5B1C}"/>
                </a:ext>
              </a:extLst>
            </p:cNvPr>
            <p:cNvSpPr/>
            <p:nvPr/>
          </p:nvSpPr>
          <p:spPr>
            <a:xfrm>
              <a:off x="8460617" y="4848469"/>
              <a:ext cx="2743200" cy="237744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 155">
              <a:extLst>
                <a:ext uri="{FF2B5EF4-FFF2-40B4-BE49-F238E27FC236}">
                  <a16:creationId xmlns:a16="http://schemas.microsoft.com/office/drawing/2014/main" id="{8CFBFC9E-360A-2534-8CF4-96B680F498B7}"/>
                </a:ext>
              </a:extLst>
            </p:cNvPr>
            <p:cNvSpPr/>
            <p:nvPr/>
          </p:nvSpPr>
          <p:spPr>
            <a:xfrm>
              <a:off x="8524625" y="4866757"/>
              <a:ext cx="26334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🔴  CAUTION — Flag</a:t>
              </a:r>
              <a:endParaRPr lang="en-US" sz="950"/>
            </a:p>
          </p:txBody>
        </p:sp>
        <p:sp>
          <p:nvSpPr>
            <p:cNvPr id="100" name="Text 156">
              <a:extLst>
                <a:ext uri="{FF2B5EF4-FFF2-40B4-BE49-F238E27FC236}">
                  <a16:creationId xmlns:a16="http://schemas.microsoft.com/office/drawing/2014/main" id="{36E0398A-F26B-2148-3AAE-6230272AC50C}"/>
                </a:ext>
              </a:extLst>
            </p:cNvPr>
            <p:cNvSpPr/>
            <p:nvPr/>
          </p:nvSpPr>
          <p:spPr>
            <a:xfrm>
              <a:off x="8524625" y="5122789"/>
              <a:ext cx="26334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i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↑ but ⚠️ rival steals nearby</a:t>
              </a:r>
              <a:endParaRPr lang="en-US" sz="850"/>
            </a:p>
          </p:txBody>
        </p:sp>
        <p:sp>
          <p:nvSpPr>
            <p:cNvPr id="101" name="Text 157">
              <a:extLst>
                <a:ext uri="{FF2B5EF4-FFF2-40B4-BE49-F238E27FC236}">
                  <a16:creationId xmlns:a16="http://schemas.microsoft.com/office/drawing/2014/main" id="{2DF08FD5-EE2D-F784-C242-ADD15C736E8C}"/>
                </a:ext>
              </a:extLst>
            </p:cNvPr>
            <p:cNvSpPr/>
            <p:nvPr/>
          </p:nvSpPr>
          <p:spPr>
            <a:xfrm>
              <a:off x="8524625" y="5342245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increases space</a:t>
              </a:r>
              <a:endParaRPr lang="en-US" sz="850"/>
            </a:p>
          </p:txBody>
        </p:sp>
        <p:sp>
          <p:nvSpPr>
            <p:cNvPr id="102" name="Text 158">
              <a:extLst>
                <a:ext uri="{FF2B5EF4-FFF2-40B4-BE49-F238E27FC236}">
                  <a16:creationId xmlns:a16="http://schemas.microsoft.com/office/drawing/2014/main" id="{6546ECA2-6D65-3B22-23FE-BA8B0BA15C83}"/>
                </a:ext>
              </a:extLst>
            </p:cNvPr>
            <p:cNvSpPr/>
            <p:nvPr/>
          </p:nvSpPr>
          <p:spPr>
            <a:xfrm>
              <a:off x="8524625" y="5552557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 &gt; +0.10 → rival takes customers</a:t>
              </a:r>
              <a:endParaRPr lang="en-US" sz="850"/>
            </a:p>
          </p:txBody>
        </p:sp>
        <p:sp>
          <p:nvSpPr>
            <p:cNvPr id="103" name="Text 159">
              <a:extLst>
                <a:ext uri="{FF2B5EF4-FFF2-40B4-BE49-F238E27FC236}">
                  <a16:creationId xmlns:a16="http://schemas.microsoft.com/office/drawing/2014/main" id="{8EFD0502-BE2B-65A4-760E-0F55B8021B01}"/>
                </a:ext>
              </a:extLst>
            </p:cNvPr>
            <p:cNvSpPr/>
            <p:nvPr/>
          </p:nvSpPr>
          <p:spPr>
            <a:xfrm>
              <a:off x="8524625" y="5762869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B9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Do NOT execute without review</a:t>
              </a:r>
              <a:endParaRPr lang="en-US" sz="850"/>
            </a:p>
          </p:txBody>
        </p:sp>
        <p:sp>
          <p:nvSpPr>
            <p:cNvPr id="140" name="Shape 174">
              <a:extLst>
                <a:ext uri="{FF2B5EF4-FFF2-40B4-BE49-F238E27FC236}">
                  <a16:creationId xmlns:a16="http://schemas.microsoft.com/office/drawing/2014/main" id="{5C5B93D9-EAEE-0E00-782C-9A9B576D7D6E}"/>
                </a:ext>
              </a:extLst>
            </p:cNvPr>
            <p:cNvSpPr/>
            <p:nvPr/>
          </p:nvSpPr>
          <p:spPr>
            <a:xfrm>
              <a:off x="8460617" y="4848469"/>
              <a:ext cx="2743200" cy="1353312"/>
            </a:xfrm>
            <a:prstGeom prst="rect">
              <a:avLst/>
            </a:prstGeom>
            <a:solidFill>
              <a:srgbClr val="F9F9F9"/>
            </a:solidFill>
            <a:ln w="25400">
              <a:solidFill>
                <a:srgbClr val="888888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175">
              <a:extLst>
                <a:ext uri="{FF2B5EF4-FFF2-40B4-BE49-F238E27FC236}">
                  <a16:creationId xmlns:a16="http://schemas.microsoft.com/office/drawing/2014/main" id="{3AB62137-9E6A-02B1-53E1-1684AC2F4627}"/>
                </a:ext>
              </a:extLst>
            </p:cNvPr>
            <p:cNvSpPr/>
            <p:nvPr/>
          </p:nvSpPr>
          <p:spPr>
            <a:xfrm>
              <a:off x="8460617" y="4848469"/>
              <a:ext cx="2743200" cy="237744"/>
            </a:xfrm>
            <a:prstGeom prst="rect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176">
              <a:extLst>
                <a:ext uri="{FF2B5EF4-FFF2-40B4-BE49-F238E27FC236}">
                  <a16:creationId xmlns:a16="http://schemas.microsoft.com/office/drawing/2014/main" id="{42F1A18C-9CD2-723C-8AAD-107958E46B80}"/>
                </a:ext>
              </a:extLst>
            </p:cNvPr>
            <p:cNvSpPr/>
            <p:nvPr/>
          </p:nvSpPr>
          <p:spPr>
            <a:xfrm>
              <a:off x="8524625" y="4866757"/>
              <a:ext cx="26334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REDUCE — Standard</a:t>
              </a:r>
              <a:endParaRPr lang="en-US" sz="950"/>
            </a:p>
          </p:txBody>
        </p:sp>
        <p:sp>
          <p:nvSpPr>
            <p:cNvPr id="143" name="Text 177">
              <a:extLst>
                <a:ext uri="{FF2B5EF4-FFF2-40B4-BE49-F238E27FC236}">
                  <a16:creationId xmlns:a16="http://schemas.microsoft.com/office/drawing/2014/main" id="{7FF826C9-E951-A05E-4ED5-803234751018}"/>
                </a:ext>
              </a:extLst>
            </p:cNvPr>
            <p:cNvSpPr/>
            <p:nvPr/>
          </p:nvSpPr>
          <p:spPr>
            <a:xfrm>
              <a:off x="8524625" y="5122789"/>
              <a:ext cx="26334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i="1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↓ + ➖ no signal</a:t>
              </a:r>
              <a:endParaRPr lang="en-US" sz="850"/>
            </a:p>
          </p:txBody>
        </p:sp>
        <p:sp>
          <p:nvSpPr>
            <p:cNvPr id="144" name="Text 178">
              <a:extLst>
                <a:ext uri="{FF2B5EF4-FFF2-40B4-BE49-F238E27FC236}">
                  <a16:creationId xmlns:a16="http://schemas.microsoft.com/office/drawing/2014/main" id="{53BF2BBF-4478-73AF-6500-BB2B96B66484}"/>
                </a:ext>
              </a:extLst>
            </p:cNvPr>
            <p:cNvSpPr/>
            <p:nvPr/>
          </p:nvSpPr>
          <p:spPr>
            <a:xfrm>
              <a:off x="8524625" y="5342245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Gurobi reduces space</a:t>
              </a:r>
              <a:endParaRPr lang="en-US" sz="850"/>
            </a:p>
          </p:txBody>
        </p:sp>
        <p:sp>
          <p:nvSpPr>
            <p:cNvPr id="145" name="Text 179">
              <a:extLst>
                <a:ext uri="{FF2B5EF4-FFF2-40B4-BE49-F238E27FC236}">
                  <a16:creationId xmlns:a16="http://schemas.microsoft.com/office/drawing/2014/main" id="{17F69794-C907-145A-5851-52A44369FDA5}"/>
                </a:ext>
              </a:extLst>
            </p:cNvPr>
            <p:cNvSpPr/>
            <p:nvPr/>
          </p:nvSpPr>
          <p:spPr>
            <a:xfrm>
              <a:off x="8524625" y="5552557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competitive factor</a:t>
              </a:r>
              <a:endParaRPr lang="en-US" sz="850"/>
            </a:p>
          </p:txBody>
        </p:sp>
        <p:sp>
          <p:nvSpPr>
            <p:cNvPr id="146" name="Text 180">
              <a:extLst>
                <a:ext uri="{FF2B5EF4-FFF2-40B4-BE49-F238E27FC236}">
                  <a16:creationId xmlns:a16="http://schemas.microsoft.com/office/drawing/2014/main" id="{CEB8A61B-989C-ABCB-0D16-939FC7414E01}"/>
                </a:ext>
              </a:extLst>
            </p:cNvPr>
            <p:cNvSpPr/>
            <p:nvPr/>
          </p:nvSpPr>
          <p:spPr>
            <a:xfrm>
              <a:off x="8524625" y="5762869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[Brand L], [Brand E]</a:t>
              </a:r>
              <a:endParaRPr lang="en-US" sz="850"/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BB543A1-9E48-F6FE-139F-E98AF81F2DB4}"/>
              </a:ext>
            </a:extLst>
          </p:cNvPr>
          <p:cNvGrpSpPr/>
          <p:nvPr/>
        </p:nvGrpSpPr>
        <p:grpSpPr>
          <a:xfrm>
            <a:off x="8033191" y="4633263"/>
            <a:ext cx="1906266" cy="1353312"/>
            <a:chOff x="6508263" y="4643722"/>
            <a:chExt cx="1906266" cy="1353312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5F4C80D1-8CB7-7B8F-AD2F-ED12D11FF8A7}"/>
                </a:ext>
              </a:extLst>
            </p:cNvPr>
            <p:cNvGrpSpPr/>
            <p:nvPr/>
          </p:nvGrpSpPr>
          <p:grpSpPr>
            <a:xfrm>
              <a:off x="6508263" y="4643722"/>
              <a:ext cx="1757197" cy="1353312"/>
              <a:chOff x="1317471" y="4457858"/>
              <a:chExt cx="2743200" cy="1353312"/>
            </a:xfrm>
          </p:grpSpPr>
          <p:sp>
            <p:nvSpPr>
              <p:cNvPr id="152" name="Text 141">
                <a:extLst>
                  <a:ext uri="{FF2B5EF4-FFF2-40B4-BE49-F238E27FC236}">
                    <a16:creationId xmlns:a16="http://schemas.microsoft.com/office/drawing/2014/main" id="{2D41AF8D-6090-63BA-6769-7FFD6EEF62FB}"/>
                  </a:ext>
                </a:extLst>
              </p:cNvPr>
              <p:cNvSpPr/>
              <p:nvPr/>
            </p:nvSpPr>
            <p:spPr>
              <a:xfrm>
                <a:off x="1381479" y="4476146"/>
                <a:ext cx="2633472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🟢  GROW — Confident</a:t>
                </a:r>
                <a:endParaRPr lang="en-US" sz="950"/>
              </a:p>
            </p:txBody>
          </p:sp>
          <p:sp>
            <p:nvSpPr>
              <p:cNvPr id="153" name="Text 142">
                <a:extLst>
                  <a:ext uri="{FF2B5EF4-FFF2-40B4-BE49-F238E27FC236}">
                    <a16:creationId xmlns:a16="http://schemas.microsoft.com/office/drawing/2014/main" id="{A97D1385-0C1C-6910-26FC-53C34A242B4B}"/>
                  </a:ext>
                </a:extLst>
              </p:cNvPr>
              <p:cNvSpPr/>
              <p:nvPr/>
            </p:nvSpPr>
            <p:spPr>
              <a:xfrm>
                <a:off x="1381479" y="4732178"/>
                <a:ext cx="263347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 i="1">
                    <a:solidFill>
                      <a:srgbClr val="1A7A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Gurobi ↑ + ✅ beats rival nearby</a:t>
                </a:r>
                <a:endParaRPr lang="en-US" sz="850"/>
              </a:p>
            </p:txBody>
          </p:sp>
          <p:sp>
            <p:nvSpPr>
              <p:cNvPr id="154" name="Text 143">
                <a:extLst>
                  <a:ext uri="{FF2B5EF4-FFF2-40B4-BE49-F238E27FC236}">
                    <a16:creationId xmlns:a16="http://schemas.microsoft.com/office/drawing/2014/main" id="{4E49C517-21DA-A476-4BA5-3C2DA857D4EF}"/>
                  </a:ext>
                </a:extLst>
              </p:cNvPr>
              <p:cNvSpPr/>
              <p:nvPr/>
            </p:nvSpPr>
            <p:spPr>
              <a:xfrm>
                <a:off x="1381479" y="4951634"/>
                <a:ext cx="263347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1A7A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›  </a:t>
                </a:r>
                <a:r>
                  <a:rPr lang="en-US" sz="85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Gurobi increases space</a:t>
                </a:r>
                <a:endParaRPr lang="en-US" sz="850"/>
              </a:p>
            </p:txBody>
          </p:sp>
          <p:sp>
            <p:nvSpPr>
              <p:cNvPr id="155" name="Text 144">
                <a:extLst>
                  <a:ext uri="{FF2B5EF4-FFF2-40B4-BE49-F238E27FC236}">
                    <a16:creationId xmlns:a16="http://schemas.microsoft.com/office/drawing/2014/main" id="{7F355F2E-27DD-5604-55A5-EABF021C856C}"/>
                  </a:ext>
                </a:extLst>
              </p:cNvPr>
              <p:cNvSpPr/>
              <p:nvPr/>
            </p:nvSpPr>
            <p:spPr>
              <a:xfrm>
                <a:off x="1381479" y="5161946"/>
                <a:ext cx="263347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1A7A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›  </a:t>
                </a:r>
                <a:r>
                  <a:rPr lang="en-US" sz="85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 &lt; −0.10 → strong vs rival</a:t>
                </a:r>
                <a:endParaRPr lang="en-US" sz="850"/>
              </a:p>
            </p:txBody>
          </p:sp>
          <p:sp>
            <p:nvSpPr>
              <p:cNvPr id="156" name="Shape 160">
                <a:extLst>
                  <a:ext uri="{FF2B5EF4-FFF2-40B4-BE49-F238E27FC236}">
                    <a16:creationId xmlns:a16="http://schemas.microsoft.com/office/drawing/2014/main" id="{E425017C-D70A-9715-B24D-FD5C85D603F2}"/>
                  </a:ext>
                </a:extLst>
              </p:cNvPr>
              <p:cNvSpPr/>
              <p:nvPr/>
            </p:nvSpPr>
            <p:spPr>
              <a:xfrm>
                <a:off x="1317471" y="4457858"/>
                <a:ext cx="2743200" cy="1353312"/>
              </a:xfrm>
              <a:prstGeom prst="rect">
                <a:avLst/>
              </a:prstGeom>
              <a:solidFill>
                <a:srgbClr val="FFFBEA"/>
              </a:solidFill>
              <a:ln w="2540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Shape 161">
                <a:extLst>
                  <a:ext uri="{FF2B5EF4-FFF2-40B4-BE49-F238E27FC236}">
                    <a16:creationId xmlns:a16="http://schemas.microsoft.com/office/drawing/2014/main" id="{902A5040-054E-CAE6-087B-1069AFFAF681}"/>
                  </a:ext>
                </a:extLst>
              </p:cNvPr>
              <p:cNvSpPr/>
              <p:nvPr/>
            </p:nvSpPr>
            <p:spPr>
              <a:xfrm>
                <a:off x="1317471" y="4457858"/>
                <a:ext cx="2743200" cy="2377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Text 162">
                <a:extLst>
                  <a:ext uri="{FF2B5EF4-FFF2-40B4-BE49-F238E27FC236}">
                    <a16:creationId xmlns:a16="http://schemas.microsoft.com/office/drawing/2014/main" id="{F98CB05E-F0E6-1CB3-3A56-6FAD3F1C81B8}"/>
                  </a:ext>
                </a:extLst>
              </p:cNvPr>
              <p:cNvSpPr/>
              <p:nvPr/>
            </p:nvSpPr>
            <p:spPr>
              <a:xfrm>
                <a:off x="1381479" y="4476146"/>
                <a:ext cx="2633472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REDUCE — Over-Spaced</a:t>
                </a:r>
                <a:endParaRPr lang="en-US" sz="950"/>
              </a:p>
            </p:txBody>
          </p:sp>
          <p:sp>
            <p:nvSpPr>
              <p:cNvPr id="159" name="Text 163">
                <a:extLst>
                  <a:ext uri="{FF2B5EF4-FFF2-40B4-BE49-F238E27FC236}">
                    <a16:creationId xmlns:a16="http://schemas.microsoft.com/office/drawing/2014/main" id="{D01467DA-7564-0532-8E40-9989EC3EAD42}"/>
                  </a:ext>
                </a:extLst>
              </p:cNvPr>
              <p:cNvSpPr/>
              <p:nvPr/>
            </p:nvSpPr>
            <p:spPr>
              <a:xfrm>
                <a:off x="1381479" y="4732178"/>
                <a:ext cx="263347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 i="1">
                    <a:solidFill>
                      <a:srgbClr val="D9770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Gurobi ↓ but ✅ brand still strong</a:t>
                </a:r>
                <a:endParaRPr lang="en-US" sz="850"/>
              </a:p>
            </p:txBody>
          </p:sp>
          <p:sp>
            <p:nvSpPr>
              <p:cNvPr id="160" name="Text 164">
                <a:extLst>
                  <a:ext uri="{FF2B5EF4-FFF2-40B4-BE49-F238E27FC236}">
                    <a16:creationId xmlns:a16="http://schemas.microsoft.com/office/drawing/2014/main" id="{B0904A81-23AB-84EB-7DE2-45BCFEF0F070}"/>
                  </a:ext>
                </a:extLst>
              </p:cNvPr>
              <p:cNvSpPr/>
              <p:nvPr/>
            </p:nvSpPr>
            <p:spPr>
              <a:xfrm>
                <a:off x="1381479" y="4951634"/>
                <a:ext cx="263347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D9770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›  </a:t>
                </a:r>
                <a:r>
                  <a:rPr lang="en-US" sz="85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Gurobi reduces space</a:t>
                </a:r>
                <a:endParaRPr lang="en-US" sz="850"/>
              </a:p>
            </p:txBody>
          </p:sp>
          <p:sp>
            <p:nvSpPr>
              <p:cNvPr id="161" name="Text 165">
                <a:extLst>
                  <a:ext uri="{FF2B5EF4-FFF2-40B4-BE49-F238E27FC236}">
                    <a16:creationId xmlns:a16="http://schemas.microsoft.com/office/drawing/2014/main" id="{CC7197C5-6A45-723F-2D97-B918D282E0B9}"/>
                  </a:ext>
                </a:extLst>
              </p:cNvPr>
              <p:cNvSpPr/>
              <p:nvPr/>
            </p:nvSpPr>
            <p:spPr>
              <a:xfrm>
                <a:off x="1381479" y="5161946"/>
                <a:ext cx="263347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D9770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›  </a:t>
                </a:r>
                <a:r>
                  <a:rPr lang="en-US" sz="85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Brand still beats rival nearby</a:t>
                </a:r>
                <a:endParaRPr lang="en-US" sz="850"/>
              </a:p>
            </p:txBody>
          </p:sp>
        </p:grpSp>
        <p:sp>
          <p:nvSpPr>
            <p:cNvPr id="68" name="Text 124">
              <a:extLst>
                <a:ext uri="{FF2B5EF4-FFF2-40B4-BE49-F238E27FC236}">
                  <a16:creationId xmlns:a16="http://schemas.microsoft.com/office/drawing/2014/main" id="{0D3FB1F8-F719-6945-F5CC-6D5240FA8C60}"/>
                </a:ext>
              </a:extLst>
            </p:cNvPr>
            <p:cNvSpPr/>
            <p:nvPr/>
          </p:nvSpPr>
          <p:spPr>
            <a:xfrm>
              <a:off x="6567441" y="5534947"/>
              <a:ext cx="184708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[Brand H], [Brand A]</a:t>
              </a:r>
              <a:endParaRPr lang="en-US" sz="800"/>
            </a:p>
          </p:txBody>
        </p:sp>
      </p:grpSp>
      <p:sp>
        <p:nvSpPr>
          <p:cNvPr id="163" name="Text 35">
            <a:extLst>
              <a:ext uri="{FF2B5EF4-FFF2-40B4-BE49-F238E27FC236}">
                <a16:creationId xmlns:a16="http://schemas.microsoft.com/office/drawing/2014/main" id="{EA3A5C02-720F-C115-F1F2-DA3F2C850530}"/>
              </a:ext>
            </a:extLst>
          </p:cNvPr>
          <p:cNvSpPr/>
          <p:nvPr/>
        </p:nvSpPr>
        <p:spPr>
          <a:xfrm>
            <a:off x="2249637" y="5577895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 NOT execute without review</a:t>
            </a:r>
            <a:endParaRPr lang="en-US" sz="850"/>
          </a:p>
        </p:txBody>
      </p:sp>
      <p:sp>
        <p:nvSpPr>
          <p:cNvPr id="165" name="Text 69">
            <a:extLst>
              <a:ext uri="{FF2B5EF4-FFF2-40B4-BE49-F238E27FC236}">
                <a16:creationId xmlns:a16="http://schemas.microsoft.com/office/drawing/2014/main" id="{53FB2A1F-2902-AD2F-A7C9-EB15D9D069AA}"/>
              </a:ext>
            </a:extLst>
          </p:cNvPr>
          <p:cNvSpPr/>
          <p:nvPr/>
        </p:nvSpPr>
        <p:spPr>
          <a:xfrm>
            <a:off x="6220143" y="5756203"/>
            <a:ext cx="1691640" cy="1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 for store-level review</a:t>
            </a:r>
            <a:endParaRPr lang="en-US" sz="8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452A5CA-0E62-5B51-0BB0-DD9A3684B749}"/>
              </a:ext>
            </a:extLst>
          </p:cNvPr>
          <p:cNvSpPr/>
          <p:nvPr/>
        </p:nvSpPr>
        <p:spPr>
          <a:xfrm>
            <a:off x="2530549" y="2747720"/>
            <a:ext cx="976310" cy="139424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just"/>
            <a:r>
              <a:rPr lang="en-US" dirty="0"/>
              <a:t>[Redacted]</a:t>
            </a:r>
          </a:p>
        </p:txBody>
      </p:sp>
    </p:spTree>
    <p:extLst>
      <p:ext uri="{BB962C8B-B14F-4D97-AF65-F5344CB8AC3E}">
        <p14:creationId xmlns:p14="http://schemas.microsoft.com/office/powerpoint/2010/main" val="559423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D3D3-EC26-532D-1A67-86442285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lide Number Placeholder 2">
            <a:extLst>
              <a:ext uri="{FF2B5EF4-FFF2-40B4-BE49-F238E27FC236}">
                <a16:creationId xmlns:a16="http://schemas.microsoft.com/office/drawing/2014/main" id="{14CC2BB3-75AA-B35A-822C-9D24B87A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5200" y="6425608"/>
            <a:ext cx="2743200" cy="365125"/>
          </a:xfrm>
        </p:spPr>
        <p:txBody>
          <a:bodyPr/>
          <a:lstStyle/>
          <a:p>
            <a:fld id="{B3FA7D70-52BF-4D9F-A014-1293FC3607F0}" type="slidenum">
              <a:rPr lang="en-US" smtClean="0"/>
              <a:pPr/>
              <a:t>18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703" name="Picture 702">
            <a:extLst>
              <a:ext uri="{FF2B5EF4-FFF2-40B4-BE49-F238E27FC236}">
                <a16:creationId xmlns:a16="http://schemas.microsoft.com/office/drawing/2014/main" id="{B51025A0-8627-51AD-869C-7A005A166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05" y="5854581"/>
            <a:ext cx="1626201" cy="1003419"/>
          </a:xfrm>
          <a:prstGeom prst="rect">
            <a:avLst/>
          </a:prstGeom>
        </p:spPr>
      </p:pic>
      <p:sp>
        <p:nvSpPr>
          <p:cNvPr id="236" name="Title 3">
            <a:extLst>
              <a:ext uri="{FF2B5EF4-FFF2-40B4-BE49-F238E27FC236}">
                <a16:creationId xmlns:a16="http://schemas.microsoft.com/office/drawing/2014/main" id="{CA95398A-90AC-D00F-8A9B-8EB12DF3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231865"/>
            <a:ext cx="7991060" cy="636739"/>
          </a:xfrm>
        </p:spPr>
        <p:txBody>
          <a:bodyPr>
            <a:normAutofit fontScale="90000"/>
          </a:bodyPr>
          <a:lstStyle/>
          <a:p>
            <a:r>
              <a:rPr lang="en-US"/>
              <a:t>Competitive Signal Analysis</a:t>
            </a:r>
          </a:p>
        </p:txBody>
      </p:sp>
      <p:sp>
        <p:nvSpPr>
          <p:cNvPr id="470" name="Text 2">
            <a:extLst>
              <a:ext uri="{FF2B5EF4-FFF2-40B4-BE49-F238E27FC236}">
                <a16:creationId xmlns:a16="http://schemas.microsoft.com/office/drawing/2014/main" id="{6FDEFDFA-88B3-B66B-D257-EE0A0CDFC158}"/>
              </a:ext>
            </a:extLst>
          </p:cNvPr>
          <p:cNvSpPr/>
          <p:nvPr/>
        </p:nvSpPr>
        <p:spPr>
          <a:xfrm>
            <a:off x="1294855" y="1148379"/>
            <a:ext cx="988767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r: brand sales vs. distance from each competitor · 710 stores · |r| &gt; 0.10, p &lt; 0.05  |  ✅ Target stronger when rival closer  |  ⚠️ Target weaker when rival closer  |  ➖ no pattern</a:t>
            </a:r>
            <a:endParaRPr lang="en-US" sz="850" dirty="0"/>
          </a:p>
        </p:txBody>
      </p:sp>
      <p:sp>
        <p:nvSpPr>
          <p:cNvPr id="471" name="Shape 3">
            <a:extLst>
              <a:ext uri="{FF2B5EF4-FFF2-40B4-BE49-F238E27FC236}">
                <a16:creationId xmlns:a16="http://schemas.microsoft.com/office/drawing/2014/main" id="{9C98EEF5-EA0A-7621-18C2-A97DA25D28F9}"/>
              </a:ext>
            </a:extLst>
          </p:cNvPr>
          <p:cNvSpPr/>
          <p:nvPr/>
        </p:nvSpPr>
        <p:spPr>
          <a:xfrm>
            <a:off x="1305340" y="1340403"/>
            <a:ext cx="397764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Text 4">
            <a:extLst>
              <a:ext uri="{FF2B5EF4-FFF2-40B4-BE49-F238E27FC236}">
                <a16:creationId xmlns:a16="http://schemas.microsoft.com/office/drawing/2014/main" id="{C740B776-C3DE-2B3F-E60A-B9B0E21D18FF}"/>
              </a:ext>
            </a:extLst>
          </p:cNvPr>
          <p:cNvSpPr/>
          <p:nvPr/>
        </p:nvSpPr>
        <p:spPr>
          <a:xfrm>
            <a:off x="1305340" y="134040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RIVAL TAKES CUSTOMERS WHEN NEARBY</a:t>
            </a:r>
            <a:endParaRPr lang="en-US" sz="1000"/>
          </a:p>
        </p:txBody>
      </p:sp>
      <p:sp>
        <p:nvSpPr>
          <p:cNvPr id="473" name="Shape 5">
            <a:extLst>
              <a:ext uri="{FF2B5EF4-FFF2-40B4-BE49-F238E27FC236}">
                <a16:creationId xmlns:a16="http://schemas.microsoft.com/office/drawing/2014/main" id="{43E71058-B384-3A32-88C6-73222AD6DCA7}"/>
              </a:ext>
            </a:extLst>
          </p:cNvPr>
          <p:cNvSpPr/>
          <p:nvPr/>
        </p:nvSpPr>
        <p:spPr>
          <a:xfrm>
            <a:off x="5282980" y="1340403"/>
            <a:ext cx="1325880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Text 6">
            <a:extLst>
              <a:ext uri="{FF2B5EF4-FFF2-40B4-BE49-F238E27FC236}">
                <a16:creationId xmlns:a16="http://schemas.microsoft.com/office/drawing/2014/main" id="{888BD2DA-0C6A-2DAC-A536-A6FB435387AA}"/>
              </a:ext>
            </a:extLst>
          </p:cNvPr>
          <p:cNvSpPr/>
          <p:nvPr/>
        </p:nvSpPr>
        <p:spPr>
          <a:xfrm>
            <a:off x="5282980" y="1340403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➖  NEUTRAL</a:t>
            </a:r>
            <a:endParaRPr lang="en-US" sz="1000"/>
          </a:p>
        </p:txBody>
      </p:sp>
      <p:sp>
        <p:nvSpPr>
          <p:cNvPr id="475" name="Shape 7">
            <a:extLst>
              <a:ext uri="{FF2B5EF4-FFF2-40B4-BE49-F238E27FC236}">
                <a16:creationId xmlns:a16="http://schemas.microsoft.com/office/drawing/2014/main" id="{22F88291-8583-69ED-A4DE-F3FEF23C64BB}"/>
              </a:ext>
            </a:extLst>
          </p:cNvPr>
          <p:cNvSpPr/>
          <p:nvPr/>
        </p:nvSpPr>
        <p:spPr>
          <a:xfrm>
            <a:off x="6608860" y="1340403"/>
            <a:ext cx="530352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Text 8">
            <a:extLst>
              <a:ext uri="{FF2B5EF4-FFF2-40B4-BE49-F238E27FC236}">
                <a16:creationId xmlns:a16="http://schemas.microsoft.com/office/drawing/2014/main" id="{8DB9E1BD-0BC1-2FE0-D887-EAE945881CD0}"/>
              </a:ext>
            </a:extLst>
          </p:cNvPr>
          <p:cNvSpPr/>
          <p:nvPr/>
        </p:nvSpPr>
        <p:spPr>
          <a:xfrm>
            <a:off x="6608860" y="1340403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TARGET WINS — Stronger When Rival is Nearby</a:t>
            </a:r>
            <a:endParaRPr lang="en-US" sz="1000"/>
          </a:p>
        </p:txBody>
      </p:sp>
      <p:sp>
        <p:nvSpPr>
          <p:cNvPr id="477" name="Shape 9">
            <a:extLst>
              <a:ext uri="{FF2B5EF4-FFF2-40B4-BE49-F238E27FC236}">
                <a16:creationId xmlns:a16="http://schemas.microsoft.com/office/drawing/2014/main" id="{961D9089-9F93-8354-8EFE-3F7BFDFBE2BF}"/>
              </a:ext>
            </a:extLst>
          </p:cNvPr>
          <p:cNvSpPr/>
          <p:nvPr/>
        </p:nvSpPr>
        <p:spPr>
          <a:xfrm>
            <a:off x="5319556" y="1651299"/>
            <a:ext cx="0" cy="502920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10">
            <a:extLst>
              <a:ext uri="{FF2B5EF4-FFF2-40B4-BE49-F238E27FC236}">
                <a16:creationId xmlns:a16="http://schemas.microsoft.com/office/drawing/2014/main" id="{8B70C100-75D7-7C88-8059-E584AF678DC5}"/>
              </a:ext>
            </a:extLst>
          </p:cNvPr>
          <p:cNvSpPr/>
          <p:nvPr/>
        </p:nvSpPr>
        <p:spPr>
          <a:xfrm>
            <a:off x="7971316" y="1651299"/>
            <a:ext cx="0" cy="502920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11">
            <a:extLst>
              <a:ext uri="{FF2B5EF4-FFF2-40B4-BE49-F238E27FC236}">
                <a16:creationId xmlns:a16="http://schemas.microsoft.com/office/drawing/2014/main" id="{AA8BFE81-3410-8CA7-A0E1-E9E84FBC346D}"/>
              </a:ext>
            </a:extLst>
          </p:cNvPr>
          <p:cNvSpPr/>
          <p:nvPr/>
        </p:nvSpPr>
        <p:spPr>
          <a:xfrm>
            <a:off x="1305340" y="1651299"/>
            <a:ext cx="397764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Shape 12">
            <a:extLst>
              <a:ext uri="{FF2B5EF4-FFF2-40B4-BE49-F238E27FC236}">
                <a16:creationId xmlns:a16="http://schemas.microsoft.com/office/drawing/2014/main" id="{E2F77566-439D-D163-462B-FFEDFE96BF01}"/>
              </a:ext>
            </a:extLst>
          </p:cNvPr>
          <p:cNvSpPr/>
          <p:nvPr/>
        </p:nvSpPr>
        <p:spPr>
          <a:xfrm>
            <a:off x="5328700" y="1651299"/>
            <a:ext cx="2606040" cy="50292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13">
            <a:extLst>
              <a:ext uri="{FF2B5EF4-FFF2-40B4-BE49-F238E27FC236}">
                <a16:creationId xmlns:a16="http://schemas.microsoft.com/office/drawing/2014/main" id="{34768237-49F3-5D37-A649-6B1D0A728FDA}"/>
              </a:ext>
            </a:extLst>
          </p:cNvPr>
          <p:cNvSpPr/>
          <p:nvPr/>
        </p:nvSpPr>
        <p:spPr>
          <a:xfrm>
            <a:off x="7980460" y="1651299"/>
            <a:ext cx="3931920" cy="5029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14">
            <a:extLst>
              <a:ext uri="{FF2B5EF4-FFF2-40B4-BE49-F238E27FC236}">
                <a16:creationId xmlns:a16="http://schemas.microsoft.com/office/drawing/2014/main" id="{057EE926-A59E-9F0A-B644-A0DA035FA4DB}"/>
              </a:ext>
            </a:extLst>
          </p:cNvPr>
          <p:cNvSpPr/>
          <p:nvPr/>
        </p:nvSpPr>
        <p:spPr>
          <a:xfrm>
            <a:off x="1396780" y="1697019"/>
            <a:ext cx="11430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Text 15">
            <a:extLst>
              <a:ext uri="{FF2B5EF4-FFF2-40B4-BE49-F238E27FC236}">
                <a16:creationId xmlns:a16="http://schemas.microsoft.com/office/drawing/2014/main" id="{8AA91E57-9D5A-264D-6FD1-4398538C66EF}"/>
              </a:ext>
            </a:extLst>
          </p:cNvPr>
          <p:cNvSpPr/>
          <p:nvPr/>
        </p:nvSpPr>
        <p:spPr>
          <a:xfrm>
            <a:off x="139678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/>
          </a:p>
        </p:txBody>
      </p:sp>
      <p:sp>
        <p:nvSpPr>
          <p:cNvPr id="484" name="Text 16">
            <a:extLst>
              <a:ext uri="{FF2B5EF4-FFF2-40B4-BE49-F238E27FC236}">
                <a16:creationId xmlns:a16="http://schemas.microsoft.com/office/drawing/2014/main" id="{E3BC05E1-16F1-4738-F02A-5C7D79E68745}"/>
              </a:ext>
            </a:extLst>
          </p:cNvPr>
          <p:cNvSpPr/>
          <p:nvPr/>
        </p:nvSpPr>
        <p:spPr>
          <a:xfrm>
            <a:off x="135106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(e-comm)</a:t>
            </a:r>
            <a:endParaRPr lang="en-US" sz="750"/>
          </a:p>
        </p:txBody>
      </p:sp>
      <p:sp>
        <p:nvSpPr>
          <p:cNvPr id="485" name="Text 17">
            <a:extLst>
              <a:ext uri="{FF2B5EF4-FFF2-40B4-BE49-F238E27FC236}">
                <a16:creationId xmlns:a16="http://schemas.microsoft.com/office/drawing/2014/main" id="{241E734D-F8E9-63B4-E884-38518A4263E8}"/>
              </a:ext>
            </a:extLst>
          </p:cNvPr>
          <p:cNvSpPr/>
          <p:nvPr/>
        </p:nvSpPr>
        <p:spPr>
          <a:xfrm>
            <a:off x="135106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800mi</a:t>
            </a:r>
            <a:endParaRPr lang="en-US" sz="800"/>
          </a:p>
        </p:txBody>
      </p:sp>
      <p:sp>
        <p:nvSpPr>
          <p:cNvPr id="486" name="Shape 18">
            <a:extLst>
              <a:ext uri="{FF2B5EF4-FFF2-40B4-BE49-F238E27FC236}">
                <a16:creationId xmlns:a16="http://schemas.microsoft.com/office/drawing/2014/main" id="{69BC4BF8-29AE-CBBE-CC84-8BFCAB7ED9D3}"/>
              </a:ext>
            </a:extLst>
          </p:cNvPr>
          <p:cNvSpPr/>
          <p:nvPr/>
        </p:nvSpPr>
        <p:spPr>
          <a:xfrm>
            <a:off x="2722660" y="1697019"/>
            <a:ext cx="11430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Text 19">
            <a:extLst>
              <a:ext uri="{FF2B5EF4-FFF2-40B4-BE49-F238E27FC236}">
                <a16:creationId xmlns:a16="http://schemas.microsoft.com/office/drawing/2014/main" id="{069D3CDC-9E89-C64F-791A-7BE0B4BD575D}"/>
              </a:ext>
            </a:extLst>
          </p:cNvPr>
          <p:cNvSpPr/>
          <p:nvPr/>
        </p:nvSpPr>
        <p:spPr>
          <a:xfrm>
            <a:off x="272266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400"/>
          </a:p>
        </p:txBody>
      </p:sp>
      <p:sp>
        <p:nvSpPr>
          <p:cNvPr id="488" name="Text 20">
            <a:extLst>
              <a:ext uri="{FF2B5EF4-FFF2-40B4-BE49-F238E27FC236}">
                <a16:creationId xmlns:a16="http://schemas.microsoft.com/office/drawing/2014/main" id="{83150847-6583-5736-A5B9-A3BA9A02245E}"/>
              </a:ext>
            </a:extLst>
          </p:cNvPr>
          <p:cNvSpPr/>
          <p:nvPr/>
        </p:nvSpPr>
        <p:spPr>
          <a:xfrm>
            <a:off x="267694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(Costco)</a:t>
            </a:r>
            <a:endParaRPr lang="en-US" sz="750"/>
          </a:p>
        </p:txBody>
      </p:sp>
      <p:sp>
        <p:nvSpPr>
          <p:cNvPr id="489" name="Text 21">
            <a:extLst>
              <a:ext uri="{FF2B5EF4-FFF2-40B4-BE49-F238E27FC236}">
                <a16:creationId xmlns:a16="http://schemas.microsoft.com/office/drawing/2014/main" id="{0E419E4D-018B-6126-AEDD-39C6FA264F43}"/>
              </a:ext>
            </a:extLst>
          </p:cNvPr>
          <p:cNvSpPr/>
          <p:nvPr/>
        </p:nvSpPr>
        <p:spPr>
          <a:xfrm>
            <a:off x="267694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228mi</a:t>
            </a:r>
            <a:endParaRPr lang="en-US" sz="800"/>
          </a:p>
        </p:txBody>
      </p:sp>
      <p:sp>
        <p:nvSpPr>
          <p:cNvPr id="490" name="Shape 22">
            <a:extLst>
              <a:ext uri="{FF2B5EF4-FFF2-40B4-BE49-F238E27FC236}">
                <a16:creationId xmlns:a16="http://schemas.microsoft.com/office/drawing/2014/main" id="{00A9009C-CAAD-F68A-1937-2F1CE20922E6}"/>
              </a:ext>
            </a:extLst>
          </p:cNvPr>
          <p:cNvSpPr/>
          <p:nvPr/>
        </p:nvSpPr>
        <p:spPr>
          <a:xfrm>
            <a:off x="4048540" y="1697019"/>
            <a:ext cx="11430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Text 23">
            <a:extLst>
              <a:ext uri="{FF2B5EF4-FFF2-40B4-BE49-F238E27FC236}">
                <a16:creationId xmlns:a16="http://schemas.microsoft.com/office/drawing/2014/main" id="{0EBBC695-C95B-72C4-D877-E6C142AE9333}"/>
              </a:ext>
            </a:extLst>
          </p:cNvPr>
          <p:cNvSpPr/>
          <p:nvPr/>
        </p:nvSpPr>
        <p:spPr>
          <a:xfrm>
            <a:off x="404854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400"/>
          </a:p>
        </p:txBody>
      </p:sp>
      <p:sp>
        <p:nvSpPr>
          <p:cNvPr id="492" name="Text 24">
            <a:extLst>
              <a:ext uri="{FF2B5EF4-FFF2-40B4-BE49-F238E27FC236}">
                <a16:creationId xmlns:a16="http://schemas.microsoft.com/office/drawing/2014/main" id="{74F55BB8-4FCE-0B66-D28C-4ED842BDBA12}"/>
              </a:ext>
            </a:extLst>
          </p:cNvPr>
          <p:cNvSpPr/>
          <p:nvPr/>
        </p:nvSpPr>
        <p:spPr>
          <a:xfrm>
            <a:off x="400282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(Baby)</a:t>
            </a:r>
            <a:endParaRPr lang="en-US" sz="750"/>
          </a:p>
        </p:txBody>
      </p:sp>
      <p:sp>
        <p:nvSpPr>
          <p:cNvPr id="493" name="Text 25">
            <a:extLst>
              <a:ext uri="{FF2B5EF4-FFF2-40B4-BE49-F238E27FC236}">
                <a16:creationId xmlns:a16="http://schemas.microsoft.com/office/drawing/2014/main" id="{6C838232-86B3-35B8-F7D9-434D4F319BF1}"/>
              </a:ext>
            </a:extLst>
          </p:cNvPr>
          <p:cNvSpPr/>
          <p:nvPr/>
        </p:nvSpPr>
        <p:spPr>
          <a:xfrm>
            <a:off x="400282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39mi</a:t>
            </a:r>
            <a:endParaRPr lang="en-US" sz="800"/>
          </a:p>
        </p:txBody>
      </p:sp>
      <p:sp>
        <p:nvSpPr>
          <p:cNvPr id="494" name="Shape 26">
            <a:extLst>
              <a:ext uri="{FF2B5EF4-FFF2-40B4-BE49-F238E27FC236}">
                <a16:creationId xmlns:a16="http://schemas.microsoft.com/office/drawing/2014/main" id="{354F85B8-4AF8-5D93-5751-819252E5E9C7}"/>
              </a:ext>
            </a:extLst>
          </p:cNvPr>
          <p:cNvSpPr/>
          <p:nvPr/>
        </p:nvSpPr>
        <p:spPr>
          <a:xfrm>
            <a:off x="5374420" y="1697019"/>
            <a:ext cx="114300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Text 27">
            <a:extLst>
              <a:ext uri="{FF2B5EF4-FFF2-40B4-BE49-F238E27FC236}">
                <a16:creationId xmlns:a16="http://schemas.microsoft.com/office/drawing/2014/main" id="{193D148E-328D-DEAF-900E-D23AE3E85C98}"/>
              </a:ext>
            </a:extLst>
          </p:cNvPr>
          <p:cNvSpPr/>
          <p:nvPr/>
        </p:nvSpPr>
        <p:spPr>
          <a:xfrm>
            <a:off x="537442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400"/>
          </a:p>
        </p:txBody>
      </p:sp>
      <p:sp>
        <p:nvSpPr>
          <p:cNvPr id="496" name="Text 28">
            <a:extLst>
              <a:ext uri="{FF2B5EF4-FFF2-40B4-BE49-F238E27FC236}">
                <a16:creationId xmlns:a16="http://schemas.microsoft.com/office/drawing/2014/main" id="{616E6DDB-E8FA-86DA-EDE6-17A821311AF2}"/>
              </a:ext>
            </a:extLst>
          </p:cNvPr>
          <p:cNvSpPr/>
          <p:nvPr/>
        </p:nvSpPr>
        <p:spPr>
          <a:xfrm>
            <a:off x="532870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Retail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(Walmart)</a:t>
            </a:r>
            <a:endParaRPr lang="en-US" sz="750"/>
          </a:p>
        </p:txBody>
      </p:sp>
      <p:sp>
        <p:nvSpPr>
          <p:cNvPr id="497" name="Text 29">
            <a:extLst>
              <a:ext uri="{FF2B5EF4-FFF2-40B4-BE49-F238E27FC236}">
                <a16:creationId xmlns:a16="http://schemas.microsoft.com/office/drawing/2014/main" id="{BCFB8EF9-8377-F4D1-D04C-AECFF98FA11B}"/>
              </a:ext>
            </a:extLst>
          </p:cNvPr>
          <p:cNvSpPr/>
          <p:nvPr/>
        </p:nvSpPr>
        <p:spPr>
          <a:xfrm>
            <a:off x="532870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1.6mi</a:t>
            </a:r>
            <a:endParaRPr lang="en-US" sz="800"/>
          </a:p>
        </p:txBody>
      </p:sp>
      <p:sp>
        <p:nvSpPr>
          <p:cNvPr id="498" name="Shape 30">
            <a:extLst>
              <a:ext uri="{FF2B5EF4-FFF2-40B4-BE49-F238E27FC236}">
                <a16:creationId xmlns:a16="http://schemas.microsoft.com/office/drawing/2014/main" id="{3E3903A0-388E-9D4C-0247-6A397134DD4C}"/>
              </a:ext>
            </a:extLst>
          </p:cNvPr>
          <p:cNvSpPr/>
          <p:nvPr/>
        </p:nvSpPr>
        <p:spPr>
          <a:xfrm>
            <a:off x="6700300" y="1697019"/>
            <a:ext cx="11430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9" name="Text 31">
            <a:extLst>
              <a:ext uri="{FF2B5EF4-FFF2-40B4-BE49-F238E27FC236}">
                <a16:creationId xmlns:a16="http://schemas.microsoft.com/office/drawing/2014/main" id="{7C772599-3269-DE6D-974A-B38EF9E8BA88}"/>
              </a:ext>
            </a:extLst>
          </p:cNvPr>
          <p:cNvSpPr/>
          <p:nvPr/>
        </p:nvSpPr>
        <p:spPr>
          <a:xfrm>
            <a:off x="670030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400"/>
          </a:p>
        </p:txBody>
      </p:sp>
      <p:sp>
        <p:nvSpPr>
          <p:cNvPr id="500" name="Text 32">
            <a:extLst>
              <a:ext uri="{FF2B5EF4-FFF2-40B4-BE49-F238E27FC236}">
                <a16:creationId xmlns:a16="http://schemas.microsoft.com/office/drawing/2014/main" id="{09F424F3-30D5-E90F-FED0-CBF878C1B943}"/>
              </a:ext>
            </a:extLst>
          </p:cNvPr>
          <p:cNvSpPr/>
          <p:nvPr/>
        </p:nvSpPr>
        <p:spPr>
          <a:xfrm>
            <a:off x="665458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750"/>
          </a:p>
        </p:txBody>
      </p:sp>
      <p:sp>
        <p:nvSpPr>
          <p:cNvPr id="501" name="Text 33">
            <a:extLst>
              <a:ext uri="{FF2B5EF4-FFF2-40B4-BE49-F238E27FC236}">
                <a16:creationId xmlns:a16="http://schemas.microsoft.com/office/drawing/2014/main" id="{F81E9C85-821D-70A6-7FB8-04956E357784}"/>
              </a:ext>
            </a:extLst>
          </p:cNvPr>
          <p:cNvSpPr/>
          <p:nvPr/>
        </p:nvSpPr>
        <p:spPr>
          <a:xfrm>
            <a:off x="665458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8.2mi</a:t>
            </a:r>
            <a:endParaRPr lang="en-US" sz="800"/>
          </a:p>
        </p:txBody>
      </p:sp>
      <p:sp>
        <p:nvSpPr>
          <p:cNvPr id="502" name="Shape 34">
            <a:extLst>
              <a:ext uri="{FF2B5EF4-FFF2-40B4-BE49-F238E27FC236}">
                <a16:creationId xmlns:a16="http://schemas.microsoft.com/office/drawing/2014/main" id="{681EDBDA-5F7B-AD7D-958A-C9BB837908CD}"/>
              </a:ext>
            </a:extLst>
          </p:cNvPr>
          <p:cNvSpPr/>
          <p:nvPr/>
        </p:nvSpPr>
        <p:spPr>
          <a:xfrm>
            <a:off x="8026180" y="1697019"/>
            <a:ext cx="11430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Text 35">
            <a:extLst>
              <a:ext uri="{FF2B5EF4-FFF2-40B4-BE49-F238E27FC236}">
                <a16:creationId xmlns:a16="http://schemas.microsoft.com/office/drawing/2014/main" id="{CBF8E310-8A27-23BD-141A-2F5823A34CE7}"/>
              </a:ext>
            </a:extLst>
          </p:cNvPr>
          <p:cNvSpPr/>
          <p:nvPr/>
        </p:nvSpPr>
        <p:spPr>
          <a:xfrm>
            <a:off x="802618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/>
          </a:p>
        </p:txBody>
      </p:sp>
      <p:sp>
        <p:nvSpPr>
          <p:cNvPr id="504" name="Text 36">
            <a:extLst>
              <a:ext uri="{FF2B5EF4-FFF2-40B4-BE49-F238E27FC236}">
                <a16:creationId xmlns:a16="http://schemas.microsoft.com/office/drawing/2014/main" id="{1ED3CE68-4EED-6D2E-0AB6-5B8E7BFD40E4}"/>
              </a:ext>
            </a:extLst>
          </p:cNvPr>
          <p:cNvSpPr/>
          <p:nvPr/>
        </p:nvSpPr>
        <p:spPr>
          <a:xfrm>
            <a:off x="798046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750"/>
          </a:p>
        </p:txBody>
      </p:sp>
      <p:sp>
        <p:nvSpPr>
          <p:cNvPr id="505" name="Text 37">
            <a:extLst>
              <a:ext uri="{FF2B5EF4-FFF2-40B4-BE49-F238E27FC236}">
                <a16:creationId xmlns:a16="http://schemas.microsoft.com/office/drawing/2014/main" id="{33EAC219-E396-3721-7F03-0FAA918EEC06}"/>
              </a:ext>
            </a:extLst>
          </p:cNvPr>
          <p:cNvSpPr/>
          <p:nvPr/>
        </p:nvSpPr>
        <p:spPr>
          <a:xfrm>
            <a:off x="798046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9.2mi</a:t>
            </a:r>
            <a:endParaRPr lang="en-US" sz="800"/>
          </a:p>
        </p:txBody>
      </p:sp>
      <p:sp>
        <p:nvSpPr>
          <p:cNvPr id="506" name="Shape 38">
            <a:extLst>
              <a:ext uri="{FF2B5EF4-FFF2-40B4-BE49-F238E27FC236}">
                <a16:creationId xmlns:a16="http://schemas.microsoft.com/office/drawing/2014/main" id="{D0EA2DD0-FB53-1039-D035-B8222AD40932}"/>
              </a:ext>
            </a:extLst>
          </p:cNvPr>
          <p:cNvSpPr/>
          <p:nvPr/>
        </p:nvSpPr>
        <p:spPr>
          <a:xfrm>
            <a:off x="9352060" y="1697019"/>
            <a:ext cx="11430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Text 39">
            <a:extLst>
              <a:ext uri="{FF2B5EF4-FFF2-40B4-BE49-F238E27FC236}">
                <a16:creationId xmlns:a16="http://schemas.microsoft.com/office/drawing/2014/main" id="{1AF8080F-1820-8C88-B4C2-FAAF4074851B}"/>
              </a:ext>
            </a:extLst>
          </p:cNvPr>
          <p:cNvSpPr/>
          <p:nvPr/>
        </p:nvSpPr>
        <p:spPr>
          <a:xfrm>
            <a:off x="935206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/>
          </a:p>
        </p:txBody>
      </p:sp>
      <p:sp>
        <p:nvSpPr>
          <p:cNvPr id="508" name="Text 40">
            <a:extLst>
              <a:ext uri="{FF2B5EF4-FFF2-40B4-BE49-F238E27FC236}">
                <a16:creationId xmlns:a16="http://schemas.microsoft.com/office/drawing/2014/main" id="{D4A74349-5725-39CF-4997-0322041A117E}"/>
              </a:ext>
            </a:extLst>
          </p:cNvPr>
          <p:cNvSpPr/>
          <p:nvPr/>
        </p:nvSpPr>
        <p:spPr>
          <a:xfrm>
            <a:off x="930634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Drug/Conv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750"/>
          </a:p>
        </p:txBody>
      </p:sp>
      <p:sp>
        <p:nvSpPr>
          <p:cNvPr id="509" name="Text 41">
            <a:extLst>
              <a:ext uri="{FF2B5EF4-FFF2-40B4-BE49-F238E27FC236}">
                <a16:creationId xmlns:a16="http://schemas.microsoft.com/office/drawing/2014/main" id="{6894B8AC-D2CF-6C41-6739-433F2CE154B4}"/>
              </a:ext>
            </a:extLst>
          </p:cNvPr>
          <p:cNvSpPr/>
          <p:nvPr/>
        </p:nvSpPr>
        <p:spPr>
          <a:xfrm>
            <a:off x="930634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4.9mi</a:t>
            </a:r>
            <a:endParaRPr lang="en-US" sz="800"/>
          </a:p>
        </p:txBody>
      </p:sp>
      <p:sp>
        <p:nvSpPr>
          <p:cNvPr id="510" name="Shape 42">
            <a:extLst>
              <a:ext uri="{FF2B5EF4-FFF2-40B4-BE49-F238E27FC236}">
                <a16:creationId xmlns:a16="http://schemas.microsoft.com/office/drawing/2014/main" id="{0C4503B7-54A4-4E55-7C87-77BE5F2412AA}"/>
              </a:ext>
            </a:extLst>
          </p:cNvPr>
          <p:cNvSpPr/>
          <p:nvPr/>
        </p:nvSpPr>
        <p:spPr>
          <a:xfrm>
            <a:off x="10677940" y="1697019"/>
            <a:ext cx="11430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Text 43">
            <a:extLst>
              <a:ext uri="{FF2B5EF4-FFF2-40B4-BE49-F238E27FC236}">
                <a16:creationId xmlns:a16="http://schemas.microsoft.com/office/drawing/2014/main" id="{853A54A3-4F35-0ECE-FA24-053E45267B4D}"/>
              </a:ext>
            </a:extLst>
          </p:cNvPr>
          <p:cNvSpPr/>
          <p:nvPr/>
        </p:nvSpPr>
        <p:spPr>
          <a:xfrm>
            <a:off x="10677940" y="1697019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400"/>
          </a:p>
        </p:txBody>
      </p:sp>
      <p:sp>
        <p:nvSpPr>
          <p:cNvPr id="512" name="Text 44">
            <a:extLst>
              <a:ext uri="{FF2B5EF4-FFF2-40B4-BE49-F238E27FC236}">
                <a16:creationId xmlns:a16="http://schemas.microsoft.com/office/drawing/2014/main" id="{EF849A79-28DA-2979-31AF-304B16994730}"/>
              </a:ext>
            </a:extLst>
          </p:cNvPr>
          <p:cNvSpPr/>
          <p:nvPr/>
        </p:nvSpPr>
        <p:spPr>
          <a:xfrm>
            <a:off x="10632220" y="2017059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750"/>
          </a:p>
        </p:txBody>
      </p:sp>
      <p:sp>
        <p:nvSpPr>
          <p:cNvPr id="513" name="Text 45">
            <a:extLst>
              <a:ext uri="{FF2B5EF4-FFF2-40B4-BE49-F238E27FC236}">
                <a16:creationId xmlns:a16="http://schemas.microsoft.com/office/drawing/2014/main" id="{9B7F9CD2-C9D2-E8F9-C95B-82059681ABEE}"/>
              </a:ext>
            </a:extLst>
          </p:cNvPr>
          <p:cNvSpPr/>
          <p:nvPr/>
        </p:nvSpPr>
        <p:spPr>
          <a:xfrm>
            <a:off x="10632220" y="23462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6.0mi</a:t>
            </a:r>
            <a:endParaRPr lang="en-US" sz="800"/>
          </a:p>
        </p:txBody>
      </p:sp>
      <p:sp>
        <p:nvSpPr>
          <p:cNvPr id="514" name="Shape 46">
            <a:extLst>
              <a:ext uri="{FF2B5EF4-FFF2-40B4-BE49-F238E27FC236}">
                <a16:creationId xmlns:a16="http://schemas.microsoft.com/office/drawing/2014/main" id="{4B301BA3-7AE0-0EFC-1309-CE7404C0B148}"/>
              </a:ext>
            </a:extLst>
          </p:cNvPr>
          <p:cNvSpPr/>
          <p:nvPr/>
        </p:nvSpPr>
        <p:spPr>
          <a:xfrm>
            <a:off x="1305340" y="2583987"/>
            <a:ext cx="14173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5" name="Text 47">
            <a:extLst>
              <a:ext uri="{FF2B5EF4-FFF2-40B4-BE49-F238E27FC236}">
                <a16:creationId xmlns:a16="http://schemas.microsoft.com/office/drawing/2014/main" id="{00FAF2CC-4C07-5FE3-91DE-E7C6AE06FB99}"/>
              </a:ext>
            </a:extLst>
          </p:cNvPr>
          <p:cNvSpPr/>
          <p:nvPr/>
        </p:nvSpPr>
        <p:spPr>
          <a:xfrm>
            <a:off x="-20540" y="2620563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A]</a:t>
            </a:r>
            <a:endParaRPr lang="en-US" sz="850"/>
          </a:p>
        </p:txBody>
      </p:sp>
      <p:sp>
        <p:nvSpPr>
          <p:cNvPr id="516" name="Text 48">
            <a:extLst>
              <a:ext uri="{FF2B5EF4-FFF2-40B4-BE49-F238E27FC236}">
                <a16:creationId xmlns:a16="http://schemas.microsoft.com/office/drawing/2014/main" id="{C64842C6-1A90-4444-344E-3B8495AAFBA6}"/>
              </a:ext>
            </a:extLst>
          </p:cNvPr>
          <p:cNvSpPr/>
          <p:nvPr/>
        </p:nvSpPr>
        <p:spPr>
          <a:xfrm>
            <a:off x="-20540" y="2821731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+[Redacted]</a:t>
            </a:r>
            <a:endParaRPr lang="en-US" sz="700"/>
          </a:p>
        </p:txBody>
      </p:sp>
      <p:sp>
        <p:nvSpPr>
          <p:cNvPr id="517" name="Text 49">
            <a:extLst>
              <a:ext uri="{FF2B5EF4-FFF2-40B4-BE49-F238E27FC236}">
                <a16:creationId xmlns:a16="http://schemas.microsoft.com/office/drawing/2014/main" id="{D57DFEE5-D36E-E953-FA9C-39173223342B}"/>
              </a:ext>
            </a:extLst>
          </p:cNvPr>
          <p:cNvSpPr/>
          <p:nvPr/>
        </p:nvSpPr>
        <p:spPr>
          <a:xfrm>
            <a:off x="-20540" y="2968035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700"/>
          </a:p>
        </p:txBody>
      </p:sp>
      <p:sp>
        <p:nvSpPr>
          <p:cNvPr id="518" name="Shape 50">
            <a:extLst>
              <a:ext uri="{FF2B5EF4-FFF2-40B4-BE49-F238E27FC236}">
                <a16:creationId xmlns:a16="http://schemas.microsoft.com/office/drawing/2014/main" id="{736DE156-F2DE-0ABE-D0F4-F4BC0F266416}"/>
              </a:ext>
            </a:extLst>
          </p:cNvPr>
          <p:cNvSpPr/>
          <p:nvPr/>
        </p:nvSpPr>
        <p:spPr>
          <a:xfrm>
            <a:off x="1360204" y="2638851"/>
            <a:ext cx="1216152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9" name="Text 51">
            <a:extLst>
              <a:ext uri="{FF2B5EF4-FFF2-40B4-BE49-F238E27FC236}">
                <a16:creationId xmlns:a16="http://schemas.microsoft.com/office/drawing/2014/main" id="{45DB4DA2-9000-169F-D2DC-9887A774421A}"/>
              </a:ext>
            </a:extLst>
          </p:cNvPr>
          <p:cNvSpPr/>
          <p:nvPr/>
        </p:nvSpPr>
        <p:spPr>
          <a:xfrm>
            <a:off x="136020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⚠️</a:t>
            </a:r>
            <a:endParaRPr lang="en-US" sz="1100"/>
          </a:p>
        </p:txBody>
      </p:sp>
      <p:sp>
        <p:nvSpPr>
          <p:cNvPr id="520" name="Text 52">
            <a:extLst>
              <a:ext uri="{FF2B5EF4-FFF2-40B4-BE49-F238E27FC236}">
                <a16:creationId xmlns:a16="http://schemas.microsoft.com/office/drawing/2014/main" id="{56EB8047-86C6-B0B8-7B7A-EAC85C909D61}"/>
              </a:ext>
            </a:extLst>
          </p:cNvPr>
          <p:cNvSpPr/>
          <p:nvPr/>
        </p:nvSpPr>
        <p:spPr>
          <a:xfrm>
            <a:off x="136020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+0.158</a:t>
            </a:r>
            <a:endParaRPr lang="en-US" sz="800"/>
          </a:p>
        </p:txBody>
      </p:sp>
      <p:sp>
        <p:nvSpPr>
          <p:cNvPr id="521" name="Shape 53">
            <a:extLst>
              <a:ext uri="{FF2B5EF4-FFF2-40B4-BE49-F238E27FC236}">
                <a16:creationId xmlns:a16="http://schemas.microsoft.com/office/drawing/2014/main" id="{732A91EA-CF00-B8B8-AADA-7269E185A42F}"/>
              </a:ext>
            </a:extLst>
          </p:cNvPr>
          <p:cNvSpPr/>
          <p:nvPr/>
        </p:nvSpPr>
        <p:spPr>
          <a:xfrm>
            <a:off x="2686084" y="2638851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Text 54">
            <a:extLst>
              <a:ext uri="{FF2B5EF4-FFF2-40B4-BE49-F238E27FC236}">
                <a16:creationId xmlns:a16="http://schemas.microsoft.com/office/drawing/2014/main" id="{25090EF1-BF26-D6D1-3E63-978FB6E72ACF}"/>
              </a:ext>
            </a:extLst>
          </p:cNvPr>
          <p:cNvSpPr/>
          <p:nvPr/>
        </p:nvSpPr>
        <p:spPr>
          <a:xfrm>
            <a:off x="268608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23" name="Text 55">
            <a:extLst>
              <a:ext uri="{FF2B5EF4-FFF2-40B4-BE49-F238E27FC236}">
                <a16:creationId xmlns:a16="http://schemas.microsoft.com/office/drawing/2014/main" id="{11348EBB-481F-77AF-C9A6-ECA262F70E33}"/>
              </a:ext>
            </a:extLst>
          </p:cNvPr>
          <p:cNvSpPr/>
          <p:nvPr/>
        </p:nvSpPr>
        <p:spPr>
          <a:xfrm>
            <a:off x="268608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-0.053</a:t>
            </a:r>
            <a:endParaRPr lang="en-US" sz="800"/>
          </a:p>
        </p:txBody>
      </p:sp>
      <p:sp>
        <p:nvSpPr>
          <p:cNvPr id="524" name="Shape 56">
            <a:extLst>
              <a:ext uri="{FF2B5EF4-FFF2-40B4-BE49-F238E27FC236}">
                <a16:creationId xmlns:a16="http://schemas.microsoft.com/office/drawing/2014/main" id="{688A814B-4DD1-798C-39D8-0BBA272EA76F}"/>
              </a:ext>
            </a:extLst>
          </p:cNvPr>
          <p:cNvSpPr/>
          <p:nvPr/>
        </p:nvSpPr>
        <p:spPr>
          <a:xfrm>
            <a:off x="4011964" y="2638851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Text 57">
            <a:extLst>
              <a:ext uri="{FF2B5EF4-FFF2-40B4-BE49-F238E27FC236}">
                <a16:creationId xmlns:a16="http://schemas.microsoft.com/office/drawing/2014/main" id="{D704CA7B-F5FE-E513-7BA9-DB1AAB45AD0A}"/>
              </a:ext>
            </a:extLst>
          </p:cNvPr>
          <p:cNvSpPr/>
          <p:nvPr/>
        </p:nvSpPr>
        <p:spPr>
          <a:xfrm>
            <a:off x="401196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26" name="Text 58">
            <a:extLst>
              <a:ext uri="{FF2B5EF4-FFF2-40B4-BE49-F238E27FC236}">
                <a16:creationId xmlns:a16="http://schemas.microsoft.com/office/drawing/2014/main" id="{0DE55E9A-6148-6B01-D825-0D2EADBDEDFB}"/>
              </a:ext>
            </a:extLst>
          </p:cNvPr>
          <p:cNvSpPr/>
          <p:nvPr/>
        </p:nvSpPr>
        <p:spPr>
          <a:xfrm>
            <a:off x="401196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+0.003</a:t>
            </a:r>
            <a:endParaRPr lang="en-US" sz="800"/>
          </a:p>
        </p:txBody>
      </p:sp>
      <p:sp>
        <p:nvSpPr>
          <p:cNvPr id="527" name="Shape 59">
            <a:extLst>
              <a:ext uri="{FF2B5EF4-FFF2-40B4-BE49-F238E27FC236}">
                <a16:creationId xmlns:a16="http://schemas.microsoft.com/office/drawing/2014/main" id="{EA76BC42-3083-D3F4-74E2-31F21F730C13}"/>
              </a:ext>
            </a:extLst>
          </p:cNvPr>
          <p:cNvSpPr/>
          <p:nvPr/>
        </p:nvSpPr>
        <p:spPr>
          <a:xfrm>
            <a:off x="5337844" y="2638851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8" name="Text 60">
            <a:extLst>
              <a:ext uri="{FF2B5EF4-FFF2-40B4-BE49-F238E27FC236}">
                <a16:creationId xmlns:a16="http://schemas.microsoft.com/office/drawing/2014/main" id="{ADFD971A-B240-EC36-2E6F-225DEF69A434}"/>
              </a:ext>
            </a:extLst>
          </p:cNvPr>
          <p:cNvSpPr/>
          <p:nvPr/>
        </p:nvSpPr>
        <p:spPr>
          <a:xfrm>
            <a:off x="533784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29" name="Text 61">
            <a:extLst>
              <a:ext uri="{FF2B5EF4-FFF2-40B4-BE49-F238E27FC236}">
                <a16:creationId xmlns:a16="http://schemas.microsoft.com/office/drawing/2014/main" id="{5BC50B65-EE7F-1092-C679-4DFCDE482B0E}"/>
              </a:ext>
            </a:extLst>
          </p:cNvPr>
          <p:cNvSpPr/>
          <p:nvPr/>
        </p:nvSpPr>
        <p:spPr>
          <a:xfrm>
            <a:off x="533784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-0.036</a:t>
            </a:r>
            <a:endParaRPr lang="en-US" sz="800"/>
          </a:p>
        </p:txBody>
      </p:sp>
      <p:sp>
        <p:nvSpPr>
          <p:cNvPr id="530" name="Shape 62">
            <a:extLst>
              <a:ext uri="{FF2B5EF4-FFF2-40B4-BE49-F238E27FC236}">
                <a16:creationId xmlns:a16="http://schemas.microsoft.com/office/drawing/2014/main" id="{DC9F0B45-B0D5-B437-FCB2-00895B6B9B51}"/>
              </a:ext>
            </a:extLst>
          </p:cNvPr>
          <p:cNvSpPr/>
          <p:nvPr/>
        </p:nvSpPr>
        <p:spPr>
          <a:xfrm>
            <a:off x="6663724" y="2638851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1" name="Text 63">
            <a:extLst>
              <a:ext uri="{FF2B5EF4-FFF2-40B4-BE49-F238E27FC236}">
                <a16:creationId xmlns:a16="http://schemas.microsoft.com/office/drawing/2014/main" id="{C52F3E26-43CB-02F9-FF73-CE30476DA8C6}"/>
              </a:ext>
            </a:extLst>
          </p:cNvPr>
          <p:cNvSpPr/>
          <p:nvPr/>
        </p:nvSpPr>
        <p:spPr>
          <a:xfrm>
            <a:off x="666372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32" name="Text 64">
            <a:extLst>
              <a:ext uri="{FF2B5EF4-FFF2-40B4-BE49-F238E27FC236}">
                <a16:creationId xmlns:a16="http://schemas.microsoft.com/office/drawing/2014/main" id="{3C69A19E-3658-7434-B740-E0F7D608E8A6}"/>
              </a:ext>
            </a:extLst>
          </p:cNvPr>
          <p:cNvSpPr/>
          <p:nvPr/>
        </p:nvSpPr>
        <p:spPr>
          <a:xfrm>
            <a:off x="666372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-0.082</a:t>
            </a:r>
            <a:endParaRPr lang="en-US" sz="800"/>
          </a:p>
        </p:txBody>
      </p:sp>
      <p:sp>
        <p:nvSpPr>
          <p:cNvPr id="533" name="Shape 65">
            <a:extLst>
              <a:ext uri="{FF2B5EF4-FFF2-40B4-BE49-F238E27FC236}">
                <a16:creationId xmlns:a16="http://schemas.microsoft.com/office/drawing/2014/main" id="{B83BEA18-D14F-B8AE-AE4F-8894F85D5F74}"/>
              </a:ext>
            </a:extLst>
          </p:cNvPr>
          <p:cNvSpPr/>
          <p:nvPr/>
        </p:nvSpPr>
        <p:spPr>
          <a:xfrm>
            <a:off x="7989604" y="2638851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4" name="Text 66">
            <a:extLst>
              <a:ext uri="{FF2B5EF4-FFF2-40B4-BE49-F238E27FC236}">
                <a16:creationId xmlns:a16="http://schemas.microsoft.com/office/drawing/2014/main" id="{148AD512-0D18-CCF7-6EF6-9D1EC746A44E}"/>
              </a:ext>
            </a:extLst>
          </p:cNvPr>
          <p:cNvSpPr/>
          <p:nvPr/>
        </p:nvSpPr>
        <p:spPr>
          <a:xfrm>
            <a:off x="798960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535" name="Text 67">
            <a:extLst>
              <a:ext uri="{FF2B5EF4-FFF2-40B4-BE49-F238E27FC236}">
                <a16:creationId xmlns:a16="http://schemas.microsoft.com/office/drawing/2014/main" id="{D834CBA2-0689-FC19-E392-4A2FB890640A}"/>
              </a:ext>
            </a:extLst>
          </p:cNvPr>
          <p:cNvSpPr/>
          <p:nvPr/>
        </p:nvSpPr>
        <p:spPr>
          <a:xfrm>
            <a:off x="798960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-0.238</a:t>
            </a:r>
            <a:endParaRPr lang="en-US" sz="800"/>
          </a:p>
        </p:txBody>
      </p:sp>
      <p:sp>
        <p:nvSpPr>
          <p:cNvPr id="536" name="Shape 68">
            <a:extLst>
              <a:ext uri="{FF2B5EF4-FFF2-40B4-BE49-F238E27FC236}">
                <a16:creationId xmlns:a16="http://schemas.microsoft.com/office/drawing/2014/main" id="{D19A0586-A5B2-A7ED-5B34-D27C8EB9C204}"/>
              </a:ext>
            </a:extLst>
          </p:cNvPr>
          <p:cNvSpPr/>
          <p:nvPr/>
        </p:nvSpPr>
        <p:spPr>
          <a:xfrm>
            <a:off x="9315484" y="2638851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7" name="Text 69">
            <a:extLst>
              <a:ext uri="{FF2B5EF4-FFF2-40B4-BE49-F238E27FC236}">
                <a16:creationId xmlns:a16="http://schemas.microsoft.com/office/drawing/2014/main" id="{CE3C52B9-FD56-83B2-67BA-A616EBF4ADE7}"/>
              </a:ext>
            </a:extLst>
          </p:cNvPr>
          <p:cNvSpPr/>
          <p:nvPr/>
        </p:nvSpPr>
        <p:spPr>
          <a:xfrm>
            <a:off x="931548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38" name="Text 70">
            <a:extLst>
              <a:ext uri="{FF2B5EF4-FFF2-40B4-BE49-F238E27FC236}">
                <a16:creationId xmlns:a16="http://schemas.microsoft.com/office/drawing/2014/main" id="{06BEB58E-DEC3-8108-6814-0670B3D4AEB5}"/>
              </a:ext>
            </a:extLst>
          </p:cNvPr>
          <p:cNvSpPr/>
          <p:nvPr/>
        </p:nvSpPr>
        <p:spPr>
          <a:xfrm>
            <a:off x="931548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-0.057</a:t>
            </a:r>
            <a:endParaRPr lang="en-US" sz="800"/>
          </a:p>
        </p:txBody>
      </p:sp>
      <p:sp>
        <p:nvSpPr>
          <p:cNvPr id="539" name="Shape 71">
            <a:extLst>
              <a:ext uri="{FF2B5EF4-FFF2-40B4-BE49-F238E27FC236}">
                <a16:creationId xmlns:a16="http://schemas.microsoft.com/office/drawing/2014/main" id="{351A7A56-82C7-1B9A-905B-DFD6F54565AD}"/>
              </a:ext>
            </a:extLst>
          </p:cNvPr>
          <p:cNvSpPr/>
          <p:nvPr/>
        </p:nvSpPr>
        <p:spPr>
          <a:xfrm>
            <a:off x="10641364" y="2638851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Text 72">
            <a:extLst>
              <a:ext uri="{FF2B5EF4-FFF2-40B4-BE49-F238E27FC236}">
                <a16:creationId xmlns:a16="http://schemas.microsoft.com/office/drawing/2014/main" id="{D6511CFC-7CD7-16A6-B82B-7C8BED11575A}"/>
              </a:ext>
            </a:extLst>
          </p:cNvPr>
          <p:cNvSpPr/>
          <p:nvPr/>
        </p:nvSpPr>
        <p:spPr>
          <a:xfrm>
            <a:off x="10641364" y="265713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41" name="Text 73">
            <a:extLst>
              <a:ext uri="{FF2B5EF4-FFF2-40B4-BE49-F238E27FC236}">
                <a16:creationId xmlns:a16="http://schemas.microsoft.com/office/drawing/2014/main" id="{6DD23BD0-0817-D139-F12F-1A7AB81FB985}"/>
              </a:ext>
            </a:extLst>
          </p:cNvPr>
          <p:cNvSpPr/>
          <p:nvPr/>
        </p:nvSpPr>
        <p:spPr>
          <a:xfrm>
            <a:off x="10641364" y="287659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-0.082</a:t>
            </a:r>
            <a:endParaRPr lang="en-US" sz="800"/>
          </a:p>
        </p:txBody>
      </p:sp>
      <p:sp>
        <p:nvSpPr>
          <p:cNvPr id="542" name="Shape 74">
            <a:extLst>
              <a:ext uri="{FF2B5EF4-FFF2-40B4-BE49-F238E27FC236}">
                <a16:creationId xmlns:a16="http://schemas.microsoft.com/office/drawing/2014/main" id="{F3697E6A-7F20-A585-0FE4-8473AEBBC978}"/>
              </a:ext>
            </a:extLst>
          </p:cNvPr>
          <p:cNvSpPr/>
          <p:nvPr/>
        </p:nvSpPr>
        <p:spPr>
          <a:xfrm>
            <a:off x="1305340" y="3150915"/>
            <a:ext cx="1417320" cy="56692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3" name="Text 75">
            <a:extLst>
              <a:ext uri="{FF2B5EF4-FFF2-40B4-BE49-F238E27FC236}">
                <a16:creationId xmlns:a16="http://schemas.microsoft.com/office/drawing/2014/main" id="{D77F50F2-2B6F-D6EE-23FB-E8DDDB94F1FD}"/>
              </a:ext>
            </a:extLst>
          </p:cNvPr>
          <p:cNvSpPr/>
          <p:nvPr/>
        </p:nvSpPr>
        <p:spPr>
          <a:xfrm>
            <a:off x="-20540" y="3187491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B]</a:t>
            </a:r>
            <a:endParaRPr lang="en-US" sz="850" dirty="0"/>
          </a:p>
        </p:txBody>
      </p:sp>
      <p:sp>
        <p:nvSpPr>
          <p:cNvPr id="544" name="Text 76">
            <a:extLst>
              <a:ext uri="{FF2B5EF4-FFF2-40B4-BE49-F238E27FC236}">
                <a16:creationId xmlns:a16="http://schemas.microsoft.com/office/drawing/2014/main" id="{20FBFE71-A626-4F8C-F1AA-149B51B2F3D3}"/>
              </a:ext>
            </a:extLst>
          </p:cNvPr>
          <p:cNvSpPr/>
          <p:nvPr/>
        </p:nvSpPr>
        <p:spPr>
          <a:xfrm>
            <a:off x="-20540" y="3388659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+[Redacted]</a:t>
            </a:r>
            <a:endParaRPr lang="en-US" sz="700"/>
          </a:p>
        </p:txBody>
      </p:sp>
      <p:sp>
        <p:nvSpPr>
          <p:cNvPr id="545" name="Text 77">
            <a:extLst>
              <a:ext uri="{FF2B5EF4-FFF2-40B4-BE49-F238E27FC236}">
                <a16:creationId xmlns:a16="http://schemas.microsoft.com/office/drawing/2014/main" id="{8EEFFCB3-299C-6C00-A555-4048D7D0D533}"/>
              </a:ext>
            </a:extLst>
          </p:cNvPr>
          <p:cNvSpPr/>
          <p:nvPr/>
        </p:nvSpPr>
        <p:spPr>
          <a:xfrm>
            <a:off x="-20540" y="3534963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700"/>
          </a:p>
        </p:txBody>
      </p:sp>
      <p:sp>
        <p:nvSpPr>
          <p:cNvPr id="546" name="Shape 78">
            <a:extLst>
              <a:ext uri="{FF2B5EF4-FFF2-40B4-BE49-F238E27FC236}">
                <a16:creationId xmlns:a16="http://schemas.microsoft.com/office/drawing/2014/main" id="{E88D6A77-D4C3-69A5-FFE1-E774D0875384}"/>
              </a:ext>
            </a:extLst>
          </p:cNvPr>
          <p:cNvSpPr/>
          <p:nvPr/>
        </p:nvSpPr>
        <p:spPr>
          <a:xfrm>
            <a:off x="1360204" y="3205779"/>
            <a:ext cx="1216152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7" name="Text 79">
            <a:extLst>
              <a:ext uri="{FF2B5EF4-FFF2-40B4-BE49-F238E27FC236}">
                <a16:creationId xmlns:a16="http://schemas.microsoft.com/office/drawing/2014/main" id="{8B650242-0099-E31B-DC04-E4C145C113D2}"/>
              </a:ext>
            </a:extLst>
          </p:cNvPr>
          <p:cNvSpPr/>
          <p:nvPr/>
        </p:nvSpPr>
        <p:spPr>
          <a:xfrm>
            <a:off x="136020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⚠️</a:t>
            </a:r>
            <a:endParaRPr lang="en-US" sz="1100"/>
          </a:p>
        </p:txBody>
      </p:sp>
      <p:sp>
        <p:nvSpPr>
          <p:cNvPr id="548" name="Text 80">
            <a:extLst>
              <a:ext uri="{FF2B5EF4-FFF2-40B4-BE49-F238E27FC236}">
                <a16:creationId xmlns:a16="http://schemas.microsoft.com/office/drawing/2014/main" id="{1B2D69CF-2AB0-8131-33B1-981003EED4F3}"/>
              </a:ext>
            </a:extLst>
          </p:cNvPr>
          <p:cNvSpPr/>
          <p:nvPr/>
        </p:nvSpPr>
        <p:spPr>
          <a:xfrm>
            <a:off x="136020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+0.101</a:t>
            </a:r>
            <a:endParaRPr lang="en-US" sz="800"/>
          </a:p>
        </p:txBody>
      </p:sp>
      <p:sp>
        <p:nvSpPr>
          <p:cNvPr id="549" name="Shape 81">
            <a:extLst>
              <a:ext uri="{FF2B5EF4-FFF2-40B4-BE49-F238E27FC236}">
                <a16:creationId xmlns:a16="http://schemas.microsoft.com/office/drawing/2014/main" id="{DE1D5475-D857-4981-EA08-8A139B33C486}"/>
              </a:ext>
            </a:extLst>
          </p:cNvPr>
          <p:cNvSpPr/>
          <p:nvPr/>
        </p:nvSpPr>
        <p:spPr>
          <a:xfrm>
            <a:off x="2686084" y="3205779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0" name="Text 82">
            <a:extLst>
              <a:ext uri="{FF2B5EF4-FFF2-40B4-BE49-F238E27FC236}">
                <a16:creationId xmlns:a16="http://schemas.microsoft.com/office/drawing/2014/main" id="{FA60AA3E-1834-E29C-F18D-C1BD134C9072}"/>
              </a:ext>
            </a:extLst>
          </p:cNvPr>
          <p:cNvSpPr/>
          <p:nvPr/>
        </p:nvSpPr>
        <p:spPr>
          <a:xfrm>
            <a:off x="268608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51" name="Text 83">
            <a:extLst>
              <a:ext uri="{FF2B5EF4-FFF2-40B4-BE49-F238E27FC236}">
                <a16:creationId xmlns:a16="http://schemas.microsoft.com/office/drawing/2014/main" id="{1B2B28B2-505A-8218-47AD-6D80DDAA0B23}"/>
              </a:ext>
            </a:extLst>
          </p:cNvPr>
          <p:cNvSpPr/>
          <p:nvPr/>
        </p:nvSpPr>
        <p:spPr>
          <a:xfrm>
            <a:off x="268608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-0.050</a:t>
            </a:r>
            <a:endParaRPr lang="en-US" sz="800"/>
          </a:p>
        </p:txBody>
      </p:sp>
      <p:sp>
        <p:nvSpPr>
          <p:cNvPr id="552" name="Shape 84">
            <a:extLst>
              <a:ext uri="{FF2B5EF4-FFF2-40B4-BE49-F238E27FC236}">
                <a16:creationId xmlns:a16="http://schemas.microsoft.com/office/drawing/2014/main" id="{E848A822-E074-1F3C-19F6-66649D585767}"/>
              </a:ext>
            </a:extLst>
          </p:cNvPr>
          <p:cNvSpPr/>
          <p:nvPr/>
        </p:nvSpPr>
        <p:spPr>
          <a:xfrm>
            <a:off x="4011964" y="3205779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3" name="Text 85">
            <a:extLst>
              <a:ext uri="{FF2B5EF4-FFF2-40B4-BE49-F238E27FC236}">
                <a16:creationId xmlns:a16="http://schemas.microsoft.com/office/drawing/2014/main" id="{39774E51-4DEC-4795-FC30-50B09E8A7337}"/>
              </a:ext>
            </a:extLst>
          </p:cNvPr>
          <p:cNvSpPr/>
          <p:nvPr/>
        </p:nvSpPr>
        <p:spPr>
          <a:xfrm>
            <a:off x="401196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54" name="Text 86">
            <a:extLst>
              <a:ext uri="{FF2B5EF4-FFF2-40B4-BE49-F238E27FC236}">
                <a16:creationId xmlns:a16="http://schemas.microsoft.com/office/drawing/2014/main" id="{7341BB8D-F1B5-02B1-26CA-809DA585880B}"/>
              </a:ext>
            </a:extLst>
          </p:cNvPr>
          <p:cNvSpPr/>
          <p:nvPr/>
        </p:nvSpPr>
        <p:spPr>
          <a:xfrm>
            <a:off x="401196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+0.004</a:t>
            </a:r>
            <a:endParaRPr lang="en-US" sz="800"/>
          </a:p>
        </p:txBody>
      </p:sp>
      <p:sp>
        <p:nvSpPr>
          <p:cNvPr id="555" name="Shape 87">
            <a:extLst>
              <a:ext uri="{FF2B5EF4-FFF2-40B4-BE49-F238E27FC236}">
                <a16:creationId xmlns:a16="http://schemas.microsoft.com/office/drawing/2014/main" id="{CE1025F1-60D1-5AF9-1BCB-7F656E4D7144}"/>
              </a:ext>
            </a:extLst>
          </p:cNvPr>
          <p:cNvSpPr/>
          <p:nvPr/>
        </p:nvSpPr>
        <p:spPr>
          <a:xfrm>
            <a:off x="5337844" y="3205779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6" name="Text 88">
            <a:extLst>
              <a:ext uri="{FF2B5EF4-FFF2-40B4-BE49-F238E27FC236}">
                <a16:creationId xmlns:a16="http://schemas.microsoft.com/office/drawing/2014/main" id="{B7FC3618-41C4-A8B1-4216-0F180A23725B}"/>
              </a:ext>
            </a:extLst>
          </p:cNvPr>
          <p:cNvSpPr/>
          <p:nvPr/>
        </p:nvSpPr>
        <p:spPr>
          <a:xfrm>
            <a:off x="533784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57" name="Text 89">
            <a:extLst>
              <a:ext uri="{FF2B5EF4-FFF2-40B4-BE49-F238E27FC236}">
                <a16:creationId xmlns:a16="http://schemas.microsoft.com/office/drawing/2014/main" id="{617FD494-01FD-9B20-40F3-CD7A9303973B}"/>
              </a:ext>
            </a:extLst>
          </p:cNvPr>
          <p:cNvSpPr/>
          <p:nvPr/>
        </p:nvSpPr>
        <p:spPr>
          <a:xfrm>
            <a:off x="533784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-0.037</a:t>
            </a:r>
            <a:endParaRPr lang="en-US" sz="800"/>
          </a:p>
        </p:txBody>
      </p:sp>
      <p:sp>
        <p:nvSpPr>
          <p:cNvPr id="558" name="Shape 90">
            <a:extLst>
              <a:ext uri="{FF2B5EF4-FFF2-40B4-BE49-F238E27FC236}">
                <a16:creationId xmlns:a16="http://schemas.microsoft.com/office/drawing/2014/main" id="{1FAD56ED-68A7-7FF9-BA91-D7BD5B679064}"/>
              </a:ext>
            </a:extLst>
          </p:cNvPr>
          <p:cNvSpPr/>
          <p:nvPr/>
        </p:nvSpPr>
        <p:spPr>
          <a:xfrm>
            <a:off x="6663724" y="3205779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9" name="Text 91">
            <a:extLst>
              <a:ext uri="{FF2B5EF4-FFF2-40B4-BE49-F238E27FC236}">
                <a16:creationId xmlns:a16="http://schemas.microsoft.com/office/drawing/2014/main" id="{618DA3D1-6AFE-E6B5-6C55-DCA2121FAB8D}"/>
              </a:ext>
            </a:extLst>
          </p:cNvPr>
          <p:cNvSpPr/>
          <p:nvPr/>
        </p:nvSpPr>
        <p:spPr>
          <a:xfrm>
            <a:off x="666372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60" name="Text 92">
            <a:extLst>
              <a:ext uri="{FF2B5EF4-FFF2-40B4-BE49-F238E27FC236}">
                <a16:creationId xmlns:a16="http://schemas.microsoft.com/office/drawing/2014/main" id="{ED8E1863-50F8-6542-B3E1-8EF0979A3C86}"/>
              </a:ext>
            </a:extLst>
          </p:cNvPr>
          <p:cNvSpPr/>
          <p:nvPr/>
        </p:nvSpPr>
        <p:spPr>
          <a:xfrm>
            <a:off x="666372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-0.053</a:t>
            </a:r>
            <a:endParaRPr lang="en-US" sz="800"/>
          </a:p>
        </p:txBody>
      </p:sp>
      <p:sp>
        <p:nvSpPr>
          <p:cNvPr id="561" name="Shape 93">
            <a:extLst>
              <a:ext uri="{FF2B5EF4-FFF2-40B4-BE49-F238E27FC236}">
                <a16:creationId xmlns:a16="http://schemas.microsoft.com/office/drawing/2014/main" id="{80765AEA-EAB8-F33A-3F7D-CAA871060391}"/>
              </a:ext>
            </a:extLst>
          </p:cNvPr>
          <p:cNvSpPr/>
          <p:nvPr/>
        </p:nvSpPr>
        <p:spPr>
          <a:xfrm>
            <a:off x="7989604" y="3205779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2" name="Text 94">
            <a:extLst>
              <a:ext uri="{FF2B5EF4-FFF2-40B4-BE49-F238E27FC236}">
                <a16:creationId xmlns:a16="http://schemas.microsoft.com/office/drawing/2014/main" id="{15E241E3-78D9-BBC0-2449-A7B4CB4F9B8E}"/>
              </a:ext>
            </a:extLst>
          </p:cNvPr>
          <p:cNvSpPr/>
          <p:nvPr/>
        </p:nvSpPr>
        <p:spPr>
          <a:xfrm>
            <a:off x="798960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563" name="Text 95">
            <a:extLst>
              <a:ext uri="{FF2B5EF4-FFF2-40B4-BE49-F238E27FC236}">
                <a16:creationId xmlns:a16="http://schemas.microsoft.com/office/drawing/2014/main" id="{C17053B7-924D-7DF4-DD24-8C66E0197DB5}"/>
              </a:ext>
            </a:extLst>
          </p:cNvPr>
          <p:cNvSpPr/>
          <p:nvPr/>
        </p:nvSpPr>
        <p:spPr>
          <a:xfrm>
            <a:off x="798960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-0.203</a:t>
            </a:r>
            <a:endParaRPr lang="en-US" sz="800"/>
          </a:p>
        </p:txBody>
      </p:sp>
      <p:sp>
        <p:nvSpPr>
          <p:cNvPr id="564" name="Shape 96">
            <a:extLst>
              <a:ext uri="{FF2B5EF4-FFF2-40B4-BE49-F238E27FC236}">
                <a16:creationId xmlns:a16="http://schemas.microsoft.com/office/drawing/2014/main" id="{ED9F47DC-3AA6-A55D-B750-3786D6DA740F}"/>
              </a:ext>
            </a:extLst>
          </p:cNvPr>
          <p:cNvSpPr/>
          <p:nvPr/>
        </p:nvSpPr>
        <p:spPr>
          <a:xfrm>
            <a:off x="9315484" y="3205779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5" name="Text 97">
            <a:extLst>
              <a:ext uri="{FF2B5EF4-FFF2-40B4-BE49-F238E27FC236}">
                <a16:creationId xmlns:a16="http://schemas.microsoft.com/office/drawing/2014/main" id="{77E880DA-94F1-3ECF-B594-AE9501D5364F}"/>
              </a:ext>
            </a:extLst>
          </p:cNvPr>
          <p:cNvSpPr/>
          <p:nvPr/>
        </p:nvSpPr>
        <p:spPr>
          <a:xfrm>
            <a:off x="931548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66" name="Text 98">
            <a:extLst>
              <a:ext uri="{FF2B5EF4-FFF2-40B4-BE49-F238E27FC236}">
                <a16:creationId xmlns:a16="http://schemas.microsoft.com/office/drawing/2014/main" id="{78F7D548-4F2E-FFBB-A0A7-FE4A46C28DB9}"/>
              </a:ext>
            </a:extLst>
          </p:cNvPr>
          <p:cNvSpPr/>
          <p:nvPr/>
        </p:nvSpPr>
        <p:spPr>
          <a:xfrm>
            <a:off x="931548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-0.028</a:t>
            </a:r>
            <a:endParaRPr lang="en-US" sz="800"/>
          </a:p>
        </p:txBody>
      </p:sp>
      <p:sp>
        <p:nvSpPr>
          <p:cNvPr id="567" name="Shape 99">
            <a:extLst>
              <a:ext uri="{FF2B5EF4-FFF2-40B4-BE49-F238E27FC236}">
                <a16:creationId xmlns:a16="http://schemas.microsoft.com/office/drawing/2014/main" id="{19620DD3-0682-82E1-C37B-D635450B8038}"/>
              </a:ext>
            </a:extLst>
          </p:cNvPr>
          <p:cNvSpPr/>
          <p:nvPr/>
        </p:nvSpPr>
        <p:spPr>
          <a:xfrm>
            <a:off x="10641364" y="3205779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8" name="Text 100">
            <a:extLst>
              <a:ext uri="{FF2B5EF4-FFF2-40B4-BE49-F238E27FC236}">
                <a16:creationId xmlns:a16="http://schemas.microsoft.com/office/drawing/2014/main" id="{82CB471B-77FE-52CE-60FD-36B500EB6BAD}"/>
              </a:ext>
            </a:extLst>
          </p:cNvPr>
          <p:cNvSpPr/>
          <p:nvPr/>
        </p:nvSpPr>
        <p:spPr>
          <a:xfrm>
            <a:off x="10641364" y="3224067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69" name="Text 101">
            <a:extLst>
              <a:ext uri="{FF2B5EF4-FFF2-40B4-BE49-F238E27FC236}">
                <a16:creationId xmlns:a16="http://schemas.microsoft.com/office/drawing/2014/main" id="{DA463FAB-2588-1679-FB2F-821C51B27904}"/>
              </a:ext>
            </a:extLst>
          </p:cNvPr>
          <p:cNvSpPr/>
          <p:nvPr/>
        </p:nvSpPr>
        <p:spPr>
          <a:xfrm>
            <a:off x="10641364" y="3443523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-0.053</a:t>
            </a:r>
            <a:endParaRPr lang="en-US" sz="800"/>
          </a:p>
        </p:txBody>
      </p:sp>
      <p:sp>
        <p:nvSpPr>
          <p:cNvPr id="570" name="Shape 102">
            <a:extLst>
              <a:ext uri="{FF2B5EF4-FFF2-40B4-BE49-F238E27FC236}">
                <a16:creationId xmlns:a16="http://schemas.microsoft.com/office/drawing/2014/main" id="{D8EE1724-58BC-848A-4227-3B2926CAD886}"/>
              </a:ext>
            </a:extLst>
          </p:cNvPr>
          <p:cNvSpPr/>
          <p:nvPr/>
        </p:nvSpPr>
        <p:spPr>
          <a:xfrm>
            <a:off x="1305340" y="3717843"/>
            <a:ext cx="14173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1" name="Text 103">
            <a:extLst>
              <a:ext uri="{FF2B5EF4-FFF2-40B4-BE49-F238E27FC236}">
                <a16:creationId xmlns:a16="http://schemas.microsoft.com/office/drawing/2014/main" id="{B6B1D9B3-2696-EAB1-F3E0-DBD99BD4786E}"/>
              </a:ext>
            </a:extLst>
          </p:cNvPr>
          <p:cNvSpPr/>
          <p:nvPr/>
        </p:nvSpPr>
        <p:spPr>
          <a:xfrm>
            <a:off x="-20540" y="3754419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H]</a:t>
            </a:r>
            <a:endParaRPr lang="en-US" sz="850"/>
          </a:p>
        </p:txBody>
      </p:sp>
      <p:sp>
        <p:nvSpPr>
          <p:cNvPr id="572" name="Text 104">
            <a:extLst>
              <a:ext uri="{FF2B5EF4-FFF2-40B4-BE49-F238E27FC236}">
                <a16:creationId xmlns:a16="http://schemas.microsoft.com/office/drawing/2014/main" id="{505DA29E-778C-AAA7-49D0-233863AA94A6}"/>
              </a:ext>
            </a:extLst>
          </p:cNvPr>
          <p:cNvSpPr/>
          <p:nvPr/>
        </p:nvSpPr>
        <p:spPr>
          <a:xfrm>
            <a:off x="-20540" y="3955587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—</a:t>
            </a:r>
            <a:endParaRPr lang="en-US" sz="700"/>
          </a:p>
        </p:txBody>
      </p:sp>
      <p:sp>
        <p:nvSpPr>
          <p:cNvPr id="573" name="Text 105">
            <a:extLst>
              <a:ext uri="{FF2B5EF4-FFF2-40B4-BE49-F238E27FC236}">
                <a16:creationId xmlns:a16="http://schemas.microsoft.com/office/drawing/2014/main" id="{A361AB04-A696-2456-642C-43F9EB6A7A5B}"/>
              </a:ext>
            </a:extLst>
          </p:cNvPr>
          <p:cNvSpPr/>
          <p:nvPr/>
        </p:nvSpPr>
        <p:spPr>
          <a:xfrm>
            <a:off x="-20540" y="4101891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00"/>
          </a:p>
        </p:txBody>
      </p:sp>
      <p:sp>
        <p:nvSpPr>
          <p:cNvPr id="574" name="Shape 106">
            <a:extLst>
              <a:ext uri="{FF2B5EF4-FFF2-40B4-BE49-F238E27FC236}">
                <a16:creationId xmlns:a16="http://schemas.microsoft.com/office/drawing/2014/main" id="{48169E5B-E9B1-CE36-F52B-F370FA296321}"/>
              </a:ext>
            </a:extLst>
          </p:cNvPr>
          <p:cNvSpPr/>
          <p:nvPr/>
        </p:nvSpPr>
        <p:spPr>
          <a:xfrm>
            <a:off x="1360204" y="3772707"/>
            <a:ext cx="1216152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5" name="Text 107">
            <a:extLst>
              <a:ext uri="{FF2B5EF4-FFF2-40B4-BE49-F238E27FC236}">
                <a16:creationId xmlns:a16="http://schemas.microsoft.com/office/drawing/2014/main" id="{DB377575-263A-259F-27C0-97C7F5AA37A6}"/>
              </a:ext>
            </a:extLst>
          </p:cNvPr>
          <p:cNvSpPr/>
          <p:nvPr/>
        </p:nvSpPr>
        <p:spPr>
          <a:xfrm>
            <a:off x="136020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⚠️</a:t>
            </a:r>
            <a:endParaRPr lang="en-US" sz="1100"/>
          </a:p>
        </p:txBody>
      </p:sp>
      <p:sp>
        <p:nvSpPr>
          <p:cNvPr id="576" name="Text 108">
            <a:extLst>
              <a:ext uri="{FF2B5EF4-FFF2-40B4-BE49-F238E27FC236}">
                <a16:creationId xmlns:a16="http://schemas.microsoft.com/office/drawing/2014/main" id="{0DBC6DFF-CF43-4F71-3965-432D38BDCB3C}"/>
              </a:ext>
            </a:extLst>
          </p:cNvPr>
          <p:cNvSpPr/>
          <p:nvPr/>
        </p:nvSpPr>
        <p:spPr>
          <a:xfrm>
            <a:off x="136020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+0.182</a:t>
            </a:r>
            <a:endParaRPr lang="en-US" sz="800"/>
          </a:p>
        </p:txBody>
      </p:sp>
      <p:sp>
        <p:nvSpPr>
          <p:cNvPr id="577" name="Shape 109">
            <a:extLst>
              <a:ext uri="{FF2B5EF4-FFF2-40B4-BE49-F238E27FC236}">
                <a16:creationId xmlns:a16="http://schemas.microsoft.com/office/drawing/2014/main" id="{AA116602-5200-B7B6-B27D-5F113C9873FB}"/>
              </a:ext>
            </a:extLst>
          </p:cNvPr>
          <p:cNvSpPr/>
          <p:nvPr/>
        </p:nvSpPr>
        <p:spPr>
          <a:xfrm>
            <a:off x="2686084" y="3772707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8" name="Text 110">
            <a:extLst>
              <a:ext uri="{FF2B5EF4-FFF2-40B4-BE49-F238E27FC236}">
                <a16:creationId xmlns:a16="http://schemas.microsoft.com/office/drawing/2014/main" id="{C23C72B4-F832-0E5B-36F0-656271C4E9D7}"/>
              </a:ext>
            </a:extLst>
          </p:cNvPr>
          <p:cNvSpPr/>
          <p:nvPr/>
        </p:nvSpPr>
        <p:spPr>
          <a:xfrm>
            <a:off x="268608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79" name="Text 111">
            <a:extLst>
              <a:ext uri="{FF2B5EF4-FFF2-40B4-BE49-F238E27FC236}">
                <a16:creationId xmlns:a16="http://schemas.microsoft.com/office/drawing/2014/main" id="{3DBE9DFA-7FBC-4BAE-94FF-3CEF89477D6C}"/>
              </a:ext>
            </a:extLst>
          </p:cNvPr>
          <p:cNvSpPr/>
          <p:nvPr/>
        </p:nvSpPr>
        <p:spPr>
          <a:xfrm>
            <a:off x="268608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+0.031</a:t>
            </a:r>
            <a:endParaRPr lang="en-US" sz="800"/>
          </a:p>
        </p:txBody>
      </p:sp>
      <p:sp>
        <p:nvSpPr>
          <p:cNvPr id="580" name="Shape 112">
            <a:extLst>
              <a:ext uri="{FF2B5EF4-FFF2-40B4-BE49-F238E27FC236}">
                <a16:creationId xmlns:a16="http://schemas.microsoft.com/office/drawing/2014/main" id="{786DC1F1-43A2-327B-C541-02781C32C452}"/>
              </a:ext>
            </a:extLst>
          </p:cNvPr>
          <p:cNvSpPr/>
          <p:nvPr/>
        </p:nvSpPr>
        <p:spPr>
          <a:xfrm>
            <a:off x="4011964" y="3772707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1" name="Text 113">
            <a:extLst>
              <a:ext uri="{FF2B5EF4-FFF2-40B4-BE49-F238E27FC236}">
                <a16:creationId xmlns:a16="http://schemas.microsoft.com/office/drawing/2014/main" id="{9235C0BE-E307-9E60-AA5B-9A72B224C5F8}"/>
              </a:ext>
            </a:extLst>
          </p:cNvPr>
          <p:cNvSpPr/>
          <p:nvPr/>
        </p:nvSpPr>
        <p:spPr>
          <a:xfrm>
            <a:off x="401196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82" name="Text 114">
            <a:extLst>
              <a:ext uri="{FF2B5EF4-FFF2-40B4-BE49-F238E27FC236}">
                <a16:creationId xmlns:a16="http://schemas.microsoft.com/office/drawing/2014/main" id="{C0C3BCBA-7B1D-2F8A-A15B-946100851B8D}"/>
              </a:ext>
            </a:extLst>
          </p:cNvPr>
          <p:cNvSpPr/>
          <p:nvPr/>
        </p:nvSpPr>
        <p:spPr>
          <a:xfrm>
            <a:off x="401196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-0.023</a:t>
            </a:r>
            <a:endParaRPr lang="en-US" sz="800"/>
          </a:p>
        </p:txBody>
      </p:sp>
      <p:sp>
        <p:nvSpPr>
          <p:cNvPr id="583" name="Shape 115">
            <a:extLst>
              <a:ext uri="{FF2B5EF4-FFF2-40B4-BE49-F238E27FC236}">
                <a16:creationId xmlns:a16="http://schemas.microsoft.com/office/drawing/2014/main" id="{B4D0E12E-84B0-7A4F-DBC4-519F568D0F24}"/>
              </a:ext>
            </a:extLst>
          </p:cNvPr>
          <p:cNvSpPr/>
          <p:nvPr/>
        </p:nvSpPr>
        <p:spPr>
          <a:xfrm>
            <a:off x="5337844" y="3772707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4" name="Text 116">
            <a:extLst>
              <a:ext uri="{FF2B5EF4-FFF2-40B4-BE49-F238E27FC236}">
                <a16:creationId xmlns:a16="http://schemas.microsoft.com/office/drawing/2014/main" id="{B9BD9BF6-6806-D268-E061-4DF1B75FAE1A}"/>
              </a:ext>
            </a:extLst>
          </p:cNvPr>
          <p:cNvSpPr/>
          <p:nvPr/>
        </p:nvSpPr>
        <p:spPr>
          <a:xfrm>
            <a:off x="533784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85" name="Text 117">
            <a:extLst>
              <a:ext uri="{FF2B5EF4-FFF2-40B4-BE49-F238E27FC236}">
                <a16:creationId xmlns:a16="http://schemas.microsoft.com/office/drawing/2014/main" id="{8DD81E75-3849-116C-6917-C29AD37CBF08}"/>
              </a:ext>
            </a:extLst>
          </p:cNvPr>
          <p:cNvSpPr/>
          <p:nvPr/>
        </p:nvSpPr>
        <p:spPr>
          <a:xfrm>
            <a:off x="533784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+0.008</a:t>
            </a:r>
            <a:endParaRPr lang="en-US" sz="800"/>
          </a:p>
        </p:txBody>
      </p:sp>
      <p:sp>
        <p:nvSpPr>
          <p:cNvPr id="586" name="Shape 118">
            <a:extLst>
              <a:ext uri="{FF2B5EF4-FFF2-40B4-BE49-F238E27FC236}">
                <a16:creationId xmlns:a16="http://schemas.microsoft.com/office/drawing/2014/main" id="{EE5A017C-F98A-0E32-F273-15CFA72A79DD}"/>
              </a:ext>
            </a:extLst>
          </p:cNvPr>
          <p:cNvSpPr/>
          <p:nvPr/>
        </p:nvSpPr>
        <p:spPr>
          <a:xfrm>
            <a:off x="6663724" y="3772707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7" name="Text 119">
            <a:extLst>
              <a:ext uri="{FF2B5EF4-FFF2-40B4-BE49-F238E27FC236}">
                <a16:creationId xmlns:a16="http://schemas.microsoft.com/office/drawing/2014/main" id="{25B93EE2-966B-BEE8-9BDB-7CEF38851725}"/>
              </a:ext>
            </a:extLst>
          </p:cNvPr>
          <p:cNvSpPr/>
          <p:nvPr/>
        </p:nvSpPr>
        <p:spPr>
          <a:xfrm>
            <a:off x="666372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88" name="Text 120">
            <a:extLst>
              <a:ext uri="{FF2B5EF4-FFF2-40B4-BE49-F238E27FC236}">
                <a16:creationId xmlns:a16="http://schemas.microsoft.com/office/drawing/2014/main" id="{C3C38CA7-9E11-622B-F8BD-0706A7553C4D}"/>
              </a:ext>
            </a:extLst>
          </p:cNvPr>
          <p:cNvSpPr/>
          <p:nvPr/>
        </p:nvSpPr>
        <p:spPr>
          <a:xfrm>
            <a:off x="666372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-0.040</a:t>
            </a:r>
            <a:endParaRPr lang="en-US" sz="800"/>
          </a:p>
        </p:txBody>
      </p:sp>
      <p:sp>
        <p:nvSpPr>
          <p:cNvPr id="589" name="Shape 121">
            <a:extLst>
              <a:ext uri="{FF2B5EF4-FFF2-40B4-BE49-F238E27FC236}">
                <a16:creationId xmlns:a16="http://schemas.microsoft.com/office/drawing/2014/main" id="{3C296E1F-F497-3AED-5E1F-1BEBE7EE2754}"/>
              </a:ext>
            </a:extLst>
          </p:cNvPr>
          <p:cNvSpPr/>
          <p:nvPr/>
        </p:nvSpPr>
        <p:spPr>
          <a:xfrm>
            <a:off x="7989604" y="3772707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0" name="Text 122">
            <a:extLst>
              <a:ext uri="{FF2B5EF4-FFF2-40B4-BE49-F238E27FC236}">
                <a16:creationId xmlns:a16="http://schemas.microsoft.com/office/drawing/2014/main" id="{40260A1C-2B40-B4F0-DEEE-2918F544952B}"/>
              </a:ext>
            </a:extLst>
          </p:cNvPr>
          <p:cNvSpPr/>
          <p:nvPr/>
        </p:nvSpPr>
        <p:spPr>
          <a:xfrm>
            <a:off x="798960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591" name="Text 123">
            <a:extLst>
              <a:ext uri="{FF2B5EF4-FFF2-40B4-BE49-F238E27FC236}">
                <a16:creationId xmlns:a16="http://schemas.microsoft.com/office/drawing/2014/main" id="{15C49638-DFB1-574B-6286-A5178326FB6D}"/>
              </a:ext>
            </a:extLst>
          </p:cNvPr>
          <p:cNvSpPr/>
          <p:nvPr/>
        </p:nvSpPr>
        <p:spPr>
          <a:xfrm>
            <a:off x="798960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-0.214</a:t>
            </a:r>
            <a:endParaRPr lang="en-US" sz="800"/>
          </a:p>
        </p:txBody>
      </p:sp>
      <p:sp>
        <p:nvSpPr>
          <p:cNvPr id="592" name="Shape 124">
            <a:extLst>
              <a:ext uri="{FF2B5EF4-FFF2-40B4-BE49-F238E27FC236}">
                <a16:creationId xmlns:a16="http://schemas.microsoft.com/office/drawing/2014/main" id="{54285F60-FD68-37F9-14F7-32E391713E89}"/>
              </a:ext>
            </a:extLst>
          </p:cNvPr>
          <p:cNvSpPr/>
          <p:nvPr/>
        </p:nvSpPr>
        <p:spPr>
          <a:xfrm>
            <a:off x="9315484" y="3772707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3" name="Text 125">
            <a:extLst>
              <a:ext uri="{FF2B5EF4-FFF2-40B4-BE49-F238E27FC236}">
                <a16:creationId xmlns:a16="http://schemas.microsoft.com/office/drawing/2014/main" id="{A39B7F47-4CDA-0A12-4D75-661E374574C9}"/>
              </a:ext>
            </a:extLst>
          </p:cNvPr>
          <p:cNvSpPr/>
          <p:nvPr/>
        </p:nvSpPr>
        <p:spPr>
          <a:xfrm>
            <a:off x="931548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94" name="Text 126">
            <a:extLst>
              <a:ext uri="{FF2B5EF4-FFF2-40B4-BE49-F238E27FC236}">
                <a16:creationId xmlns:a16="http://schemas.microsoft.com/office/drawing/2014/main" id="{256644E4-DCD3-3B38-6135-70F70CF22360}"/>
              </a:ext>
            </a:extLst>
          </p:cNvPr>
          <p:cNvSpPr/>
          <p:nvPr/>
        </p:nvSpPr>
        <p:spPr>
          <a:xfrm>
            <a:off x="931548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-0.054</a:t>
            </a:r>
            <a:endParaRPr lang="en-US" sz="800"/>
          </a:p>
        </p:txBody>
      </p:sp>
      <p:sp>
        <p:nvSpPr>
          <p:cNvPr id="595" name="Shape 127">
            <a:extLst>
              <a:ext uri="{FF2B5EF4-FFF2-40B4-BE49-F238E27FC236}">
                <a16:creationId xmlns:a16="http://schemas.microsoft.com/office/drawing/2014/main" id="{3F4AA670-88D6-1D7F-ADE0-73EB37E3F32A}"/>
              </a:ext>
            </a:extLst>
          </p:cNvPr>
          <p:cNvSpPr/>
          <p:nvPr/>
        </p:nvSpPr>
        <p:spPr>
          <a:xfrm>
            <a:off x="10641364" y="3772707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6" name="Text 128">
            <a:extLst>
              <a:ext uri="{FF2B5EF4-FFF2-40B4-BE49-F238E27FC236}">
                <a16:creationId xmlns:a16="http://schemas.microsoft.com/office/drawing/2014/main" id="{74907439-2EC4-8AE1-AD2E-317E331B91B1}"/>
              </a:ext>
            </a:extLst>
          </p:cNvPr>
          <p:cNvSpPr/>
          <p:nvPr/>
        </p:nvSpPr>
        <p:spPr>
          <a:xfrm>
            <a:off x="10641364" y="3790995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597" name="Text 129">
            <a:extLst>
              <a:ext uri="{FF2B5EF4-FFF2-40B4-BE49-F238E27FC236}">
                <a16:creationId xmlns:a16="http://schemas.microsoft.com/office/drawing/2014/main" id="{88757294-5ACB-F6A2-E55B-7E2CE996A287}"/>
              </a:ext>
            </a:extLst>
          </p:cNvPr>
          <p:cNvSpPr/>
          <p:nvPr/>
        </p:nvSpPr>
        <p:spPr>
          <a:xfrm>
            <a:off x="10641364" y="4010451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-0.040</a:t>
            </a:r>
            <a:endParaRPr lang="en-US" sz="800"/>
          </a:p>
        </p:txBody>
      </p:sp>
      <p:sp>
        <p:nvSpPr>
          <p:cNvPr id="598" name="Shape 130">
            <a:extLst>
              <a:ext uri="{FF2B5EF4-FFF2-40B4-BE49-F238E27FC236}">
                <a16:creationId xmlns:a16="http://schemas.microsoft.com/office/drawing/2014/main" id="{FEBA6CEC-5D55-9280-8D4D-31FEEB7B3130}"/>
              </a:ext>
            </a:extLst>
          </p:cNvPr>
          <p:cNvSpPr/>
          <p:nvPr/>
        </p:nvSpPr>
        <p:spPr>
          <a:xfrm>
            <a:off x="1305340" y="4284771"/>
            <a:ext cx="1417320" cy="56692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9" name="Text 131">
            <a:extLst>
              <a:ext uri="{FF2B5EF4-FFF2-40B4-BE49-F238E27FC236}">
                <a16:creationId xmlns:a16="http://schemas.microsoft.com/office/drawing/2014/main" id="{F6E8E117-D9CF-4FE7-B430-646EC9749D1B}"/>
              </a:ext>
            </a:extLst>
          </p:cNvPr>
          <p:cNvSpPr/>
          <p:nvPr/>
        </p:nvSpPr>
        <p:spPr>
          <a:xfrm>
            <a:off x="-20540" y="4321347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I]</a:t>
            </a:r>
            <a:endParaRPr lang="en-US" sz="850"/>
          </a:p>
        </p:txBody>
      </p:sp>
      <p:sp>
        <p:nvSpPr>
          <p:cNvPr id="600" name="Text 132">
            <a:extLst>
              <a:ext uri="{FF2B5EF4-FFF2-40B4-BE49-F238E27FC236}">
                <a16:creationId xmlns:a16="http://schemas.microsoft.com/office/drawing/2014/main" id="{9324F423-EEEA-1A7D-308C-CE818D8ECF69}"/>
              </a:ext>
            </a:extLst>
          </p:cNvPr>
          <p:cNvSpPr/>
          <p:nvPr/>
        </p:nvSpPr>
        <p:spPr>
          <a:xfrm>
            <a:off x="-20540" y="4522515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+[Redacted]</a:t>
            </a:r>
            <a:endParaRPr lang="en-US" sz="700"/>
          </a:p>
        </p:txBody>
      </p:sp>
      <p:sp>
        <p:nvSpPr>
          <p:cNvPr id="601" name="Text 133">
            <a:extLst>
              <a:ext uri="{FF2B5EF4-FFF2-40B4-BE49-F238E27FC236}">
                <a16:creationId xmlns:a16="http://schemas.microsoft.com/office/drawing/2014/main" id="{FB27B5A4-E7A5-0A21-1E89-B3A898F2B95D}"/>
              </a:ext>
            </a:extLst>
          </p:cNvPr>
          <p:cNvSpPr/>
          <p:nvPr/>
        </p:nvSpPr>
        <p:spPr>
          <a:xfrm>
            <a:off x="-20540" y="4668819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700"/>
          </a:p>
        </p:txBody>
      </p:sp>
      <p:sp>
        <p:nvSpPr>
          <p:cNvPr id="602" name="Shape 134">
            <a:extLst>
              <a:ext uri="{FF2B5EF4-FFF2-40B4-BE49-F238E27FC236}">
                <a16:creationId xmlns:a16="http://schemas.microsoft.com/office/drawing/2014/main" id="{4394C3A8-1880-89B6-EBCC-51BE8475027F}"/>
              </a:ext>
            </a:extLst>
          </p:cNvPr>
          <p:cNvSpPr/>
          <p:nvPr/>
        </p:nvSpPr>
        <p:spPr>
          <a:xfrm>
            <a:off x="1360204" y="4339635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3" name="Text 135">
            <a:extLst>
              <a:ext uri="{FF2B5EF4-FFF2-40B4-BE49-F238E27FC236}">
                <a16:creationId xmlns:a16="http://schemas.microsoft.com/office/drawing/2014/main" id="{3C897DB3-6D19-3D08-533D-33FFBD689F06}"/>
              </a:ext>
            </a:extLst>
          </p:cNvPr>
          <p:cNvSpPr/>
          <p:nvPr/>
        </p:nvSpPr>
        <p:spPr>
          <a:xfrm>
            <a:off x="136020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04" name="Text 136">
            <a:extLst>
              <a:ext uri="{FF2B5EF4-FFF2-40B4-BE49-F238E27FC236}">
                <a16:creationId xmlns:a16="http://schemas.microsoft.com/office/drawing/2014/main" id="{D67B4201-2160-DEB1-A441-25E744D663C7}"/>
              </a:ext>
            </a:extLst>
          </p:cNvPr>
          <p:cNvSpPr/>
          <p:nvPr/>
        </p:nvSpPr>
        <p:spPr>
          <a:xfrm>
            <a:off x="136020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-0.011</a:t>
            </a:r>
            <a:endParaRPr lang="en-US" sz="800"/>
          </a:p>
        </p:txBody>
      </p:sp>
      <p:sp>
        <p:nvSpPr>
          <p:cNvPr id="605" name="Shape 137">
            <a:extLst>
              <a:ext uri="{FF2B5EF4-FFF2-40B4-BE49-F238E27FC236}">
                <a16:creationId xmlns:a16="http://schemas.microsoft.com/office/drawing/2014/main" id="{29834B5F-42A8-0C58-5B07-C6D48A0F3D9D}"/>
              </a:ext>
            </a:extLst>
          </p:cNvPr>
          <p:cNvSpPr/>
          <p:nvPr/>
        </p:nvSpPr>
        <p:spPr>
          <a:xfrm>
            <a:off x="2686084" y="4339635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Text 138">
            <a:extLst>
              <a:ext uri="{FF2B5EF4-FFF2-40B4-BE49-F238E27FC236}">
                <a16:creationId xmlns:a16="http://schemas.microsoft.com/office/drawing/2014/main" id="{87F07BE7-4EB2-02EE-6D80-6AC0071D910C}"/>
              </a:ext>
            </a:extLst>
          </p:cNvPr>
          <p:cNvSpPr/>
          <p:nvPr/>
        </p:nvSpPr>
        <p:spPr>
          <a:xfrm>
            <a:off x="268608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07" name="Text 139">
            <a:extLst>
              <a:ext uri="{FF2B5EF4-FFF2-40B4-BE49-F238E27FC236}">
                <a16:creationId xmlns:a16="http://schemas.microsoft.com/office/drawing/2014/main" id="{15FEE43A-A47D-93F3-E1E9-837C6782CCD0}"/>
              </a:ext>
            </a:extLst>
          </p:cNvPr>
          <p:cNvSpPr/>
          <p:nvPr/>
        </p:nvSpPr>
        <p:spPr>
          <a:xfrm>
            <a:off x="268608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-0.037</a:t>
            </a:r>
            <a:endParaRPr lang="en-US" sz="800"/>
          </a:p>
        </p:txBody>
      </p:sp>
      <p:sp>
        <p:nvSpPr>
          <p:cNvPr id="608" name="Shape 140">
            <a:extLst>
              <a:ext uri="{FF2B5EF4-FFF2-40B4-BE49-F238E27FC236}">
                <a16:creationId xmlns:a16="http://schemas.microsoft.com/office/drawing/2014/main" id="{AF5796C5-95C6-5EB9-6D5A-50AD57B69C9F}"/>
              </a:ext>
            </a:extLst>
          </p:cNvPr>
          <p:cNvSpPr/>
          <p:nvPr/>
        </p:nvSpPr>
        <p:spPr>
          <a:xfrm>
            <a:off x="4011964" y="4339635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9" name="Text 141">
            <a:extLst>
              <a:ext uri="{FF2B5EF4-FFF2-40B4-BE49-F238E27FC236}">
                <a16:creationId xmlns:a16="http://schemas.microsoft.com/office/drawing/2014/main" id="{204EF74B-C593-A612-0B48-E00767B328D7}"/>
              </a:ext>
            </a:extLst>
          </p:cNvPr>
          <p:cNvSpPr/>
          <p:nvPr/>
        </p:nvSpPr>
        <p:spPr>
          <a:xfrm>
            <a:off x="401196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10" name="Text 142">
            <a:extLst>
              <a:ext uri="{FF2B5EF4-FFF2-40B4-BE49-F238E27FC236}">
                <a16:creationId xmlns:a16="http://schemas.microsoft.com/office/drawing/2014/main" id="{588B6E05-30AF-D988-90D4-7941E55076C8}"/>
              </a:ext>
            </a:extLst>
          </p:cNvPr>
          <p:cNvSpPr/>
          <p:nvPr/>
        </p:nvSpPr>
        <p:spPr>
          <a:xfrm>
            <a:off x="401196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-0.052</a:t>
            </a:r>
            <a:endParaRPr lang="en-US" sz="800"/>
          </a:p>
        </p:txBody>
      </p:sp>
      <p:sp>
        <p:nvSpPr>
          <p:cNvPr id="611" name="Shape 143">
            <a:extLst>
              <a:ext uri="{FF2B5EF4-FFF2-40B4-BE49-F238E27FC236}">
                <a16:creationId xmlns:a16="http://schemas.microsoft.com/office/drawing/2014/main" id="{7E03CB28-AC0B-71BB-7E7A-811D96324D25}"/>
              </a:ext>
            </a:extLst>
          </p:cNvPr>
          <p:cNvSpPr/>
          <p:nvPr/>
        </p:nvSpPr>
        <p:spPr>
          <a:xfrm>
            <a:off x="5337844" y="4339635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2" name="Text 144">
            <a:extLst>
              <a:ext uri="{FF2B5EF4-FFF2-40B4-BE49-F238E27FC236}">
                <a16:creationId xmlns:a16="http://schemas.microsoft.com/office/drawing/2014/main" id="{15CB8085-4836-039B-9EE8-96694F4103E1}"/>
              </a:ext>
            </a:extLst>
          </p:cNvPr>
          <p:cNvSpPr/>
          <p:nvPr/>
        </p:nvSpPr>
        <p:spPr>
          <a:xfrm>
            <a:off x="533784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13" name="Text 145">
            <a:extLst>
              <a:ext uri="{FF2B5EF4-FFF2-40B4-BE49-F238E27FC236}">
                <a16:creationId xmlns:a16="http://schemas.microsoft.com/office/drawing/2014/main" id="{1F9D92B0-2831-6621-5F42-2B1DDBC99BEA}"/>
              </a:ext>
            </a:extLst>
          </p:cNvPr>
          <p:cNvSpPr/>
          <p:nvPr/>
        </p:nvSpPr>
        <p:spPr>
          <a:xfrm>
            <a:off x="533784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-0.018</a:t>
            </a:r>
            <a:endParaRPr lang="en-US" sz="800"/>
          </a:p>
        </p:txBody>
      </p:sp>
      <p:sp>
        <p:nvSpPr>
          <p:cNvPr id="614" name="Shape 146">
            <a:extLst>
              <a:ext uri="{FF2B5EF4-FFF2-40B4-BE49-F238E27FC236}">
                <a16:creationId xmlns:a16="http://schemas.microsoft.com/office/drawing/2014/main" id="{938008CC-2A87-3AB8-FB5B-38E44AC19C4F}"/>
              </a:ext>
            </a:extLst>
          </p:cNvPr>
          <p:cNvSpPr/>
          <p:nvPr/>
        </p:nvSpPr>
        <p:spPr>
          <a:xfrm>
            <a:off x="6663724" y="4339635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5" name="Text 147">
            <a:extLst>
              <a:ext uri="{FF2B5EF4-FFF2-40B4-BE49-F238E27FC236}">
                <a16:creationId xmlns:a16="http://schemas.microsoft.com/office/drawing/2014/main" id="{0528A268-50D4-EC39-62F5-33221F63D335}"/>
              </a:ext>
            </a:extLst>
          </p:cNvPr>
          <p:cNvSpPr/>
          <p:nvPr/>
        </p:nvSpPr>
        <p:spPr>
          <a:xfrm>
            <a:off x="666372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16" name="Text 148">
            <a:extLst>
              <a:ext uri="{FF2B5EF4-FFF2-40B4-BE49-F238E27FC236}">
                <a16:creationId xmlns:a16="http://schemas.microsoft.com/office/drawing/2014/main" id="{6E5D897D-9674-4226-1701-14593F2F713F}"/>
              </a:ext>
            </a:extLst>
          </p:cNvPr>
          <p:cNvSpPr/>
          <p:nvPr/>
        </p:nvSpPr>
        <p:spPr>
          <a:xfrm>
            <a:off x="666372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-0.137</a:t>
            </a:r>
            <a:endParaRPr lang="en-US" sz="800"/>
          </a:p>
        </p:txBody>
      </p:sp>
      <p:sp>
        <p:nvSpPr>
          <p:cNvPr id="617" name="Shape 149">
            <a:extLst>
              <a:ext uri="{FF2B5EF4-FFF2-40B4-BE49-F238E27FC236}">
                <a16:creationId xmlns:a16="http://schemas.microsoft.com/office/drawing/2014/main" id="{113C7F80-7737-743B-CA1C-C065427E1ACC}"/>
              </a:ext>
            </a:extLst>
          </p:cNvPr>
          <p:cNvSpPr/>
          <p:nvPr/>
        </p:nvSpPr>
        <p:spPr>
          <a:xfrm>
            <a:off x="7989604" y="4339635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8" name="Text 150">
            <a:extLst>
              <a:ext uri="{FF2B5EF4-FFF2-40B4-BE49-F238E27FC236}">
                <a16:creationId xmlns:a16="http://schemas.microsoft.com/office/drawing/2014/main" id="{88CB101A-E3BC-F27F-DA2E-C8EF96D48383}"/>
              </a:ext>
            </a:extLst>
          </p:cNvPr>
          <p:cNvSpPr/>
          <p:nvPr/>
        </p:nvSpPr>
        <p:spPr>
          <a:xfrm>
            <a:off x="798960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19" name="Text 151">
            <a:extLst>
              <a:ext uri="{FF2B5EF4-FFF2-40B4-BE49-F238E27FC236}">
                <a16:creationId xmlns:a16="http://schemas.microsoft.com/office/drawing/2014/main" id="{8A3D3CDB-BB42-C664-99AC-CD2C99DBD034}"/>
              </a:ext>
            </a:extLst>
          </p:cNvPr>
          <p:cNvSpPr/>
          <p:nvPr/>
        </p:nvSpPr>
        <p:spPr>
          <a:xfrm>
            <a:off x="798960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-0.249</a:t>
            </a:r>
            <a:endParaRPr lang="en-US" sz="800"/>
          </a:p>
        </p:txBody>
      </p:sp>
      <p:sp>
        <p:nvSpPr>
          <p:cNvPr id="620" name="Shape 152">
            <a:extLst>
              <a:ext uri="{FF2B5EF4-FFF2-40B4-BE49-F238E27FC236}">
                <a16:creationId xmlns:a16="http://schemas.microsoft.com/office/drawing/2014/main" id="{0DC15401-CED7-AB95-17CB-3509698305D4}"/>
              </a:ext>
            </a:extLst>
          </p:cNvPr>
          <p:cNvSpPr/>
          <p:nvPr/>
        </p:nvSpPr>
        <p:spPr>
          <a:xfrm>
            <a:off x="9315484" y="4339635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1" name="Text 153">
            <a:extLst>
              <a:ext uri="{FF2B5EF4-FFF2-40B4-BE49-F238E27FC236}">
                <a16:creationId xmlns:a16="http://schemas.microsoft.com/office/drawing/2014/main" id="{B7556A5E-B755-7461-8EB5-3545AE081EF5}"/>
              </a:ext>
            </a:extLst>
          </p:cNvPr>
          <p:cNvSpPr/>
          <p:nvPr/>
        </p:nvSpPr>
        <p:spPr>
          <a:xfrm>
            <a:off x="931548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22" name="Text 154">
            <a:extLst>
              <a:ext uri="{FF2B5EF4-FFF2-40B4-BE49-F238E27FC236}">
                <a16:creationId xmlns:a16="http://schemas.microsoft.com/office/drawing/2014/main" id="{35763B88-64A5-9E6F-0022-E271393288B7}"/>
              </a:ext>
            </a:extLst>
          </p:cNvPr>
          <p:cNvSpPr/>
          <p:nvPr/>
        </p:nvSpPr>
        <p:spPr>
          <a:xfrm>
            <a:off x="931548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-0.139</a:t>
            </a:r>
            <a:endParaRPr lang="en-US" sz="800"/>
          </a:p>
        </p:txBody>
      </p:sp>
      <p:sp>
        <p:nvSpPr>
          <p:cNvPr id="623" name="Shape 155">
            <a:extLst>
              <a:ext uri="{FF2B5EF4-FFF2-40B4-BE49-F238E27FC236}">
                <a16:creationId xmlns:a16="http://schemas.microsoft.com/office/drawing/2014/main" id="{9371AF3E-E8D2-9355-52A3-09CBECC6F73F}"/>
              </a:ext>
            </a:extLst>
          </p:cNvPr>
          <p:cNvSpPr/>
          <p:nvPr/>
        </p:nvSpPr>
        <p:spPr>
          <a:xfrm>
            <a:off x="10641364" y="4339635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4" name="Text 156">
            <a:extLst>
              <a:ext uri="{FF2B5EF4-FFF2-40B4-BE49-F238E27FC236}">
                <a16:creationId xmlns:a16="http://schemas.microsoft.com/office/drawing/2014/main" id="{2BA59216-A58B-F6AE-B232-3FF533B22785}"/>
              </a:ext>
            </a:extLst>
          </p:cNvPr>
          <p:cNvSpPr/>
          <p:nvPr/>
        </p:nvSpPr>
        <p:spPr>
          <a:xfrm>
            <a:off x="10641364" y="4357923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25" name="Text 157">
            <a:extLst>
              <a:ext uri="{FF2B5EF4-FFF2-40B4-BE49-F238E27FC236}">
                <a16:creationId xmlns:a16="http://schemas.microsoft.com/office/drawing/2014/main" id="{2E298868-4041-CB57-7B8A-16E4E6BF6CEC}"/>
              </a:ext>
            </a:extLst>
          </p:cNvPr>
          <p:cNvSpPr/>
          <p:nvPr/>
        </p:nvSpPr>
        <p:spPr>
          <a:xfrm>
            <a:off x="10641364" y="4577379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-0.137</a:t>
            </a:r>
            <a:endParaRPr lang="en-US" sz="800"/>
          </a:p>
        </p:txBody>
      </p:sp>
      <p:sp>
        <p:nvSpPr>
          <p:cNvPr id="626" name="Shape 158">
            <a:extLst>
              <a:ext uri="{FF2B5EF4-FFF2-40B4-BE49-F238E27FC236}">
                <a16:creationId xmlns:a16="http://schemas.microsoft.com/office/drawing/2014/main" id="{646D586B-BF59-3075-D76A-4B7CE95CA5C1}"/>
              </a:ext>
            </a:extLst>
          </p:cNvPr>
          <p:cNvSpPr/>
          <p:nvPr/>
        </p:nvSpPr>
        <p:spPr>
          <a:xfrm>
            <a:off x="1305340" y="4851699"/>
            <a:ext cx="14173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7" name="Text 159">
            <a:extLst>
              <a:ext uri="{FF2B5EF4-FFF2-40B4-BE49-F238E27FC236}">
                <a16:creationId xmlns:a16="http://schemas.microsoft.com/office/drawing/2014/main" id="{3E874A64-7283-9B60-D190-B43B49147D04}"/>
              </a:ext>
            </a:extLst>
          </p:cNvPr>
          <p:cNvSpPr/>
          <p:nvPr/>
        </p:nvSpPr>
        <p:spPr>
          <a:xfrm>
            <a:off x="-20540" y="4888275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D]</a:t>
            </a:r>
            <a:endParaRPr lang="en-US" sz="850"/>
          </a:p>
        </p:txBody>
      </p:sp>
      <p:sp>
        <p:nvSpPr>
          <p:cNvPr id="628" name="Text 160">
            <a:extLst>
              <a:ext uri="{FF2B5EF4-FFF2-40B4-BE49-F238E27FC236}">
                <a16:creationId xmlns:a16="http://schemas.microsoft.com/office/drawing/2014/main" id="{CC29445C-A9D1-5EDF-360F-2D6281B85D90}"/>
              </a:ext>
            </a:extLst>
          </p:cNvPr>
          <p:cNvSpPr/>
          <p:nvPr/>
        </p:nvSpPr>
        <p:spPr>
          <a:xfrm>
            <a:off x="-20540" y="5089443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+[Redacted]</a:t>
            </a:r>
            <a:endParaRPr lang="en-US" sz="700"/>
          </a:p>
        </p:txBody>
      </p:sp>
      <p:sp>
        <p:nvSpPr>
          <p:cNvPr id="629" name="Text 161">
            <a:extLst>
              <a:ext uri="{FF2B5EF4-FFF2-40B4-BE49-F238E27FC236}">
                <a16:creationId xmlns:a16="http://schemas.microsoft.com/office/drawing/2014/main" id="{12B3126B-5B61-B117-7C2A-029B8BD0299E}"/>
              </a:ext>
            </a:extLst>
          </p:cNvPr>
          <p:cNvSpPr/>
          <p:nvPr/>
        </p:nvSpPr>
        <p:spPr>
          <a:xfrm>
            <a:off x="-20540" y="5235747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700"/>
          </a:p>
        </p:txBody>
      </p:sp>
      <p:sp>
        <p:nvSpPr>
          <p:cNvPr id="630" name="Shape 162">
            <a:extLst>
              <a:ext uri="{FF2B5EF4-FFF2-40B4-BE49-F238E27FC236}">
                <a16:creationId xmlns:a16="http://schemas.microsoft.com/office/drawing/2014/main" id="{6ED95911-2BDA-299C-015C-3CE929F615D9}"/>
              </a:ext>
            </a:extLst>
          </p:cNvPr>
          <p:cNvSpPr/>
          <p:nvPr/>
        </p:nvSpPr>
        <p:spPr>
          <a:xfrm>
            <a:off x="1360204" y="4906563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1" name="Text 163">
            <a:extLst>
              <a:ext uri="{FF2B5EF4-FFF2-40B4-BE49-F238E27FC236}">
                <a16:creationId xmlns:a16="http://schemas.microsoft.com/office/drawing/2014/main" id="{D492F854-95A6-1B9B-65AA-314AADA2F4D4}"/>
              </a:ext>
            </a:extLst>
          </p:cNvPr>
          <p:cNvSpPr/>
          <p:nvPr/>
        </p:nvSpPr>
        <p:spPr>
          <a:xfrm>
            <a:off x="136020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32" name="Text 164">
            <a:extLst>
              <a:ext uri="{FF2B5EF4-FFF2-40B4-BE49-F238E27FC236}">
                <a16:creationId xmlns:a16="http://schemas.microsoft.com/office/drawing/2014/main" id="{98AF96EE-877F-2715-BF15-7B3A067CAD23}"/>
              </a:ext>
            </a:extLst>
          </p:cNvPr>
          <p:cNvSpPr/>
          <p:nvPr/>
        </p:nvSpPr>
        <p:spPr>
          <a:xfrm>
            <a:off x="136020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+0.002</a:t>
            </a:r>
            <a:endParaRPr lang="en-US" sz="800"/>
          </a:p>
        </p:txBody>
      </p:sp>
      <p:sp>
        <p:nvSpPr>
          <p:cNvPr id="633" name="Shape 165">
            <a:extLst>
              <a:ext uri="{FF2B5EF4-FFF2-40B4-BE49-F238E27FC236}">
                <a16:creationId xmlns:a16="http://schemas.microsoft.com/office/drawing/2014/main" id="{7D845AA9-552D-2057-C667-81FE8D71CFED}"/>
              </a:ext>
            </a:extLst>
          </p:cNvPr>
          <p:cNvSpPr/>
          <p:nvPr/>
        </p:nvSpPr>
        <p:spPr>
          <a:xfrm>
            <a:off x="2686084" y="4906563"/>
            <a:ext cx="1216152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4" name="Text 166">
            <a:extLst>
              <a:ext uri="{FF2B5EF4-FFF2-40B4-BE49-F238E27FC236}">
                <a16:creationId xmlns:a16="http://schemas.microsoft.com/office/drawing/2014/main" id="{B483FC3D-FADD-1038-D4DD-3FD3064D8B48}"/>
              </a:ext>
            </a:extLst>
          </p:cNvPr>
          <p:cNvSpPr/>
          <p:nvPr/>
        </p:nvSpPr>
        <p:spPr>
          <a:xfrm>
            <a:off x="268608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⚠️</a:t>
            </a:r>
            <a:endParaRPr lang="en-US" sz="1100"/>
          </a:p>
        </p:txBody>
      </p:sp>
      <p:sp>
        <p:nvSpPr>
          <p:cNvPr id="635" name="Text 167">
            <a:extLst>
              <a:ext uri="{FF2B5EF4-FFF2-40B4-BE49-F238E27FC236}">
                <a16:creationId xmlns:a16="http://schemas.microsoft.com/office/drawing/2014/main" id="{F2A995A7-42A8-41BD-833C-36574F8FF33A}"/>
              </a:ext>
            </a:extLst>
          </p:cNvPr>
          <p:cNvSpPr/>
          <p:nvPr/>
        </p:nvSpPr>
        <p:spPr>
          <a:xfrm>
            <a:off x="268608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+0.187</a:t>
            </a:r>
            <a:endParaRPr lang="en-US" sz="800"/>
          </a:p>
        </p:txBody>
      </p:sp>
      <p:sp>
        <p:nvSpPr>
          <p:cNvPr id="636" name="Shape 168">
            <a:extLst>
              <a:ext uri="{FF2B5EF4-FFF2-40B4-BE49-F238E27FC236}">
                <a16:creationId xmlns:a16="http://schemas.microsoft.com/office/drawing/2014/main" id="{E46D49F3-B24C-36DB-29C7-E929C4C57CFB}"/>
              </a:ext>
            </a:extLst>
          </p:cNvPr>
          <p:cNvSpPr/>
          <p:nvPr/>
        </p:nvSpPr>
        <p:spPr>
          <a:xfrm>
            <a:off x="4011964" y="4906563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7" name="Text 169">
            <a:extLst>
              <a:ext uri="{FF2B5EF4-FFF2-40B4-BE49-F238E27FC236}">
                <a16:creationId xmlns:a16="http://schemas.microsoft.com/office/drawing/2014/main" id="{92C10F94-5F15-E8A6-E23E-AF6534C9AEE1}"/>
              </a:ext>
            </a:extLst>
          </p:cNvPr>
          <p:cNvSpPr/>
          <p:nvPr/>
        </p:nvSpPr>
        <p:spPr>
          <a:xfrm>
            <a:off x="401196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38" name="Text 170">
            <a:extLst>
              <a:ext uri="{FF2B5EF4-FFF2-40B4-BE49-F238E27FC236}">
                <a16:creationId xmlns:a16="http://schemas.microsoft.com/office/drawing/2014/main" id="{57CCE852-4510-9C54-0611-2AB0052B9453}"/>
              </a:ext>
            </a:extLst>
          </p:cNvPr>
          <p:cNvSpPr/>
          <p:nvPr/>
        </p:nvSpPr>
        <p:spPr>
          <a:xfrm>
            <a:off x="401196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+0.036</a:t>
            </a:r>
            <a:endParaRPr lang="en-US" sz="800"/>
          </a:p>
        </p:txBody>
      </p:sp>
      <p:sp>
        <p:nvSpPr>
          <p:cNvPr id="639" name="Shape 171">
            <a:extLst>
              <a:ext uri="{FF2B5EF4-FFF2-40B4-BE49-F238E27FC236}">
                <a16:creationId xmlns:a16="http://schemas.microsoft.com/office/drawing/2014/main" id="{F528CDD7-9693-7789-1D54-B4C49EE4E21F}"/>
              </a:ext>
            </a:extLst>
          </p:cNvPr>
          <p:cNvSpPr/>
          <p:nvPr/>
        </p:nvSpPr>
        <p:spPr>
          <a:xfrm>
            <a:off x="5337844" y="4906563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0" name="Text 172">
            <a:extLst>
              <a:ext uri="{FF2B5EF4-FFF2-40B4-BE49-F238E27FC236}">
                <a16:creationId xmlns:a16="http://schemas.microsoft.com/office/drawing/2014/main" id="{4A05D9E2-0C15-43FB-AB66-33006582BFD6}"/>
              </a:ext>
            </a:extLst>
          </p:cNvPr>
          <p:cNvSpPr/>
          <p:nvPr/>
        </p:nvSpPr>
        <p:spPr>
          <a:xfrm>
            <a:off x="533784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41" name="Text 173">
            <a:extLst>
              <a:ext uri="{FF2B5EF4-FFF2-40B4-BE49-F238E27FC236}">
                <a16:creationId xmlns:a16="http://schemas.microsoft.com/office/drawing/2014/main" id="{ED7ADD14-4A95-FFD7-2C8E-F54DBA2E0285}"/>
              </a:ext>
            </a:extLst>
          </p:cNvPr>
          <p:cNvSpPr/>
          <p:nvPr/>
        </p:nvSpPr>
        <p:spPr>
          <a:xfrm>
            <a:off x="533784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-0.118</a:t>
            </a:r>
            <a:endParaRPr lang="en-US" sz="800"/>
          </a:p>
        </p:txBody>
      </p:sp>
      <p:sp>
        <p:nvSpPr>
          <p:cNvPr id="642" name="Shape 174">
            <a:extLst>
              <a:ext uri="{FF2B5EF4-FFF2-40B4-BE49-F238E27FC236}">
                <a16:creationId xmlns:a16="http://schemas.microsoft.com/office/drawing/2014/main" id="{E75B10FD-3ABA-DB5F-996C-C900FBD92CA7}"/>
              </a:ext>
            </a:extLst>
          </p:cNvPr>
          <p:cNvSpPr/>
          <p:nvPr/>
        </p:nvSpPr>
        <p:spPr>
          <a:xfrm>
            <a:off x="6663724" y="4906563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3" name="Text 175">
            <a:extLst>
              <a:ext uri="{FF2B5EF4-FFF2-40B4-BE49-F238E27FC236}">
                <a16:creationId xmlns:a16="http://schemas.microsoft.com/office/drawing/2014/main" id="{9D4077A3-29D6-67FA-5412-EA8507395CDA}"/>
              </a:ext>
            </a:extLst>
          </p:cNvPr>
          <p:cNvSpPr/>
          <p:nvPr/>
        </p:nvSpPr>
        <p:spPr>
          <a:xfrm>
            <a:off x="666372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44" name="Text 176">
            <a:extLst>
              <a:ext uri="{FF2B5EF4-FFF2-40B4-BE49-F238E27FC236}">
                <a16:creationId xmlns:a16="http://schemas.microsoft.com/office/drawing/2014/main" id="{218D14A5-6D9A-FD4A-1043-A7D6EAA1863A}"/>
              </a:ext>
            </a:extLst>
          </p:cNvPr>
          <p:cNvSpPr/>
          <p:nvPr/>
        </p:nvSpPr>
        <p:spPr>
          <a:xfrm>
            <a:off x="666372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-0.120</a:t>
            </a:r>
            <a:endParaRPr lang="en-US" sz="800"/>
          </a:p>
        </p:txBody>
      </p:sp>
      <p:sp>
        <p:nvSpPr>
          <p:cNvPr id="645" name="Shape 177">
            <a:extLst>
              <a:ext uri="{FF2B5EF4-FFF2-40B4-BE49-F238E27FC236}">
                <a16:creationId xmlns:a16="http://schemas.microsoft.com/office/drawing/2014/main" id="{A54A53DC-2306-D7A8-C8B0-A486217FC417}"/>
              </a:ext>
            </a:extLst>
          </p:cNvPr>
          <p:cNvSpPr/>
          <p:nvPr/>
        </p:nvSpPr>
        <p:spPr>
          <a:xfrm>
            <a:off x="7989604" y="4906563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6" name="Text 178">
            <a:extLst>
              <a:ext uri="{FF2B5EF4-FFF2-40B4-BE49-F238E27FC236}">
                <a16:creationId xmlns:a16="http://schemas.microsoft.com/office/drawing/2014/main" id="{B0CA1C16-93FF-52E1-6C0C-D5AC5098308D}"/>
              </a:ext>
            </a:extLst>
          </p:cNvPr>
          <p:cNvSpPr/>
          <p:nvPr/>
        </p:nvSpPr>
        <p:spPr>
          <a:xfrm>
            <a:off x="798960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47" name="Text 179">
            <a:extLst>
              <a:ext uri="{FF2B5EF4-FFF2-40B4-BE49-F238E27FC236}">
                <a16:creationId xmlns:a16="http://schemas.microsoft.com/office/drawing/2014/main" id="{8137A51C-7512-4D30-87B9-8117AE4364D1}"/>
              </a:ext>
            </a:extLst>
          </p:cNvPr>
          <p:cNvSpPr/>
          <p:nvPr/>
        </p:nvSpPr>
        <p:spPr>
          <a:xfrm>
            <a:off x="798960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-0.092</a:t>
            </a:r>
            <a:endParaRPr lang="en-US" sz="800"/>
          </a:p>
        </p:txBody>
      </p:sp>
      <p:sp>
        <p:nvSpPr>
          <p:cNvPr id="648" name="Shape 180">
            <a:extLst>
              <a:ext uri="{FF2B5EF4-FFF2-40B4-BE49-F238E27FC236}">
                <a16:creationId xmlns:a16="http://schemas.microsoft.com/office/drawing/2014/main" id="{71E7CCF1-D18F-D992-E966-D91FEC52027F}"/>
              </a:ext>
            </a:extLst>
          </p:cNvPr>
          <p:cNvSpPr/>
          <p:nvPr/>
        </p:nvSpPr>
        <p:spPr>
          <a:xfrm>
            <a:off x="9315484" y="4906563"/>
            <a:ext cx="12161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9" name="Text 181">
            <a:extLst>
              <a:ext uri="{FF2B5EF4-FFF2-40B4-BE49-F238E27FC236}">
                <a16:creationId xmlns:a16="http://schemas.microsoft.com/office/drawing/2014/main" id="{E3EB2D21-1E38-1DD6-29CE-8DEFE42967C9}"/>
              </a:ext>
            </a:extLst>
          </p:cNvPr>
          <p:cNvSpPr/>
          <p:nvPr/>
        </p:nvSpPr>
        <p:spPr>
          <a:xfrm>
            <a:off x="931548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50" name="Text 182">
            <a:extLst>
              <a:ext uri="{FF2B5EF4-FFF2-40B4-BE49-F238E27FC236}">
                <a16:creationId xmlns:a16="http://schemas.microsoft.com/office/drawing/2014/main" id="{A0C581AD-6FE4-3EEF-913D-55A8D7BB63E0}"/>
              </a:ext>
            </a:extLst>
          </p:cNvPr>
          <p:cNvSpPr/>
          <p:nvPr/>
        </p:nvSpPr>
        <p:spPr>
          <a:xfrm>
            <a:off x="931548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-0.058</a:t>
            </a:r>
            <a:endParaRPr lang="en-US" sz="800"/>
          </a:p>
        </p:txBody>
      </p:sp>
      <p:sp>
        <p:nvSpPr>
          <p:cNvPr id="651" name="Shape 183">
            <a:extLst>
              <a:ext uri="{FF2B5EF4-FFF2-40B4-BE49-F238E27FC236}">
                <a16:creationId xmlns:a16="http://schemas.microsoft.com/office/drawing/2014/main" id="{713FD3ED-50F2-690E-D66E-6A4AF0C72A44}"/>
              </a:ext>
            </a:extLst>
          </p:cNvPr>
          <p:cNvSpPr/>
          <p:nvPr/>
        </p:nvSpPr>
        <p:spPr>
          <a:xfrm>
            <a:off x="10641364" y="4906563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2" name="Text 184">
            <a:extLst>
              <a:ext uri="{FF2B5EF4-FFF2-40B4-BE49-F238E27FC236}">
                <a16:creationId xmlns:a16="http://schemas.microsoft.com/office/drawing/2014/main" id="{D262BBA9-0AC4-141B-3FC4-59AC593D1176}"/>
              </a:ext>
            </a:extLst>
          </p:cNvPr>
          <p:cNvSpPr/>
          <p:nvPr/>
        </p:nvSpPr>
        <p:spPr>
          <a:xfrm>
            <a:off x="10641364" y="4924851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53" name="Text 185">
            <a:extLst>
              <a:ext uri="{FF2B5EF4-FFF2-40B4-BE49-F238E27FC236}">
                <a16:creationId xmlns:a16="http://schemas.microsoft.com/office/drawing/2014/main" id="{98517D82-E0E5-CDA1-9F38-2F06A1E8EFF7}"/>
              </a:ext>
            </a:extLst>
          </p:cNvPr>
          <p:cNvSpPr/>
          <p:nvPr/>
        </p:nvSpPr>
        <p:spPr>
          <a:xfrm>
            <a:off x="10641364" y="5144307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-0.120</a:t>
            </a:r>
            <a:endParaRPr lang="en-US" sz="800"/>
          </a:p>
        </p:txBody>
      </p:sp>
      <p:sp>
        <p:nvSpPr>
          <p:cNvPr id="654" name="Shape 186">
            <a:extLst>
              <a:ext uri="{FF2B5EF4-FFF2-40B4-BE49-F238E27FC236}">
                <a16:creationId xmlns:a16="http://schemas.microsoft.com/office/drawing/2014/main" id="{493A56DD-D70A-8ED9-8A19-052C0CA9F527}"/>
              </a:ext>
            </a:extLst>
          </p:cNvPr>
          <p:cNvSpPr/>
          <p:nvPr/>
        </p:nvSpPr>
        <p:spPr>
          <a:xfrm>
            <a:off x="1305340" y="5418627"/>
            <a:ext cx="1417320" cy="56692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5" name="Text 187">
            <a:extLst>
              <a:ext uri="{FF2B5EF4-FFF2-40B4-BE49-F238E27FC236}">
                <a16:creationId xmlns:a16="http://schemas.microsoft.com/office/drawing/2014/main" id="{AC380277-5168-8F61-FB3E-9CDE8230BF44}"/>
              </a:ext>
            </a:extLst>
          </p:cNvPr>
          <p:cNvSpPr/>
          <p:nvPr/>
        </p:nvSpPr>
        <p:spPr>
          <a:xfrm>
            <a:off x="-20540" y="5455203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[Brand E]</a:t>
            </a:r>
            <a:endParaRPr lang="en-US" sz="850"/>
          </a:p>
        </p:txBody>
      </p:sp>
      <p:sp>
        <p:nvSpPr>
          <p:cNvPr id="656" name="Text 188">
            <a:extLst>
              <a:ext uri="{FF2B5EF4-FFF2-40B4-BE49-F238E27FC236}">
                <a16:creationId xmlns:a16="http://schemas.microsoft.com/office/drawing/2014/main" id="{5F2641C3-FAC7-02ED-9FD2-83ECA8E7E451}"/>
              </a:ext>
            </a:extLst>
          </p:cNvPr>
          <p:cNvSpPr/>
          <p:nvPr/>
        </p:nvSpPr>
        <p:spPr>
          <a:xfrm>
            <a:off x="-20540" y="5656371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Gurobi: —</a:t>
            </a:r>
            <a:endParaRPr lang="en-US" sz="700"/>
          </a:p>
        </p:txBody>
      </p:sp>
      <p:sp>
        <p:nvSpPr>
          <p:cNvPr id="657" name="Text 189">
            <a:extLst>
              <a:ext uri="{FF2B5EF4-FFF2-40B4-BE49-F238E27FC236}">
                <a16:creationId xmlns:a16="http://schemas.microsoft.com/office/drawing/2014/main" id="{2D8D553A-CF2D-18B4-E275-E3F7B87125E1}"/>
              </a:ext>
            </a:extLst>
          </p:cNvPr>
          <p:cNvSpPr/>
          <p:nvPr/>
        </p:nvSpPr>
        <p:spPr>
          <a:xfrm>
            <a:off x="-20540" y="5802675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700"/>
          </a:p>
        </p:txBody>
      </p:sp>
      <p:sp>
        <p:nvSpPr>
          <p:cNvPr id="658" name="Shape 190">
            <a:extLst>
              <a:ext uri="{FF2B5EF4-FFF2-40B4-BE49-F238E27FC236}">
                <a16:creationId xmlns:a16="http://schemas.microsoft.com/office/drawing/2014/main" id="{D440D995-A58F-8C35-DE01-F4F77BD2D941}"/>
              </a:ext>
            </a:extLst>
          </p:cNvPr>
          <p:cNvSpPr/>
          <p:nvPr/>
        </p:nvSpPr>
        <p:spPr>
          <a:xfrm>
            <a:off x="1360204" y="5473491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9" name="Text 191">
            <a:extLst>
              <a:ext uri="{FF2B5EF4-FFF2-40B4-BE49-F238E27FC236}">
                <a16:creationId xmlns:a16="http://schemas.microsoft.com/office/drawing/2014/main" id="{F0711819-CF1B-E377-89B9-75AF7383E2B0}"/>
              </a:ext>
            </a:extLst>
          </p:cNvPr>
          <p:cNvSpPr/>
          <p:nvPr/>
        </p:nvSpPr>
        <p:spPr>
          <a:xfrm>
            <a:off x="136020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60" name="Text 192">
            <a:extLst>
              <a:ext uri="{FF2B5EF4-FFF2-40B4-BE49-F238E27FC236}">
                <a16:creationId xmlns:a16="http://schemas.microsoft.com/office/drawing/2014/main" id="{DA5DCAF4-FD59-7A5A-4F8C-2DA6D8A18E85}"/>
              </a:ext>
            </a:extLst>
          </p:cNvPr>
          <p:cNvSpPr/>
          <p:nvPr/>
        </p:nvSpPr>
        <p:spPr>
          <a:xfrm>
            <a:off x="136020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+0.071</a:t>
            </a:r>
            <a:endParaRPr lang="en-US" sz="800"/>
          </a:p>
        </p:txBody>
      </p:sp>
      <p:sp>
        <p:nvSpPr>
          <p:cNvPr id="661" name="Shape 193">
            <a:extLst>
              <a:ext uri="{FF2B5EF4-FFF2-40B4-BE49-F238E27FC236}">
                <a16:creationId xmlns:a16="http://schemas.microsoft.com/office/drawing/2014/main" id="{F96DB38A-4F33-FB0F-9740-16D91C73BA70}"/>
              </a:ext>
            </a:extLst>
          </p:cNvPr>
          <p:cNvSpPr/>
          <p:nvPr/>
        </p:nvSpPr>
        <p:spPr>
          <a:xfrm>
            <a:off x="2686084" y="5473491"/>
            <a:ext cx="1216152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2" name="Text 194">
            <a:extLst>
              <a:ext uri="{FF2B5EF4-FFF2-40B4-BE49-F238E27FC236}">
                <a16:creationId xmlns:a16="http://schemas.microsoft.com/office/drawing/2014/main" id="{32A9845A-7D52-4B25-2BF6-B46746EC2D06}"/>
              </a:ext>
            </a:extLst>
          </p:cNvPr>
          <p:cNvSpPr/>
          <p:nvPr/>
        </p:nvSpPr>
        <p:spPr>
          <a:xfrm>
            <a:off x="268608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⚠️</a:t>
            </a:r>
            <a:endParaRPr lang="en-US" sz="1100"/>
          </a:p>
        </p:txBody>
      </p:sp>
      <p:sp>
        <p:nvSpPr>
          <p:cNvPr id="663" name="Text 195">
            <a:extLst>
              <a:ext uri="{FF2B5EF4-FFF2-40B4-BE49-F238E27FC236}">
                <a16:creationId xmlns:a16="http://schemas.microsoft.com/office/drawing/2014/main" id="{DE44ACA2-B5A4-2D79-79AA-B4A9AFFAE8F8}"/>
              </a:ext>
            </a:extLst>
          </p:cNvPr>
          <p:cNvSpPr/>
          <p:nvPr/>
        </p:nvSpPr>
        <p:spPr>
          <a:xfrm>
            <a:off x="268608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+0.266</a:t>
            </a:r>
            <a:endParaRPr lang="en-US" sz="800"/>
          </a:p>
        </p:txBody>
      </p:sp>
      <p:sp>
        <p:nvSpPr>
          <p:cNvPr id="664" name="Shape 196">
            <a:extLst>
              <a:ext uri="{FF2B5EF4-FFF2-40B4-BE49-F238E27FC236}">
                <a16:creationId xmlns:a16="http://schemas.microsoft.com/office/drawing/2014/main" id="{F2241123-2407-B213-C46F-D4D804F58B50}"/>
              </a:ext>
            </a:extLst>
          </p:cNvPr>
          <p:cNvSpPr/>
          <p:nvPr/>
        </p:nvSpPr>
        <p:spPr>
          <a:xfrm>
            <a:off x="4011964" y="5473491"/>
            <a:ext cx="1216152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5" name="Text 197">
            <a:extLst>
              <a:ext uri="{FF2B5EF4-FFF2-40B4-BE49-F238E27FC236}">
                <a16:creationId xmlns:a16="http://schemas.microsoft.com/office/drawing/2014/main" id="{6703ACF8-0A0B-3C3A-72A0-2848AC850577}"/>
              </a:ext>
            </a:extLst>
          </p:cNvPr>
          <p:cNvSpPr/>
          <p:nvPr/>
        </p:nvSpPr>
        <p:spPr>
          <a:xfrm>
            <a:off x="401196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⚠️</a:t>
            </a:r>
            <a:endParaRPr lang="en-US" sz="1100"/>
          </a:p>
        </p:txBody>
      </p:sp>
      <p:sp>
        <p:nvSpPr>
          <p:cNvPr id="666" name="Text 198">
            <a:extLst>
              <a:ext uri="{FF2B5EF4-FFF2-40B4-BE49-F238E27FC236}">
                <a16:creationId xmlns:a16="http://schemas.microsoft.com/office/drawing/2014/main" id="{7FE40E8C-C95D-6F27-697F-B46252CABE14}"/>
              </a:ext>
            </a:extLst>
          </p:cNvPr>
          <p:cNvSpPr/>
          <p:nvPr/>
        </p:nvSpPr>
        <p:spPr>
          <a:xfrm>
            <a:off x="401196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+0.180</a:t>
            </a:r>
            <a:endParaRPr lang="en-US" sz="800"/>
          </a:p>
        </p:txBody>
      </p:sp>
      <p:sp>
        <p:nvSpPr>
          <p:cNvPr id="667" name="Shape 199">
            <a:extLst>
              <a:ext uri="{FF2B5EF4-FFF2-40B4-BE49-F238E27FC236}">
                <a16:creationId xmlns:a16="http://schemas.microsoft.com/office/drawing/2014/main" id="{CD5F280D-6144-EAC6-9D24-894659DF43E9}"/>
              </a:ext>
            </a:extLst>
          </p:cNvPr>
          <p:cNvSpPr/>
          <p:nvPr/>
        </p:nvSpPr>
        <p:spPr>
          <a:xfrm>
            <a:off x="5337844" y="5473491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8" name="Text 200">
            <a:extLst>
              <a:ext uri="{FF2B5EF4-FFF2-40B4-BE49-F238E27FC236}">
                <a16:creationId xmlns:a16="http://schemas.microsoft.com/office/drawing/2014/main" id="{28E5C70E-3C61-B698-E2E2-BE21FB1D868A}"/>
              </a:ext>
            </a:extLst>
          </p:cNvPr>
          <p:cNvSpPr/>
          <p:nvPr/>
        </p:nvSpPr>
        <p:spPr>
          <a:xfrm>
            <a:off x="533784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69" name="Text 201">
            <a:extLst>
              <a:ext uri="{FF2B5EF4-FFF2-40B4-BE49-F238E27FC236}">
                <a16:creationId xmlns:a16="http://schemas.microsoft.com/office/drawing/2014/main" id="{E50B6A2D-C93F-9C4C-1907-2430BDE6B154}"/>
              </a:ext>
            </a:extLst>
          </p:cNvPr>
          <p:cNvSpPr/>
          <p:nvPr/>
        </p:nvSpPr>
        <p:spPr>
          <a:xfrm>
            <a:off x="533784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-0.079</a:t>
            </a:r>
            <a:endParaRPr lang="en-US" sz="800"/>
          </a:p>
        </p:txBody>
      </p:sp>
      <p:sp>
        <p:nvSpPr>
          <p:cNvPr id="670" name="Shape 202">
            <a:extLst>
              <a:ext uri="{FF2B5EF4-FFF2-40B4-BE49-F238E27FC236}">
                <a16:creationId xmlns:a16="http://schemas.microsoft.com/office/drawing/2014/main" id="{95BA4F0B-5015-B190-94B8-D002F33B0134}"/>
              </a:ext>
            </a:extLst>
          </p:cNvPr>
          <p:cNvSpPr/>
          <p:nvPr/>
        </p:nvSpPr>
        <p:spPr>
          <a:xfrm>
            <a:off x="6663724" y="5473491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1" name="Text 203">
            <a:extLst>
              <a:ext uri="{FF2B5EF4-FFF2-40B4-BE49-F238E27FC236}">
                <a16:creationId xmlns:a16="http://schemas.microsoft.com/office/drawing/2014/main" id="{3F927154-671A-7745-43E1-3EE0734570DE}"/>
              </a:ext>
            </a:extLst>
          </p:cNvPr>
          <p:cNvSpPr/>
          <p:nvPr/>
        </p:nvSpPr>
        <p:spPr>
          <a:xfrm>
            <a:off x="666372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72" name="Text 204">
            <a:extLst>
              <a:ext uri="{FF2B5EF4-FFF2-40B4-BE49-F238E27FC236}">
                <a16:creationId xmlns:a16="http://schemas.microsoft.com/office/drawing/2014/main" id="{BCAA5D7A-02FF-185D-0506-E49DBEEA0889}"/>
              </a:ext>
            </a:extLst>
          </p:cNvPr>
          <p:cNvSpPr/>
          <p:nvPr/>
        </p:nvSpPr>
        <p:spPr>
          <a:xfrm>
            <a:off x="666372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-0.042</a:t>
            </a:r>
            <a:endParaRPr lang="en-US" sz="800"/>
          </a:p>
        </p:txBody>
      </p:sp>
      <p:sp>
        <p:nvSpPr>
          <p:cNvPr id="673" name="Shape 205">
            <a:extLst>
              <a:ext uri="{FF2B5EF4-FFF2-40B4-BE49-F238E27FC236}">
                <a16:creationId xmlns:a16="http://schemas.microsoft.com/office/drawing/2014/main" id="{E4F7A7FC-B5C7-2F86-57C0-EC283C1BF35B}"/>
              </a:ext>
            </a:extLst>
          </p:cNvPr>
          <p:cNvSpPr/>
          <p:nvPr/>
        </p:nvSpPr>
        <p:spPr>
          <a:xfrm>
            <a:off x="7989604" y="5473491"/>
            <a:ext cx="1216152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4" name="Text 206">
            <a:extLst>
              <a:ext uri="{FF2B5EF4-FFF2-40B4-BE49-F238E27FC236}">
                <a16:creationId xmlns:a16="http://schemas.microsoft.com/office/drawing/2014/main" id="{6DA20A37-00DA-311E-2F79-4EF8C8EA2F24}"/>
              </a:ext>
            </a:extLst>
          </p:cNvPr>
          <p:cNvSpPr/>
          <p:nvPr/>
        </p:nvSpPr>
        <p:spPr>
          <a:xfrm>
            <a:off x="798960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✅</a:t>
            </a:r>
            <a:endParaRPr lang="en-US" sz="1100"/>
          </a:p>
        </p:txBody>
      </p:sp>
      <p:sp>
        <p:nvSpPr>
          <p:cNvPr id="675" name="Text 207">
            <a:extLst>
              <a:ext uri="{FF2B5EF4-FFF2-40B4-BE49-F238E27FC236}">
                <a16:creationId xmlns:a16="http://schemas.microsoft.com/office/drawing/2014/main" id="{ADDAF213-A4F7-CDD0-9B95-36D4BEF3C20B}"/>
              </a:ext>
            </a:extLst>
          </p:cNvPr>
          <p:cNvSpPr/>
          <p:nvPr/>
        </p:nvSpPr>
        <p:spPr>
          <a:xfrm>
            <a:off x="798960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-0.143</a:t>
            </a:r>
            <a:endParaRPr lang="en-US" sz="800"/>
          </a:p>
        </p:txBody>
      </p:sp>
      <p:sp>
        <p:nvSpPr>
          <p:cNvPr id="676" name="Shape 208">
            <a:extLst>
              <a:ext uri="{FF2B5EF4-FFF2-40B4-BE49-F238E27FC236}">
                <a16:creationId xmlns:a16="http://schemas.microsoft.com/office/drawing/2014/main" id="{AB646686-8E9E-CDA9-D45C-5CE6D7E3EFB6}"/>
              </a:ext>
            </a:extLst>
          </p:cNvPr>
          <p:cNvSpPr/>
          <p:nvPr/>
        </p:nvSpPr>
        <p:spPr>
          <a:xfrm>
            <a:off x="9315484" y="5473491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7" name="Text 209">
            <a:extLst>
              <a:ext uri="{FF2B5EF4-FFF2-40B4-BE49-F238E27FC236}">
                <a16:creationId xmlns:a16="http://schemas.microsoft.com/office/drawing/2014/main" id="{9AB2CBC3-A3F8-DF69-89DC-737B6E74843D}"/>
              </a:ext>
            </a:extLst>
          </p:cNvPr>
          <p:cNvSpPr/>
          <p:nvPr/>
        </p:nvSpPr>
        <p:spPr>
          <a:xfrm>
            <a:off x="931548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78" name="Text 210">
            <a:extLst>
              <a:ext uri="{FF2B5EF4-FFF2-40B4-BE49-F238E27FC236}">
                <a16:creationId xmlns:a16="http://schemas.microsoft.com/office/drawing/2014/main" id="{A7B91389-A7B2-9B87-22B2-A8E4D0D7478A}"/>
              </a:ext>
            </a:extLst>
          </p:cNvPr>
          <p:cNvSpPr/>
          <p:nvPr/>
        </p:nvSpPr>
        <p:spPr>
          <a:xfrm>
            <a:off x="931548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-0.056</a:t>
            </a:r>
            <a:endParaRPr lang="en-US" sz="800"/>
          </a:p>
        </p:txBody>
      </p:sp>
      <p:sp>
        <p:nvSpPr>
          <p:cNvPr id="679" name="Shape 211">
            <a:extLst>
              <a:ext uri="{FF2B5EF4-FFF2-40B4-BE49-F238E27FC236}">
                <a16:creationId xmlns:a16="http://schemas.microsoft.com/office/drawing/2014/main" id="{4C59D723-2FF5-8E55-7C60-5D1B71294F00}"/>
              </a:ext>
            </a:extLst>
          </p:cNvPr>
          <p:cNvSpPr/>
          <p:nvPr/>
        </p:nvSpPr>
        <p:spPr>
          <a:xfrm>
            <a:off x="10641364" y="5473491"/>
            <a:ext cx="1216152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0" name="Text 212">
            <a:extLst>
              <a:ext uri="{FF2B5EF4-FFF2-40B4-BE49-F238E27FC236}">
                <a16:creationId xmlns:a16="http://schemas.microsoft.com/office/drawing/2014/main" id="{4663C831-2E3F-4187-4823-A1C64FF9B28A}"/>
              </a:ext>
            </a:extLst>
          </p:cNvPr>
          <p:cNvSpPr/>
          <p:nvPr/>
        </p:nvSpPr>
        <p:spPr>
          <a:xfrm>
            <a:off x="10641364" y="5491779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➖</a:t>
            </a:r>
            <a:endParaRPr lang="en-US" sz="1100"/>
          </a:p>
        </p:txBody>
      </p:sp>
      <p:sp>
        <p:nvSpPr>
          <p:cNvPr id="681" name="Text 213">
            <a:extLst>
              <a:ext uri="{FF2B5EF4-FFF2-40B4-BE49-F238E27FC236}">
                <a16:creationId xmlns:a16="http://schemas.microsoft.com/office/drawing/2014/main" id="{5DCBB528-5ADB-261F-E09E-A500E1264BFA}"/>
              </a:ext>
            </a:extLst>
          </p:cNvPr>
          <p:cNvSpPr/>
          <p:nvPr/>
        </p:nvSpPr>
        <p:spPr>
          <a:xfrm>
            <a:off x="10641364" y="5711235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-0.042</a:t>
            </a:r>
            <a:endParaRPr lang="en-US" sz="800"/>
          </a:p>
        </p:txBody>
      </p:sp>
      <p:sp>
        <p:nvSpPr>
          <p:cNvPr id="682" name="Text 215">
            <a:extLst>
              <a:ext uri="{FF2B5EF4-FFF2-40B4-BE49-F238E27FC236}">
                <a16:creationId xmlns:a16="http://schemas.microsoft.com/office/drawing/2014/main" id="{0BBB7DFB-BBF0-F235-5FF9-7024E59D1190}"/>
              </a:ext>
            </a:extLst>
          </p:cNvPr>
          <p:cNvSpPr/>
          <p:nvPr/>
        </p:nvSpPr>
        <p:spPr>
          <a:xfrm>
            <a:off x="1360204" y="6058707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PER COMPETITOR →</a:t>
            </a:r>
            <a:endParaRPr lang="en-US" sz="750"/>
          </a:p>
        </p:txBody>
      </p:sp>
      <p:sp>
        <p:nvSpPr>
          <p:cNvPr id="683" name="Shape 216">
            <a:extLst>
              <a:ext uri="{FF2B5EF4-FFF2-40B4-BE49-F238E27FC236}">
                <a16:creationId xmlns:a16="http://schemas.microsoft.com/office/drawing/2014/main" id="{2E7332E2-031C-5533-090D-A1DA989A1DB8}"/>
              </a:ext>
            </a:extLst>
          </p:cNvPr>
          <p:cNvSpPr/>
          <p:nvPr/>
        </p:nvSpPr>
        <p:spPr>
          <a:xfrm>
            <a:off x="1360204" y="6134247"/>
            <a:ext cx="1216152" cy="594360"/>
          </a:xfrm>
          <a:prstGeom prst="rect">
            <a:avLst/>
          </a:prstGeom>
          <a:solidFill>
            <a:srgbClr val="FFF1F1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4" name="Text 217">
            <a:extLst>
              <a:ext uri="{FF2B5EF4-FFF2-40B4-BE49-F238E27FC236}">
                <a16:creationId xmlns:a16="http://schemas.microsoft.com/office/drawing/2014/main" id="{F34ADBA4-3EA5-1446-5FF3-94C6FD18D3E5}"/>
              </a:ext>
            </a:extLst>
          </p:cNvPr>
          <p:cNvSpPr/>
          <p:nvPr/>
        </p:nvSpPr>
        <p:spPr>
          <a:xfrm>
            <a:off x="137849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⚠️ brands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when B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nearby</a:t>
            </a:r>
            <a:endParaRPr lang="en-US" sz="750"/>
          </a:p>
        </p:txBody>
      </p:sp>
      <p:sp>
        <p:nvSpPr>
          <p:cNvPr id="685" name="Shape 218">
            <a:extLst>
              <a:ext uri="{FF2B5EF4-FFF2-40B4-BE49-F238E27FC236}">
                <a16:creationId xmlns:a16="http://schemas.microsoft.com/office/drawing/2014/main" id="{7B23CAE5-EBF2-AD31-9FA3-F52573C3F5C4}"/>
              </a:ext>
            </a:extLst>
          </p:cNvPr>
          <p:cNvSpPr/>
          <p:nvPr/>
        </p:nvSpPr>
        <p:spPr>
          <a:xfrm>
            <a:off x="2686084" y="6134247"/>
            <a:ext cx="1216152" cy="594360"/>
          </a:xfrm>
          <a:prstGeom prst="rect">
            <a:avLst/>
          </a:prstGeom>
          <a:solidFill>
            <a:srgbClr val="FFF1F1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6" name="Text 219">
            <a:extLst>
              <a:ext uri="{FF2B5EF4-FFF2-40B4-BE49-F238E27FC236}">
                <a16:creationId xmlns:a16="http://schemas.microsoft.com/office/drawing/2014/main" id="{CA983BCA-61BD-7DA1-9770-6A3B2CEE5A99}"/>
              </a:ext>
            </a:extLst>
          </p:cNvPr>
          <p:cNvSpPr/>
          <p:nvPr/>
        </p:nvSpPr>
        <p:spPr>
          <a:xfrm>
            <a:off x="270437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⚠️ brands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when D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nearby</a:t>
            </a:r>
            <a:endParaRPr lang="en-US" sz="750"/>
          </a:p>
        </p:txBody>
      </p:sp>
      <p:sp>
        <p:nvSpPr>
          <p:cNvPr id="687" name="Shape 220">
            <a:extLst>
              <a:ext uri="{FF2B5EF4-FFF2-40B4-BE49-F238E27FC236}">
                <a16:creationId xmlns:a16="http://schemas.microsoft.com/office/drawing/2014/main" id="{4DA2050E-3DC2-26A1-7945-10CF60C43B4B}"/>
              </a:ext>
            </a:extLst>
          </p:cNvPr>
          <p:cNvSpPr/>
          <p:nvPr/>
        </p:nvSpPr>
        <p:spPr>
          <a:xfrm>
            <a:off x="4011964" y="6134247"/>
            <a:ext cx="1216152" cy="594360"/>
          </a:xfrm>
          <a:prstGeom prst="rect">
            <a:avLst/>
          </a:prstGeom>
          <a:solidFill>
            <a:srgbClr val="FFF1F1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8" name="Text 221">
            <a:extLst>
              <a:ext uri="{FF2B5EF4-FFF2-40B4-BE49-F238E27FC236}">
                <a16:creationId xmlns:a16="http://schemas.microsoft.com/office/drawing/2014/main" id="{FB0A85C8-8CB3-F09F-7600-ED159DE16FAC}"/>
              </a:ext>
            </a:extLst>
          </p:cNvPr>
          <p:cNvSpPr/>
          <p:nvPr/>
        </p:nvSpPr>
        <p:spPr>
          <a:xfrm>
            <a:off x="403025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⚠️ [Brand E]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when G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nearby</a:t>
            </a:r>
            <a:endParaRPr lang="en-US" sz="750"/>
          </a:p>
        </p:txBody>
      </p:sp>
      <p:sp>
        <p:nvSpPr>
          <p:cNvPr id="689" name="Shape 222">
            <a:extLst>
              <a:ext uri="{FF2B5EF4-FFF2-40B4-BE49-F238E27FC236}">
                <a16:creationId xmlns:a16="http://schemas.microsoft.com/office/drawing/2014/main" id="{2FCB91FA-E2EE-3C14-4CAA-2BC155C16941}"/>
              </a:ext>
            </a:extLst>
          </p:cNvPr>
          <p:cNvSpPr/>
          <p:nvPr/>
        </p:nvSpPr>
        <p:spPr>
          <a:xfrm>
            <a:off x="5337844" y="6134247"/>
            <a:ext cx="1216152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0" name="Text 223">
            <a:extLst>
              <a:ext uri="{FF2B5EF4-FFF2-40B4-BE49-F238E27FC236}">
                <a16:creationId xmlns:a16="http://schemas.microsoft.com/office/drawing/2014/main" id="{D51DFD15-63C2-D03A-FC67-E41E6135DEE3}"/>
              </a:ext>
            </a:extLst>
          </p:cNvPr>
          <p:cNvSpPr/>
          <p:nvPr/>
        </p:nvSpPr>
        <p:spPr>
          <a:xfrm>
            <a:off x="535613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✅ [Brand D]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750"/>
          </a:p>
        </p:txBody>
      </p:sp>
      <p:sp>
        <p:nvSpPr>
          <p:cNvPr id="691" name="Shape 224">
            <a:extLst>
              <a:ext uri="{FF2B5EF4-FFF2-40B4-BE49-F238E27FC236}">
                <a16:creationId xmlns:a16="http://schemas.microsoft.com/office/drawing/2014/main" id="{D9DAC138-98C3-4BCC-55D5-6DE0372E3B4F}"/>
              </a:ext>
            </a:extLst>
          </p:cNvPr>
          <p:cNvSpPr/>
          <p:nvPr/>
        </p:nvSpPr>
        <p:spPr>
          <a:xfrm>
            <a:off x="6663724" y="6134247"/>
            <a:ext cx="121615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2" name="Text 225">
            <a:extLst>
              <a:ext uri="{FF2B5EF4-FFF2-40B4-BE49-F238E27FC236}">
                <a16:creationId xmlns:a16="http://schemas.microsoft.com/office/drawing/2014/main" id="{D2439F7D-C99D-3B82-1355-97BD62A56C06}"/>
              </a:ext>
            </a:extLst>
          </p:cNvPr>
          <p:cNvSpPr/>
          <p:nvPr/>
        </p:nvSpPr>
        <p:spPr>
          <a:xfrm>
            <a:off x="668201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✅ brands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when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nearby</a:t>
            </a:r>
            <a:endParaRPr lang="en-US" sz="750"/>
          </a:p>
        </p:txBody>
      </p:sp>
      <p:sp>
        <p:nvSpPr>
          <p:cNvPr id="693" name="Shape 226">
            <a:extLst>
              <a:ext uri="{FF2B5EF4-FFF2-40B4-BE49-F238E27FC236}">
                <a16:creationId xmlns:a16="http://schemas.microsoft.com/office/drawing/2014/main" id="{6BFF25CC-BF08-D470-FA4F-5119C9794FFB}"/>
              </a:ext>
            </a:extLst>
          </p:cNvPr>
          <p:cNvSpPr/>
          <p:nvPr/>
        </p:nvSpPr>
        <p:spPr>
          <a:xfrm>
            <a:off x="7989604" y="6134247"/>
            <a:ext cx="121615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4" name="Text 227">
            <a:extLst>
              <a:ext uri="{FF2B5EF4-FFF2-40B4-BE49-F238E27FC236}">
                <a16:creationId xmlns:a16="http://schemas.microsoft.com/office/drawing/2014/main" id="{E1733F44-710F-4EDE-FCD3-CFC59938C3B5}"/>
              </a:ext>
            </a:extLst>
          </p:cNvPr>
          <p:cNvSpPr/>
          <p:nvPr/>
        </p:nvSpPr>
        <p:spPr>
          <a:xfrm>
            <a:off x="800789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✅ brands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when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nearby</a:t>
            </a:r>
            <a:endParaRPr lang="en-US" sz="750"/>
          </a:p>
        </p:txBody>
      </p:sp>
      <p:sp>
        <p:nvSpPr>
          <p:cNvPr id="695" name="Shape 228">
            <a:extLst>
              <a:ext uri="{FF2B5EF4-FFF2-40B4-BE49-F238E27FC236}">
                <a16:creationId xmlns:a16="http://schemas.microsoft.com/office/drawing/2014/main" id="{15635641-E67B-0B8C-66ED-92180405F211}"/>
              </a:ext>
            </a:extLst>
          </p:cNvPr>
          <p:cNvSpPr/>
          <p:nvPr/>
        </p:nvSpPr>
        <p:spPr>
          <a:xfrm>
            <a:off x="9315484" y="6134247"/>
            <a:ext cx="121615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6" name="Text 229">
            <a:extLst>
              <a:ext uri="{FF2B5EF4-FFF2-40B4-BE49-F238E27FC236}">
                <a16:creationId xmlns:a16="http://schemas.microsoft.com/office/drawing/2014/main" id="{C6CAEBC2-760D-FBB9-3E0E-A75FADCC0962}"/>
              </a:ext>
            </a:extLst>
          </p:cNvPr>
          <p:cNvSpPr/>
          <p:nvPr/>
        </p:nvSpPr>
        <p:spPr>
          <a:xfrm>
            <a:off x="933377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✅ [Brand I]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when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nearby</a:t>
            </a:r>
            <a:endParaRPr lang="en-US" sz="750"/>
          </a:p>
        </p:txBody>
      </p:sp>
      <p:sp>
        <p:nvSpPr>
          <p:cNvPr id="697" name="Shape 230">
            <a:extLst>
              <a:ext uri="{FF2B5EF4-FFF2-40B4-BE49-F238E27FC236}">
                <a16:creationId xmlns:a16="http://schemas.microsoft.com/office/drawing/2014/main" id="{2A845D59-2C2B-BAC9-A64C-5C2543DD97BE}"/>
              </a:ext>
            </a:extLst>
          </p:cNvPr>
          <p:cNvSpPr/>
          <p:nvPr/>
        </p:nvSpPr>
        <p:spPr>
          <a:xfrm>
            <a:off x="10641364" y="6134247"/>
            <a:ext cx="121615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8" name="Text 231">
            <a:extLst>
              <a:ext uri="{FF2B5EF4-FFF2-40B4-BE49-F238E27FC236}">
                <a16:creationId xmlns:a16="http://schemas.microsoft.com/office/drawing/2014/main" id="{82BA1C93-D9EE-0CAA-44B2-045E420A0ABA}"/>
              </a:ext>
            </a:extLst>
          </p:cNvPr>
          <p:cNvSpPr/>
          <p:nvPr/>
        </p:nvSpPr>
        <p:spPr>
          <a:xfrm>
            <a:off x="10659652" y="6152535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✅ brands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when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nearby</a:t>
            </a:r>
            <a:endParaRPr lang="en-US" sz="750"/>
          </a:p>
        </p:txBody>
      </p:sp>
      <p:sp>
        <p:nvSpPr>
          <p:cNvPr id="699" name="Text 234">
            <a:extLst>
              <a:ext uri="{FF2B5EF4-FFF2-40B4-BE49-F238E27FC236}">
                <a16:creationId xmlns:a16="http://schemas.microsoft.com/office/drawing/2014/main" id="{F497D6A2-A927-FD05-CB96-28C930A1246B}"/>
              </a:ext>
            </a:extLst>
          </p:cNvPr>
          <p:cNvSpPr/>
          <p:nvPr/>
        </p:nvSpPr>
        <p:spPr>
          <a:xfrm>
            <a:off x="162340" y="6899955"/>
            <a:ext cx="1161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Pearson r — baby_care_sales_df pog_sales vs competitor_ distance | 710 cluster stores | Disposable Training Pants (VIF ≤ 10, CV ≥ 10%) | [Redacted] total</a:t>
            </a:r>
            <a:endParaRPr lang="en-US" sz="750"/>
          </a:p>
        </p:txBody>
      </p:sp>
      <p:sp>
        <p:nvSpPr>
          <p:cNvPr id="700" name="Content Placeholder 1">
            <a:extLst>
              <a:ext uri="{FF2B5EF4-FFF2-40B4-BE49-F238E27FC236}">
                <a16:creationId xmlns:a16="http://schemas.microsoft.com/office/drawing/2014/main" id="{508C59DD-1FF3-439E-C8F4-1B9B7F1B9C84}"/>
              </a:ext>
            </a:extLst>
          </p:cNvPr>
          <p:cNvSpPr txBox="1">
            <a:spLocks/>
          </p:cNvSpPr>
          <p:nvPr/>
        </p:nvSpPr>
        <p:spPr>
          <a:xfrm>
            <a:off x="1308466" y="2022976"/>
            <a:ext cx="10588751" cy="52443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vert270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i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Assume</a:t>
            </a:r>
          </a:p>
        </p:txBody>
      </p:sp>
      <p:sp>
        <p:nvSpPr>
          <p:cNvPr id="2" name="Terminator 1">
            <a:extLst>
              <a:ext uri="{FF2B5EF4-FFF2-40B4-BE49-F238E27FC236}">
                <a16:creationId xmlns:a16="http://schemas.microsoft.com/office/drawing/2014/main" id="{42B95B07-9586-4E4A-871C-BED76D2D4A8B}"/>
              </a:ext>
            </a:extLst>
          </p:cNvPr>
          <p:cNvSpPr/>
          <p:nvPr/>
        </p:nvSpPr>
        <p:spPr>
          <a:xfrm>
            <a:off x="121905" y="1189166"/>
            <a:ext cx="947009" cy="255483"/>
          </a:xfrm>
          <a:prstGeom prst="flowChartTermina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</a:rPr>
              <a:t>Example</a:t>
            </a:r>
            <a:endParaRPr lang="en-US" sz="1600" dirty="0">
              <a:ln w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9E807D-F96B-0C08-7A61-5FDF80E893B7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4" name="Chevron 5">
              <a:extLst>
                <a:ext uri="{FF2B5EF4-FFF2-40B4-BE49-F238E27FC236}">
                  <a16:creationId xmlns:a16="http://schemas.microsoft.com/office/drawing/2014/main" id="{CD292E8A-27C8-866F-34B7-E73BAE922339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Chevron 6">
              <a:extLst>
                <a:ext uri="{FF2B5EF4-FFF2-40B4-BE49-F238E27FC236}">
                  <a16:creationId xmlns:a16="http://schemas.microsoft.com/office/drawing/2014/main" id="{E304475E-1168-9E0D-BE44-5061EACE1770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Chevron 7">
              <a:extLst>
                <a:ext uri="{FF2B5EF4-FFF2-40B4-BE49-F238E27FC236}">
                  <a16:creationId xmlns:a16="http://schemas.microsoft.com/office/drawing/2014/main" id="{3BC83273-C197-AF9D-C2B4-19D39C24C166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8">
              <a:extLst>
                <a:ext uri="{FF2B5EF4-FFF2-40B4-BE49-F238E27FC236}">
                  <a16:creationId xmlns:a16="http://schemas.microsoft.com/office/drawing/2014/main" id="{5AF0D2BF-0E91-8978-F028-DA7CD9FE4CE5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9">
              <a:extLst>
                <a:ext uri="{FF2B5EF4-FFF2-40B4-BE49-F238E27FC236}">
                  <a16:creationId xmlns:a16="http://schemas.microsoft.com/office/drawing/2014/main" id="{52135AED-BD01-4B5B-D6A0-8D3FCA69BC9F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10">
              <a:extLst>
                <a:ext uri="{FF2B5EF4-FFF2-40B4-BE49-F238E27FC236}">
                  <a16:creationId xmlns:a16="http://schemas.microsoft.com/office/drawing/2014/main" id="{C36F8896-D061-5E20-4635-DBF3345672BA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3513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1BE9-DDB1-D871-A666-688A8EF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A9BCEE6-BD02-7A3B-24D3-F34422DFE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05" y="5854581"/>
            <a:ext cx="1626201" cy="100341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8FE83-186A-9CB3-B70F-651AAE0D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19</a:t>
            </a:fld>
            <a:endParaRPr lang="en-US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5F03D9-E349-9EA5-505E-D00B0B5B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Competitive Signal Analysis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47658D-0422-DF03-221B-791801F22135}"/>
              </a:ext>
            </a:extLst>
          </p:cNvPr>
          <p:cNvGrpSpPr/>
          <p:nvPr/>
        </p:nvGrpSpPr>
        <p:grpSpPr>
          <a:xfrm>
            <a:off x="9520817" y="438014"/>
            <a:ext cx="1998120" cy="227464"/>
            <a:chOff x="9520817" y="438014"/>
            <a:chExt cx="1998120" cy="227464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24AAF8B-D3B6-9261-57CF-F3F7B4FE6FB5}"/>
                </a:ext>
              </a:extLst>
            </p:cNvPr>
            <p:cNvSpPr/>
            <p:nvPr/>
          </p:nvSpPr>
          <p:spPr>
            <a:xfrm>
              <a:off x="9520817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9F25940D-D6B2-6C9A-6271-A534F519131B}"/>
                </a:ext>
              </a:extLst>
            </p:cNvPr>
            <p:cNvSpPr/>
            <p:nvPr/>
          </p:nvSpPr>
          <p:spPr>
            <a:xfrm>
              <a:off x="9844381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FC29C101-6FDA-85D8-F503-165426BB5904}"/>
                </a:ext>
              </a:extLst>
            </p:cNvPr>
            <p:cNvSpPr/>
            <p:nvPr/>
          </p:nvSpPr>
          <p:spPr>
            <a:xfrm>
              <a:off x="10167945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hevron 8">
              <a:extLst>
                <a:ext uri="{FF2B5EF4-FFF2-40B4-BE49-F238E27FC236}">
                  <a16:creationId xmlns:a16="http://schemas.microsoft.com/office/drawing/2014/main" id="{D4EDBFB3-C81E-1F33-1696-220AD4B2608C}"/>
                </a:ext>
              </a:extLst>
            </p:cNvPr>
            <p:cNvSpPr/>
            <p:nvPr/>
          </p:nvSpPr>
          <p:spPr>
            <a:xfrm>
              <a:off x="10491509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259577DB-8742-5312-F37F-E5299C4F9774}"/>
                </a:ext>
              </a:extLst>
            </p:cNvPr>
            <p:cNvSpPr/>
            <p:nvPr/>
          </p:nvSpPr>
          <p:spPr>
            <a:xfrm>
              <a:off x="10815073" y="438014"/>
              <a:ext cx="380299" cy="22746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CCA81F0B-F5B6-F1A3-D03F-0191CDA3CC64}"/>
                </a:ext>
              </a:extLst>
            </p:cNvPr>
            <p:cNvSpPr/>
            <p:nvPr/>
          </p:nvSpPr>
          <p:spPr>
            <a:xfrm>
              <a:off x="11138638" y="438014"/>
              <a:ext cx="380299" cy="2274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2F27E49-4847-EB4B-597C-7BB221E95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61" y="1189167"/>
            <a:ext cx="5194328" cy="39120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95F079-7702-829C-CD0A-8F44A5AEF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408" y="1189167"/>
            <a:ext cx="5266529" cy="391200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0AC8BE1-FEF8-E3FA-B71B-C3C049FCB5FC}"/>
              </a:ext>
            </a:extLst>
          </p:cNvPr>
          <p:cNvGrpSpPr/>
          <p:nvPr/>
        </p:nvGrpSpPr>
        <p:grpSpPr>
          <a:xfrm>
            <a:off x="4029908" y="1688128"/>
            <a:ext cx="2222500" cy="622300"/>
            <a:chOff x="4043022" y="1392293"/>
            <a:chExt cx="2222500" cy="6223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D5C076-5E00-52DE-8A48-DD52C0DDF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6469" y="1392293"/>
              <a:ext cx="2120900" cy="317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0057AEA-C2F6-F509-4E99-873F9A41B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43022" y="1709793"/>
              <a:ext cx="2222500" cy="304800"/>
            </a:xfrm>
            <a:prstGeom prst="rect">
              <a:avLst/>
            </a:prstGeom>
          </p:spPr>
        </p:pic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73B341-17DA-7E79-AFDF-3FA1C8B33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862538"/>
              </p:ext>
            </p:extLst>
          </p:nvPr>
        </p:nvGraphicFramePr>
        <p:xfrm>
          <a:off x="162340" y="5335345"/>
          <a:ext cx="11605067" cy="1499618"/>
        </p:xfrm>
        <a:graphic>
          <a:graphicData uri="http://schemas.openxmlformats.org/drawingml/2006/table">
            <a:tbl>
              <a:tblPr/>
              <a:tblGrid>
                <a:gridCol w="1246662">
                  <a:extLst>
                    <a:ext uri="{9D8B030D-6E8A-4147-A177-3AD203B41FA5}">
                      <a16:colId xmlns:a16="http://schemas.microsoft.com/office/drawing/2014/main" val="513725823"/>
                    </a:ext>
                  </a:extLst>
                </a:gridCol>
                <a:gridCol w="1100620">
                  <a:extLst>
                    <a:ext uri="{9D8B030D-6E8A-4147-A177-3AD203B41FA5}">
                      <a16:colId xmlns:a16="http://schemas.microsoft.com/office/drawing/2014/main" val="1168813924"/>
                    </a:ext>
                  </a:extLst>
                </a:gridCol>
                <a:gridCol w="1188024">
                  <a:extLst>
                    <a:ext uri="{9D8B030D-6E8A-4147-A177-3AD203B41FA5}">
                      <a16:colId xmlns:a16="http://schemas.microsoft.com/office/drawing/2014/main" val="300184847"/>
                    </a:ext>
                  </a:extLst>
                </a:gridCol>
                <a:gridCol w="1004623">
                  <a:extLst>
                    <a:ext uri="{9D8B030D-6E8A-4147-A177-3AD203B41FA5}">
                      <a16:colId xmlns:a16="http://schemas.microsoft.com/office/drawing/2014/main" val="2619448269"/>
                    </a:ext>
                  </a:extLst>
                </a:gridCol>
                <a:gridCol w="1537982">
                  <a:extLst>
                    <a:ext uri="{9D8B030D-6E8A-4147-A177-3AD203B41FA5}">
                      <a16:colId xmlns:a16="http://schemas.microsoft.com/office/drawing/2014/main" val="2912713192"/>
                    </a:ext>
                  </a:extLst>
                </a:gridCol>
                <a:gridCol w="1246662">
                  <a:extLst>
                    <a:ext uri="{9D8B030D-6E8A-4147-A177-3AD203B41FA5}">
                      <a16:colId xmlns:a16="http://schemas.microsoft.com/office/drawing/2014/main" val="1996698286"/>
                    </a:ext>
                  </a:extLst>
                </a:gridCol>
                <a:gridCol w="1246662">
                  <a:extLst>
                    <a:ext uri="{9D8B030D-6E8A-4147-A177-3AD203B41FA5}">
                      <a16:colId xmlns:a16="http://schemas.microsoft.com/office/drawing/2014/main" val="3245615096"/>
                    </a:ext>
                  </a:extLst>
                </a:gridCol>
                <a:gridCol w="540508">
                  <a:extLst>
                    <a:ext uri="{9D8B030D-6E8A-4147-A177-3AD203B41FA5}">
                      <a16:colId xmlns:a16="http://schemas.microsoft.com/office/drawing/2014/main" val="679781209"/>
                    </a:ext>
                  </a:extLst>
                </a:gridCol>
                <a:gridCol w="1126229">
                  <a:extLst>
                    <a:ext uri="{9D8B030D-6E8A-4147-A177-3AD203B41FA5}">
                      <a16:colId xmlns:a16="http://schemas.microsoft.com/office/drawing/2014/main" val="1587631724"/>
                    </a:ext>
                  </a:extLst>
                </a:gridCol>
                <a:gridCol w="1367095">
                  <a:extLst>
                    <a:ext uri="{9D8B030D-6E8A-4147-A177-3AD203B41FA5}">
                      <a16:colId xmlns:a16="http://schemas.microsoft.com/office/drawing/2014/main" val="2520008688"/>
                    </a:ext>
                  </a:extLst>
                </a:gridCol>
              </a:tblGrid>
              <a:tr h="197940"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Product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Category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Current Space (%)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New Space (%)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Recommended Shift (%)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Sales Growth ($)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Sales Growth (%)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Corr (r)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Competition Signal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/>
                        <a:t>Final Action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543936"/>
                  </a:ext>
                </a:extLst>
              </a:tr>
              <a:tr h="348208">
                <a:tc>
                  <a:txBody>
                    <a:bodyPr/>
                    <a:lstStyle/>
                    <a:p>
                      <a:pPr algn="ctr"/>
                      <a:r>
                        <a:rPr lang="en-US" sz="900" err="1"/>
                        <a:t>[Brand F]+Shampoos</a:t>
                      </a:r>
                      <a:r>
                        <a:rPr lang="en-US" sz="900"/>
                        <a:t>_ </a:t>
                      </a:r>
                      <a:r>
                        <a:rPr lang="en-US" sz="900" err="1"/>
                        <a:t>and_Conditioners</a:t>
                      </a:r>
                      <a:endParaRPr lang="en-US" sz="9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Shampoos and Conditioners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-0.274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✅ stronger near A (r=-0.274)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🟢 GROW — optimizer + beats rival nearby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5821"/>
                  </a:ext>
                </a:extLst>
              </a:tr>
              <a:tr h="498476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J]+Shampoos_and_Conditioners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Shampoos and Conditioners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-0.210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✅ stronger near A (r=-0.210)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🟡 CAUTIOUS — optimizer says cut but brand still strong vs rival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50275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[Brand K]+Shampoos_and_Conditioners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Shampoos and Conditioners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[Redacted]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+0.161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⚠️ weaker near G (r=+0.161)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🔴 REDUCE — optimizer + rival compounds the loss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989069"/>
                  </a:ext>
                </a:extLst>
              </a:tr>
            </a:tbl>
          </a:graphicData>
        </a:graphic>
      </p:graphicFrame>
      <p:sp>
        <p:nvSpPr>
          <p:cNvPr id="15" name="Terminator 14">
            <a:extLst>
              <a:ext uri="{FF2B5EF4-FFF2-40B4-BE49-F238E27FC236}">
                <a16:creationId xmlns:a16="http://schemas.microsoft.com/office/drawing/2014/main" id="{9C5A396F-DB9D-5E62-4BD3-D1BFB3407A70}"/>
              </a:ext>
            </a:extLst>
          </p:cNvPr>
          <p:cNvSpPr/>
          <p:nvPr/>
        </p:nvSpPr>
        <p:spPr>
          <a:xfrm>
            <a:off x="121905" y="1189166"/>
            <a:ext cx="947009" cy="255483"/>
          </a:xfrm>
          <a:prstGeom prst="flowChartTermina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</a:rPr>
              <a:t>Example</a:t>
            </a:r>
            <a:endParaRPr lang="en-US" sz="1600" dirty="0">
              <a:ln w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E5B837-ECE5-5EDB-0AF9-2441AD33D6D5}"/>
              </a:ext>
            </a:extLst>
          </p:cNvPr>
          <p:cNvSpPr/>
          <p:nvPr/>
        </p:nvSpPr>
        <p:spPr>
          <a:xfrm>
            <a:off x="2221075" y="1464006"/>
            <a:ext cx="1336114" cy="207663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[Redacted]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8C19484-BA2B-6AB0-F5F8-F24D0A6DFAFD}"/>
              </a:ext>
            </a:extLst>
          </p:cNvPr>
          <p:cNvSpPr/>
          <p:nvPr/>
        </p:nvSpPr>
        <p:spPr>
          <a:xfrm>
            <a:off x="4029908" y="3293397"/>
            <a:ext cx="956762" cy="15364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[Redacted]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B55C3AD-151C-3889-4544-253DDC0FEB91}"/>
              </a:ext>
            </a:extLst>
          </p:cNvPr>
          <p:cNvSpPr/>
          <p:nvPr/>
        </p:nvSpPr>
        <p:spPr>
          <a:xfrm>
            <a:off x="8153400" y="1444649"/>
            <a:ext cx="956762" cy="15364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[Redacted]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202F864-9185-9BA0-6819-E4694F55D163}"/>
              </a:ext>
            </a:extLst>
          </p:cNvPr>
          <p:cNvSpPr/>
          <p:nvPr/>
        </p:nvSpPr>
        <p:spPr>
          <a:xfrm>
            <a:off x="9401332" y="2437759"/>
            <a:ext cx="956762" cy="197475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[Redacted]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944355F-9087-9E2D-64C3-CB954ABFF154}"/>
              </a:ext>
            </a:extLst>
          </p:cNvPr>
          <p:cNvSpPr/>
          <p:nvPr/>
        </p:nvSpPr>
        <p:spPr>
          <a:xfrm>
            <a:off x="10146063" y="4492038"/>
            <a:ext cx="804362" cy="4208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dirty="0"/>
              <a:t>[Redacted]</a:t>
            </a:r>
          </a:p>
        </p:txBody>
      </p:sp>
    </p:spTree>
    <p:extLst>
      <p:ext uri="{BB962C8B-B14F-4D97-AF65-F5344CB8AC3E}">
        <p14:creationId xmlns:p14="http://schemas.microsoft.com/office/powerpoint/2010/main" val="2314733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B062E-6F67-26FA-88A1-9FA3B347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A7D70-52BF-4D9F-A014-1293FC3607F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D38FD3-9B89-D4C5-BF41-7E127474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3CF52-A53D-B4D7-D5E4-86246D8E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316" y="1422632"/>
            <a:ext cx="5317921" cy="531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3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CC0000"/>
      </a:accent1>
      <a:accent2>
        <a:srgbClr val="1968B2"/>
      </a:accent2>
      <a:accent3>
        <a:srgbClr val="FFF7E7"/>
      </a:accent3>
      <a:accent4>
        <a:srgbClr val="F4A522"/>
      </a:accent4>
      <a:accent5>
        <a:srgbClr val="2D8A46"/>
      </a:accent5>
      <a:accent6>
        <a:srgbClr val="FEFFFF"/>
      </a:accent6>
      <a:hlink>
        <a:srgbClr val="FEFFFF"/>
      </a:hlink>
      <a:folHlink>
        <a:srgbClr val="FE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0CAC0CB738DF46BBAC129F471C1A3D" ma:contentTypeVersion="3" ma:contentTypeDescription="Create a new document." ma:contentTypeScope="" ma:versionID="1bfcdc28fb3fe1dfdb1a644d749d89c3">
  <xsd:schema xmlns:xsd="http://www.w3.org/2001/XMLSchema" xmlns:xs="http://www.w3.org/2001/XMLSchema" xmlns:p="http://schemas.microsoft.com/office/2006/metadata/properties" xmlns:ns2="c1e6b06b-0fc5-4320-bc98-bca222cfa7ac" targetNamespace="http://schemas.microsoft.com/office/2006/metadata/properties" ma:root="true" ma:fieldsID="d61c41b7a98a4b91ce961bb369d66e60" ns2:_="">
    <xsd:import namespace="c1e6b06b-0fc5-4320-bc98-bca222cfa7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6b06b-0fc5-4320-bc98-bca222cfa7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CCF61D-3F5B-4F20-A19C-45ECDE55B1EE}">
  <ds:schemaRefs>
    <ds:schemaRef ds:uri="c1e6b06b-0fc5-4320-bc98-bca222cfa7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4B753AB-43C8-4389-A378-E4C580CD8C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896940-1C3F-43EE-A69B-D9BB6B282853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c1e6b06b-0fc5-4320-bc98-bca222cfa7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2738</Words>
  <Application>Microsoft Macintosh PowerPoint</Application>
  <PresentationFormat>Widescreen</PresentationFormat>
  <Paragraphs>635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Aptos</vt:lpstr>
      <vt:lpstr>Aptos Display</vt:lpstr>
      <vt:lpstr>Aptos Narrow</vt:lpstr>
      <vt:lpstr>Arial</vt:lpstr>
      <vt:lpstr>Arial Black</vt:lpstr>
      <vt:lpstr>Calibri</vt:lpstr>
      <vt:lpstr>Cambria Math</vt:lpstr>
      <vt:lpstr>Consolas</vt:lpstr>
      <vt:lpstr>Guardsman red</vt:lpstr>
      <vt:lpstr>Helvetica Neue</vt:lpstr>
      <vt:lpstr>Helvetica Neue Light</vt:lpstr>
      <vt:lpstr>Helvetica Neue Medium</vt:lpstr>
      <vt:lpstr>Symbol</vt:lpstr>
      <vt:lpstr>Office Theme</vt:lpstr>
      <vt:lpstr>Target:  Customer Segmentation &amp; Shelf Space Optimization </vt:lpstr>
      <vt:lpstr>Agenda</vt:lpstr>
      <vt:lpstr>Why Shelf Space Strategy Matters?</vt:lpstr>
      <vt:lpstr>Business Value</vt:lpstr>
      <vt:lpstr>Objectives</vt:lpstr>
      <vt:lpstr>Data Assets &amp; Structure</vt:lpstr>
      <vt:lpstr>Breakdown/Analytical Framework</vt:lpstr>
      <vt:lpstr>Key Store Attributes Driving Demand</vt:lpstr>
      <vt:lpstr>Key Store Attributes Driving Demand</vt:lpstr>
      <vt:lpstr>Key Store Attributes Driving Demand</vt:lpstr>
      <vt:lpstr>Breakdown/Analytical Framework</vt:lpstr>
      <vt:lpstr>Key Store Attributes Driving Demand</vt:lpstr>
      <vt:lpstr>Key Store Attributes Driving Demand</vt:lpstr>
      <vt:lpstr>Shelf Space Misalignment</vt:lpstr>
      <vt:lpstr>Shelf Space Optimization</vt:lpstr>
      <vt:lpstr>Competitive Signal Analysis</vt:lpstr>
      <vt:lpstr>Competitive Signal Analysis</vt:lpstr>
      <vt:lpstr>Competitive Signal Analysis</vt:lpstr>
      <vt:lpstr>Competitive Signal Analysis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delgado</dc:creator>
  <cp:lastModifiedBy>Ashley Schmidt</cp:lastModifiedBy>
  <cp:revision>6</cp:revision>
  <dcterms:created xsi:type="dcterms:W3CDTF">2026-04-03T02:30:37Z</dcterms:created>
  <dcterms:modified xsi:type="dcterms:W3CDTF">2026-05-10T23:20:11Z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0x0101003E0CAC0CB738DF46BBAC129F471C1A3D</vt:lpwstr>
  </property>
</Properties>
</file>